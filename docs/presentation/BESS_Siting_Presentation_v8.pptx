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A9BAC9"/>
                </a:solidFill>
                <a:latin typeface="Arial"/>
              </a:defRPr>
            </a:pPr>
            <a:r>
              <a:rPr sz="900" b="0" i="0" u="none" strike="noStrike">
                <a:solidFill>
                  <a:srgbClr val="A9BAC9"/>
                </a:solidFill>
                <a:latin typeface="Arial"/>
              </a:rPr>
              <a:t>4hr BESS Revenue Stack — NEMA Zone ($/kW-yr)</a:t>
            </a:r>
          </a:p>
        </c:rich>
      </c:tx>
      <c:layout/>
      <c:overlay val="0"/>
    </c:title>
    <c:autoTitleDeleted val="0"/>
    <c:plotArea>
      <c:layout/>
      <c:barChart>
        <c:barDir val="bar"/>
        <c:grouping val="clustered"/>
        <c:varyColors val="0"/>
        <c:ser>
          <c:idx val="0"/>
          <c:order val="0"/>
          <c:tx>
            <c:strRef>
              <c:f>Sheet1!$B$1</c:f>
              <c:strCache>
                <c:ptCount val="1"/>
                <c:pt idx="0">
                  <c:v>Low ($/kW-yr)</c:v>
                </c:pt>
              </c:strCache>
            </c:strRef>
          </c:tx>
          <c:spPr>
            <a:solidFill>
              <a:srgbClr val="0D7C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Arbitrage</c:v>
                  </c:pt>
                  <c:pt idx="1">
                    <c:v>FCM Capacity</c:v>
                  </c:pt>
                  <c:pt idx="2">
                    <c:v>Clean Peak CPS</c:v>
                  </c:pt>
                  <c:pt idx="3">
                    <c:v>Ancillary Svcs</c:v>
                  </c:pt>
                  <c:pt idx="4">
                    <c:v>SMART Adder</c:v>
                  </c:pt>
                </c:lvl>
              </c:multiLvlStrCache>
            </c:multiLvlStrRef>
          </c:cat>
          <c:val>
            <c:numRef>
              <c:f>Sheet1!$B$2:$B$6</c:f>
              <c:numCache>
                <c:formatCode>General</c:formatCode>
                <c:ptCount val="5"/>
                <c:pt idx="0">
                  <c:v>40</c:v>
                </c:pt>
                <c:pt idx="1">
                  <c:v>31</c:v>
                </c:pt>
                <c:pt idx="2">
                  <c:v>15</c:v>
                </c:pt>
                <c:pt idx="3">
                  <c:v>2</c:v>
                </c:pt>
                <c:pt idx="4">
                  <c:v>10</c:v>
                </c:pt>
              </c:numCache>
            </c:numRef>
          </c:val>
        </c:ser>
        <c:ser>
          <c:idx val="1"/>
          <c:order val="1"/>
          <c:tx>
            <c:strRef>
              <c:f>Sheet1!$C$1</c:f>
              <c:strCache>
                <c:ptCount val="1"/>
                <c:pt idx="0">
                  <c:v>High ($/kW-yr)</c:v>
                </c:pt>
              </c:strCache>
            </c:strRef>
          </c:tx>
          <c:spPr>
            <a:solidFill>
              <a:srgbClr val="C68A1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Arbitrage</c:v>
                  </c:pt>
                  <c:pt idx="1">
                    <c:v>FCM Capacity</c:v>
                  </c:pt>
                  <c:pt idx="2">
                    <c:v>Clean Peak CPS</c:v>
                  </c:pt>
                  <c:pt idx="3">
                    <c:v>Ancillary Svcs</c:v>
                  </c:pt>
                  <c:pt idx="4">
                    <c:v>SMART Adder</c:v>
                  </c:pt>
                </c:lvl>
              </c:multiLvlStrCache>
            </c:multiLvlStrRef>
          </c:cat>
          <c:val>
            <c:numRef>
              <c:f>Sheet1!$C$2:$C$6</c:f>
              <c:numCache>
                <c:formatCode>General</c:formatCode>
                <c:ptCount val="5"/>
                <c:pt idx="0">
                  <c:v>80</c:v>
                </c:pt>
                <c:pt idx="1">
                  <c:v>48</c:v>
                </c:pt>
                <c:pt idx="2">
                  <c:v>65</c:v>
                </c:pt>
                <c:pt idx="3">
                  <c:v>10</c:v>
                </c:pt>
                <c:pt idx="4">
                  <c:v>25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AC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1A305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AC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b="0">
              <a:solidFill>
                <a:srgbClr val="FFFFFF"/>
              </a:solidFill>
            </a:defRPr>
          </a:pPr>
          <a:endParaRPr lang="en-US"/>
        </a:p>
      </c:txPr>
    </c:legend>
    <c:plotVisOnly val="1"/>
    <c:dispBlanksAs val="span"/>
  </c:chart>
  <c:spPr>
    <a:solidFill>
      <a:srgbClr val="0E204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82B"/>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D7C7B"/>
          </a:solidFill>
          <a:ln/>
        </p:spPr>
      </p:sp>
      <p:sp>
        <p:nvSpPr>
          <p:cNvPr id="3" name="Shape 1"/>
          <p:cNvSpPr/>
          <p:nvPr/>
        </p:nvSpPr>
        <p:spPr>
          <a:xfrm>
            <a:off x="228600" y="3310128"/>
            <a:ext cx="8915400" cy="50292"/>
          </a:xfrm>
          <a:prstGeom prst="rect">
            <a:avLst/>
          </a:prstGeom>
          <a:solidFill>
            <a:srgbClr val="C68A17"/>
          </a:solidFill>
          <a:ln/>
        </p:spPr>
      </p:sp>
      <p:sp>
        <p:nvSpPr>
          <p:cNvPr id="4" name="Shape 2"/>
          <p:cNvSpPr/>
          <p:nvPr/>
        </p:nvSpPr>
        <p:spPr>
          <a:xfrm>
            <a:off x="6858000" y="0"/>
            <a:ext cx="2286000" cy="5143500"/>
          </a:xfrm>
          <a:prstGeom prst="rect">
            <a:avLst/>
          </a:prstGeom>
          <a:solidFill>
            <a:srgbClr val="0E2040">
              <a:alpha val="40000"/>
            </a:srgbClr>
          </a:solidFill>
          <a:ln/>
        </p:spPr>
      </p:sp>
      <p:sp>
        <p:nvSpPr>
          <p:cNvPr id="5" name="Shape 3"/>
          <p:cNvSpPr/>
          <p:nvPr/>
        </p:nvSpPr>
        <p:spPr>
          <a:xfrm>
            <a:off x="6858000" y="0"/>
            <a:ext cx="45720" cy="5143500"/>
          </a:xfrm>
          <a:prstGeom prst="rect">
            <a:avLst/>
          </a:prstGeom>
          <a:solidFill>
            <a:srgbClr val="0D7C7B"/>
          </a:solidFill>
          <a:ln/>
        </p:spPr>
      </p:sp>
      <p:sp>
        <p:nvSpPr>
          <p:cNvPr id="6" name="Text 4"/>
          <p:cNvSpPr/>
          <p:nvPr/>
        </p:nvSpPr>
        <p:spPr>
          <a:xfrm>
            <a:off x="457200" y="384048"/>
            <a:ext cx="7772400" cy="292608"/>
          </a:xfrm>
          <a:prstGeom prst="rect">
            <a:avLst/>
          </a:prstGeom>
          <a:noFill/>
          <a:ln/>
        </p:spPr>
        <p:txBody>
          <a:bodyPr wrap="square" rtlCol="0" anchor="ctr"/>
          <a:lstStyle/>
          <a:p>
            <a:pPr indent="0" marL="0">
              <a:buNone/>
            </a:pPr>
            <a:r>
              <a:rPr lang="en-US" sz="900" b="1" spc="250" kern="0" dirty="0">
                <a:solidFill>
                  <a:srgbClr val="11988F"/>
                </a:solidFill>
                <a:latin typeface="Calibri" pitchFamily="34" charset="0"/>
                <a:ea typeface="Calibri" pitchFamily="34" charset="-122"/>
                <a:cs typeface="Calibri" pitchFamily="34" charset="-120"/>
              </a:rPr>
              <a:t>MassDOER × TPS FELLOWSHIP PROJECT  ·  APRIL 2026</a:t>
            </a:r>
            <a:endParaRPr lang="en-US" sz="900" dirty="0"/>
          </a:p>
        </p:txBody>
      </p:sp>
      <p:sp>
        <p:nvSpPr>
          <p:cNvPr id="7" name="Text 5"/>
          <p:cNvSpPr/>
          <p:nvPr/>
        </p:nvSpPr>
        <p:spPr>
          <a:xfrm>
            <a:off x="457200" y="749808"/>
            <a:ext cx="6400800" cy="2011680"/>
          </a:xfrm>
          <a:prstGeom prst="rect">
            <a:avLst/>
          </a:prstGeom>
          <a:noFill/>
          <a:ln/>
        </p:spPr>
        <p:txBody>
          <a:bodyPr wrap="square" rtlCol="0" anchor="ctr"/>
          <a:lstStyle/>
          <a:p>
            <a:pPr indent="0" marL="0">
              <a:lnSpc>
                <a:spcPct val="110000"/>
              </a:lnSpc>
              <a:buNone/>
            </a:pPr>
            <a:r>
              <a:rPr lang="en-US" sz="4600" b="1" dirty="0">
                <a:solidFill>
                  <a:srgbClr val="FFFFFF"/>
                </a:solidFill>
                <a:latin typeface="Georgia" pitchFamily="34" charset="0"/>
                <a:ea typeface="Georgia" pitchFamily="34" charset="-122"/>
                <a:cs typeface="Georgia" pitchFamily="34" charset="-120"/>
              </a:rPr>
              <a:t>Next-Generation</a:t>
            </a:r>
            <a:endParaRPr lang="en-US" sz="4600" dirty="0"/>
          </a:p>
          <a:p>
            <a:pPr indent="0" marL="0">
              <a:lnSpc>
                <a:spcPct val="110000"/>
              </a:lnSpc>
              <a:buNone/>
            </a:pPr>
            <a:r>
              <a:rPr lang="en-US" sz="4600" b="1" dirty="0">
                <a:solidFill>
                  <a:srgbClr val="FFFFFF"/>
                </a:solidFill>
                <a:latin typeface="Georgia" pitchFamily="34" charset="0"/>
                <a:ea typeface="Georgia" pitchFamily="34" charset="-122"/>
                <a:cs typeface="Georgia" pitchFamily="34" charset="-120"/>
              </a:rPr>
              <a:t>BESS Siting Tool</a:t>
            </a:r>
            <a:endParaRPr lang="en-US" sz="4600" dirty="0"/>
          </a:p>
        </p:txBody>
      </p:sp>
      <p:sp>
        <p:nvSpPr>
          <p:cNvPr id="8" name="Text 6"/>
          <p:cNvSpPr/>
          <p:nvPr/>
        </p:nvSpPr>
        <p:spPr>
          <a:xfrm>
            <a:off x="457200" y="2788920"/>
            <a:ext cx="6583680" cy="658368"/>
          </a:xfrm>
          <a:prstGeom prst="rect">
            <a:avLst/>
          </a:prstGeom>
          <a:noFill/>
          <a:ln/>
        </p:spPr>
        <p:txBody>
          <a:bodyPr wrap="square" rtlCol="0" anchor="ctr"/>
          <a:lstStyle/>
          <a:p>
            <a:pPr indent="0" marL="0">
              <a:buNone/>
            </a:pPr>
            <a:r>
              <a:rPr lang="en-US" sz="1350" dirty="0">
                <a:solidFill>
                  <a:srgbClr val="A9BAC9"/>
                </a:solidFill>
                <a:latin typeface="Calibri" pitchFamily="34" charset="0"/>
                <a:ea typeface="Calibri" pitchFamily="34" charset="-122"/>
                <a:cs typeface="Calibri" pitchFamily="34" charset="-120"/>
              </a:rPr>
              <a:t>Selecting 231 Beacham St, Everett &amp; 283 Eastern Ave, Chelsea</a:t>
            </a:r>
            <a:endParaRPr lang="en-US" sz="1350" dirty="0"/>
          </a:p>
          <a:p>
            <a:pPr indent="0" marL="0">
              <a:buNone/>
            </a:pPr>
            <a:r>
              <a:rPr lang="en-US" sz="1350" dirty="0">
                <a:solidFill>
                  <a:srgbClr val="A9BAC9"/>
                </a:solidFill>
                <a:latin typeface="Calibri" pitchFamily="34" charset="0"/>
                <a:ea typeface="Calibri" pitchFamily="34" charset="-122"/>
                <a:cs typeface="Calibri" pitchFamily="34" charset="-120"/>
              </a:rPr>
              <a:t>as Massachusetts’ Top Battery Energy Storage Investment Sites</a:t>
            </a:r>
            <a:endParaRPr lang="en-US" sz="1350" dirty="0"/>
          </a:p>
        </p:txBody>
      </p:sp>
      <p:sp>
        <p:nvSpPr>
          <p:cNvPr id="9" name="Text 7"/>
          <p:cNvSpPr/>
          <p:nvPr/>
        </p:nvSpPr>
        <p:spPr>
          <a:xfrm>
            <a:off x="457200" y="3566160"/>
            <a:ext cx="6583680" cy="475488"/>
          </a:xfrm>
          <a:prstGeom prst="rect">
            <a:avLst/>
          </a:prstGeom>
          <a:noFill/>
          <a:ln/>
        </p:spPr>
        <p:txBody>
          <a:bodyPr wrap="square" rtlCol="0" anchor="ctr"/>
          <a:lstStyle/>
          <a:p>
            <a:pPr indent="0" marL="0">
              <a:buNone/>
            </a:pPr>
            <a:r>
              <a:rPr lang="en-US" sz="1050" dirty="0">
                <a:solidFill>
                  <a:srgbClr val="F0B429"/>
                </a:solidFill>
                <a:latin typeface="Calibri" pitchFamily="34" charset="0"/>
                <a:ea typeface="Calibri" pitchFamily="34" charset="-122"/>
                <a:cs typeface="Calibri" pitchFamily="34" charset="-120"/>
              </a:rPr>
              <a:t>Monzia Moodie, Regulatory &amp; Policy Systems Analyst</a:t>
            </a:r>
            <a:endParaRPr lang="en-US" sz="1050" dirty="0"/>
          </a:p>
          <a:p>
            <a:pPr indent="0" marL="0">
              <a:buNone/>
            </a:pPr>
            <a:r>
              <a:rPr lang="en-US" sz="1050" dirty="0">
                <a:solidFill>
                  <a:srgbClr val="F0B429"/>
                </a:solidFill>
                <a:latin typeface="Calibri" pitchFamily="34" charset="0"/>
                <a:ea typeface="Calibri" pitchFamily="34" charset="-122"/>
                <a:cs typeface="Calibri" pitchFamily="34" charset="-120"/>
              </a:rPr>
              <a:t>Kadir Farah, Storage Systems &amp; Development Specialist</a:t>
            </a:r>
            <a:endParaRPr lang="en-US" sz="1050" dirty="0"/>
          </a:p>
        </p:txBody>
      </p:sp>
      <p:sp>
        <p:nvSpPr>
          <p:cNvPr id="10" name="Text 8"/>
          <p:cNvSpPr/>
          <p:nvPr/>
        </p:nvSpPr>
        <p:spPr>
          <a:xfrm>
            <a:off x="457200" y="4096512"/>
            <a:ext cx="6583680" cy="274320"/>
          </a:xfrm>
          <a:prstGeom prst="rect">
            <a:avLst/>
          </a:prstGeom>
          <a:noFill/>
          <a:ln/>
        </p:spPr>
        <p:txBody>
          <a:bodyPr wrap="square" rtlCol="0" anchor="ctr"/>
          <a:lstStyle/>
          <a:p>
            <a:pPr indent="0" marL="0">
              <a:buNone/>
            </a:pPr>
            <a:r>
              <a:rPr lang="en-US" sz="900" dirty="0">
                <a:solidFill>
                  <a:srgbClr val="A9BAC9"/>
                </a:solidFill>
                <a:latin typeface="Calibri" pitchFamily="34" charset="0"/>
                <a:ea typeface="Calibri" pitchFamily="34" charset="-122"/>
                <a:cs typeface="Calibri" pitchFamily="34" charset="-120"/>
              </a:rPr>
              <a:t>Advisor: Marcus Anum  |  Sponsor: Ledum Nordee  |  Coach: Tyler Holloway</a:t>
            </a:r>
            <a:endParaRPr lang="en-US" sz="900" dirty="0"/>
          </a:p>
        </p:txBody>
      </p:sp>
      <p:sp>
        <p:nvSpPr>
          <p:cNvPr id="11" name="Shape 9"/>
          <p:cNvSpPr/>
          <p:nvPr/>
        </p:nvSpPr>
        <p:spPr>
          <a:xfrm>
            <a:off x="6949440" y="502920"/>
            <a:ext cx="1965960" cy="914400"/>
          </a:xfrm>
          <a:prstGeom prst="rect">
            <a:avLst/>
          </a:prstGeom>
          <a:solidFill>
            <a:srgbClr val="FFFFFF">
              <a:alpha val="10000"/>
            </a:srgbClr>
          </a:solidFill>
          <a:ln/>
        </p:spPr>
      </p:sp>
      <p:sp>
        <p:nvSpPr>
          <p:cNvPr id="12" name="Text 10"/>
          <p:cNvSpPr/>
          <p:nvPr/>
        </p:nvSpPr>
        <p:spPr>
          <a:xfrm>
            <a:off x="6949440" y="576072"/>
            <a:ext cx="1965960" cy="475488"/>
          </a:xfrm>
          <a:prstGeom prst="rect">
            <a:avLst/>
          </a:prstGeom>
          <a:noFill/>
          <a:ln/>
        </p:spPr>
        <p:txBody>
          <a:bodyPr wrap="square" rtlCol="0" anchor="ctr"/>
          <a:lstStyle/>
          <a:p>
            <a:pPr algn="ctr" indent="0" marL="0">
              <a:buNone/>
            </a:pPr>
            <a:r>
              <a:rPr lang="en-US" sz="2000" b="1" dirty="0">
                <a:solidFill>
                  <a:srgbClr val="F0B429"/>
                </a:solidFill>
                <a:latin typeface="Calibri" pitchFamily="34" charset="0"/>
                <a:ea typeface="Calibri" pitchFamily="34" charset="-122"/>
                <a:cs typeface="Calibri" pitchFamily="34" charset="-120"/>
              </a:rPr>
              <a:t>5,000 MW</a:t>
            </a:r>
            <a:endParaRPr lang="en-US" sz="2000" dirty="0"/>
          </a:p>
        </p:txBody>
      </p:sp>
      <p:sp>
        <p:nvSpPr>
          <p:cNvPr id="13" name="Text 11"/>
          <p:cNvSpPr/>
          <p:nvPr/>
        </p:nvSpPr>
        <p:spPr>
          <a:xfrm>
            <a:off x="6949440" y="1069848"/>
            <a:ext cx="1965960" cy="256032"/>
          </a:xfrm>
          <a:prstGeom prst="rect">
            <a:avLst/>
          </a:prstGeom>
          <a:noFill/>
          <a:ln/>
        </p:spPr>
        <p:txBody>
          <a:bodyPr wrap="square" rtlCol="0" anchor="ctr"/>
          <a:lstStyle/>
          <a:p>
            <a:pPr algn="ctr" indent="0" marL="0">
              <a:buNone/>
            </a:pPr>
            <a:r>
              <a:rPr lang="en-US" sz="850" dirty="0">
                <a:solidFill>
                  <a:srgbClr val="A9BAC9"/>
                </a:solidFill>
                <a:latin typeface="Calibri" pitchFamily="34" charset="0"/>
                <a:ea typeface="Calibri" pitchFamily="34" charset="-122"/>
                <a:cs typeface="Calibri" pitchFamily="34" charset="-120"/>
              </a:rPr>
              <a:t>2030 MA Storage Goal</a:t>
            </a:r>
            <a:endParaRPr lang="en-US" sz="850" dirty="0"/>
          </a:p>
        </p:txBody>
      </p:sp>
      <p:sp>
        <p:nvSpPr>
          <p:cNvPr id="14" name="Shape 12"/>
          <p:cNvSpPr/>
          <p:nvPr/>
        </p:nvSpPr>
        <p:spPr>
          <a:xfrm>
            <a:off x="6949440" y="1618488"/>
            <a:ext cx="1965960" cy="914400"/>
          </a:xfrm>
          <a:prstGeom prst="rect">
            <a:avLst/>
          </a:prstGeom>
          <a:solidFill>
            <a:srgbClr val="FFFFFF">
              <a:alpha val="10000"/>
            </a:srgbClr>
          </a:solidFill>
          <a:ln/>
        </p:spPr>
      </p:sp>
      <p:sp>
        <p:nvSpPr>
          <p:cNvPr id="15" name="Text 13"/>
          <p:cNvSpPr/>
          <p:nvPr/>
        </p:nvSpPr>
        <p:spPr>
          <a:xfrm>
            <a:off x="6949440" y="1691640"/>
            <a:ext cx="1965960" cy="475488"/>
          </a:xfrm>
          <a:prstGeom prst="rect">
            <a:avLst/>
          </a:prstGeom>
          <a:noFill/>
          <a:ln/>
        </p:spPr>
        <p:txBody>
          <a:bodyPr wrap="square" rtlCol="0" anchor="ctr"/>
          <a:lstStyle/>
          <a:p>
            <a:pPr algn="ctr" indent="0" marL="0">
              <a:buNone/>
            </a:pPr>
            <a:r>
              <a:rPr lang="en-US" sz="2000" b="1" dirty="0">
                <a:solidFill>
                  <a:srgbClr val="F0B429"/>
                </a:solidFill>
                <a:latin typeface="Calibri" pitchFamily="34" charset="0"/>
                <a:ea typeface="Calibri" pitchFamily="34" charset="-122"/>
                <a:cs typeface="Calibri" pitchFamily="34" charset="-120"/>
              </a:rPr>
              <a:t>119/125</a:t>
            </a:r>
            <a:endParaRPr lang="en-US" sz="2000" dirty="0"/>
          </a:p>
        </p:txBody>
      </p:sp>
      <p:sp>
        <p:nvSpPr>
          <p:cNvPr id="16" name="Text 14"/>
          <p:cNvSpPr/>
          <p:nvPr/>
        </p:nvSpPr>
        <p:spPr>
          <a:xfrm>
            <a:off x="6949440" y="2185416"/>
            <a:ext cx="1965960" cy="256032"/>
          </a:xfrm>
          <a:prstGeom prst="rect">
            <a:avLst/>
          </a:prstGeom>
          <a:noFill/>
          <a:ln/>
        </p:spPr>
        <p:txBody>
          <a:bodyPr wrap="square" rtlCol="0" anchor="ctr"/>
          <a:lstStyle/>
          <a:p>
            <a:pPr algn="ctr" indent="0" marL="0">
              <a:buNone/>
            </a:pPr>
            <a:r>
              <a:rPr lang="en-US" sz="850" dirty="0">
                <a:solidFill>
                  <a:srgbClr val="A9BAC9"/>
                </a:solidFill>
                <a:latin typeface="Calibri" pitchFamily="34" charset="0"/>
                <a:ea typeface="Calibri" pitchFamily="34" charset="-122"/>
                <a:cs typeface="Calibri" pitchFamily="34" charset="-120"/>
              </a:rPr>
              <a:t>Everett Tool Score</a:t>
            </a:r>
            <a:endParaRPr lang="en-US" sz="850" dirty="0"/>
          </a:p>
        </p:txBody>
      </p:sp>
      <p:sp>
        <p:nvSpPr>
          <p:cNvPr id="17" name="Shape 15"/>
          <p:cNvSpPr/>
          <p:nvPr/>
        </p:nvSpPr>
        <p:spPr>
          <a:xfrm>
            <a:off x="6949440" y="2734056"/>
            <a:ext cx="1965960" cy="914400"/>
          </a:xfrm>
          <a:prstGeom prst="rect">
            <a:avLst/>
          </a:prstGeom>
          <a:solidFill>
            <a:srgbClr val="FFFFFF">
              <a:alpha val="10000"/>
            </a:srgbClr>
          </a:solidFill>
          <a:ln/>
        </p:spPr>
      </p:sp>
      <p:sp>
        <p:nvSpPr>
          <p:cNvPr id="18" name="Text 16"/>
          <p:cNvSpPr/>
          <p:nvPr/>
        </p:nvSpPr>
        <p:spPr>
          <a:xfrm>
            <a:off x="6949440" y="2807208"/>
            <a:ext cx="1965960" cy="475488"/>
          </a:xfrm>
          <a:prstGeom prst="rect">
            <a:avLst/>
          </a:prstGeom>
          <a:noFill/>
          <a:ln/>
        </p:spPr>
        <p:txBody>
          <a:bodyPr wrap="square" rtlCol="0" anchor="ctr"/>
          <a:lstStyle/>
          <a:p>
            <a:pPr algn="ctr" indent="0" marL="0">
              <a:buNone/>
            </a:pPr>
            <a:r>
              <a:rPr lang="en-US" sz="2000" b="1" dirty="0">
                <a:solidFill>
                  <a:srgbClr val="F0B429"/>
                </a:solidFill>
                <a:latin typeface="Calibri" pitchFamily="34" charset="0"/>
                <a:ea typeface="Calibri" pitchFamily="34" charset="-122"/>
                <a:cs typeface="Calibri" pitchFamily="34" charset="-120"/>
              </a:rPr>
              <a:t>113/125</a:t>
            </a:r>
            <a:endParaRPr lang="en-US" sz="2000" dirty="0"/>
          </a:p>
        </p:txBody>
      </p:sp>
      <p:sp>
        <p:nvSpPr>
          <p:cNvPr id="19" name="Text 17"/>
          <p:cNvSpPr/>
          <p:nvPr/>
        </p:nvSpPr>
        <p:spPr>
          <a:xfrm>
            <a:off x="6949440" y="3300984"/>
            <a:ext cx="1965960" cy="256032"/>
          </a:xfrm>
          <a:prstGeom prst="rect">
            <a:avLst/>
          </a:prstGeom>
          <a:noFill/>
          <a:ln/>
        </p:spPr>
        <p:txBody>
          <a:bodyPr wrap="square" rtlCol="0" anchor="ctr"/>
          <a:lstStyle/>
          <a:p>
            <a:pPr algn="ctr" indent="0" marL="0">
              <a:buNone/>
            </a:pPr>
            <a:r>
              <a:rPr lang="en-US" sz="850" dirty="0">
                <a:solidFill>
                  <a:srgbClr val="A9BAC9"/>
                </a:solidFill>
                <a:latin typeface="Calibri" pitchFamily="34" charset="0"/>
                <a:ea typeface="Calibri" pitchFamily="34" charset="-122"/>
                <a:cs typeface="Calibri" pitchFamily="34" charset="-120"/>
              </a:rPr>
              <a:t>Chelsea Tool Score</a:t>
            </a:r>
            <a:endParaRPr lang="en-US" sz="850" dirty="0"/>
          </a:p>
        </p:txBody>
      </p:sp>
      <p:sp>
        <p:nvSpPr>
          <p:cNvPr id="20" name="Shape 18"/>
          <p:cNvSpPr/>
          <p:nvPr/>
        </p:nvSpPr>
        <p:spPr>
          <a:xfrm>
            <a:off x="6949440" y="3849624"/>
            <a:ext cx="1965960" cy="914400"/>
          </a:xfrm>
          <a:prstGeom prst="rect">
            <a:avLst/>
          </a:prstGeom>
          <a:solidFill>
            <a:srgbClr val="FFFFFF">
              <a:alpha val="10000"/>
            </a:srgbClr>
          </a:solidFill>
          <a:ln/>
        </p:spPr>
      </p:sp>
      <p:sp>
        <p:nvSpPr>
          <p:cNvPr id="21" name="Text 19"/>
          <p:cNvSpPr/>
          <p:nvPr/>
        </p:nvSpPr>
        <p:spPr>
          <a:xfrm>
            <a:off x="6949440" y="3922776"/>
            <a:ext cx="1965960" cy="475488"/>
          </a:xfrm>
          <a:prstGeom prst="rect">
            <a:avLst/>
          </a:prstGeom>
          <a:noFill/>
          <a:ln/>
        </p:spPr>
        <p:txBody>
          <a:bodyPr wrap="square" rtlCol="0" anchor="ctr"/>
          <a:lstStyle/>
          <a:p>
            <a:pPr algn="ctr" indent="0" marL="0">
              <a:buNone/>
            </a:pPr>
            <a:r>
              <a:rPr lang="en-US" sz="2000" b="1" dirty="0">
                <a:solidFill>
                  <a:srgbClr val="F0B429"/>
                </a:solidFill>
                <a:latin typeface="Calibri" pitchFamily="34" charset="0"/>
                <a:ea typeface="Calibri" pitchFamily="34" charset="-122"/>
                <a:cs typeface="Calibri" pitchFamily="34" charset="-120"/>
              </a:rPr>
              <a:t>$169M</a:t>
            </a:r>
            <a:endParaRPr lang="en-US" sz="2000" dirty="0"/>
          </a:p>
        </p:txBody>
      </p:sp>
      <p:sp>
        <p:nvSpPr>
          <p:cNvPr id="22" name="Text 20"/>
          <p:cNvSpPr/>
          <p:nvPr/>
        </p:nvSpPr>
        <p:spPr>
          <a:xfrm>
            <a:off x="6949440" y="4416552"/>
            <a:ext cx="1965960" cy="256032"/>
          </a:xfrm>
          <a:prstGeom prst="rect">
            <a:avLst/>
          </a:prstGeom>
          <a:noFill/>
          <a:ln/>
        </p:spPr>
        <p:txBody>
          <a:bodyPr wrap="square" rtlCol="0" anchor="ctr"/>
          <a:lstStyle/>
          <a:p>
            <a:pPr algn="ctr" indent="0" marL="0">
              <a:buNone/>
            </a:pPr>
            <a:r>
              <a:rPr lang="en-US" sz="850" dirty="0">
                <a:solidFill>
                  <a:srgbClr val="A9BAC9"/>
                </a:solidFill>
                <a:latin typeface="Calibri" pitchFamily="34" charset="0"/>
                <a:ea typeface="Calibri" pitchFamily="34" charset="-122"/>
                <a:cs typeface="Calibri" pitchFamily="34" charset="-120"/>
              </a:rPr>
              <a:t>Combined Gross CAPEX (Model)</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THE MASSACHUSETTS ENERGY STORAGE IMPERATIVE</a:t>
            </a:r>
            <a:endParaRPr lang="en-US" sz="1100" dirty="0"/>
          </a:p>
        </p:txBody>
      </p:sp>
      <p:sp>
        <p:nvSpPr>
          <p:cNvPr id="4" name="Text 2"/>
          <p:cNvSpPr/>
          <p:nvPr/>
        </p:nvSpPr>
        <p:spPr>
          <a:xfrm>
            <a:off x="347472" y="804672"/>
            <a:ext cx="4114800" cy="256032"/>
          </a:xfrm>
          <a:prstGeom prst="rect">
            <a:avLst/>
          </a:prstGeom>
          <a:noFill/>
          <a:ln/>
        </p:spPr>
        <p:txBody>
          <a:bodyPr wrap="square" rtlCol="0" anchor="ctr"/>
          <a:lstStyle/>
          <a:p>
            <a:pPr indent="0" marL="0">
              <a:buNone/>
            </a:pPr>
            <a:r>
              <a:rPr lang="en-US" sz="1150" b="1" dirty="0">
                <a:solidFill>
                  <a:srgbClr val="0E2040"/>
                </a:solidFill>
                <a:latin typeface="Georgia" pitchFamily="34" charset="0"/>
                <a:ea typeface="Georgia" pitchFamily="34" charset="-122"/>
                <a:cs typeface="Georgia" pitchFamily="34" charset="-120"/>
              </a:rPr>
              <a:t>Massachusetts Storage Gap at a Glance</a:t>
            </a:r>
            <a:endParaRPr lang="en-US" sz="1150" dirty="0"/>
          </a:p>
        </p:txBody>
      </p:sp>
      <p:sp>
        <p:nvSpPr>
          <p:cNvPr id="5" name="Shape 3"/>
          <p:cNvSpPr/>
          <p:nvPr/>
        </p:nvSpPr>
        <p:spPr>
          <a:xfrm>
            <a:off x="347472" y="1133856"/>
            <a:ext cx="4114800" cy="969264"/>
          </a:xfrm>
          <a:prstGeom prst="rect">
            <a:avLst/>
          </a:prstGeom>
          <a:solidFill>
            <a:srgbClr val="FAE6E3"/>
          </a:solidFill>
          <a:ln/>
          <a:effectLst>
            <a:outerShdw sx="100000" sy="100000" kx="0" ky="0" algn="bl" rotWithShape="0" blurRad="101600" dist="38100" dir="8100000">
              <a:srgbClr val="000000">
                <a:alpha val="13000"/>
              </a:srgbClr>
            </a:outerShdw>
          </a:effectLst>
        </p:spPr>
      </p:sp>
      <p:sp>
        <p:nvSpPr>
          <p:cNvPr id="6" name="Shape 4"/>
          <p:cNvSpPr/>
          <p:nvPr/>
        </p:nvSpPr>
        <p:spPr>
          <a:xfrm>
            <a:off x="347472" y="1133856"/>
            <a:ext cx="73152" cy="969264"/>
          </a:xfrm>
          <a:prstGeom prst="rect">
            <a:avLst/>
          </a:prstGeom>
          <a:solidFill>
            <a:srgbClr val="A83D28"/>
          </a:solidFill>
          <a:ln/>
        </p:spPr>
      </p:sp>
      <p:sp>
        <p:nvSpPr>
          <p:cNvPr id="7" name="Text 5"/>
          <p:cNvSpPr/>
          <p:nvPr/>
        </p:nvSpPr>
        <p:spPr>
          <a:xfrm>
            <a:off x="502920" y="1207008"/>
            <a:ext cx="3840480" cy="182880"/>
          </a:xfrm>
          <a:prstGeom prst="rect">
            <a:avLst/>
          </a:prstGeom>
          <a:noFill/>
          <a:ln/>
        </p:spPr>
        <p:txBody>
          <a:bodyPr wrap="square" lIns="0" tIns="0" rIns="0" bIns="0" rtlCol="0" anchor="ctr"/>
          <a:lstStyle/>
          <a:p>
            <a:pPr indent="0" marL="0">
              <a:buNone/>
            </a:pPr>
            <a:r>
              <a:rPr lang="en-US" sz="800" b="1" spc="50" kern="0" dirty="0">
                <a:solidFill>
                  <a:srgbClr val="A83D28"/>
                </a:solidFill>
                <a:latin typeface="Calibri" pitchFamily="34" charset="0"/>
                <a:ea typeface="Calibri" pitchFamily="34" charset="-122"/>
                <a:cs typeface="Calibri" pitchFamily="34" charset="-120"/>
              </a:rPr>
              <a:t>INSTALLED + PIPELINE (STATEWIDE)</a:t>
            </a:r>
            <a:endParaRPr lang="en-US" sz="800" dirty="0"/>
          </a:p>
        </p:txBody>
      </p:sp>
      <p:sp>
        <p:nvSpPr>
          <p:cNvPr id="8" name="Text 6"/>
          <p:cNvSpPr/>
          <p:nvPr/>
        </p:nvSpPr>
        <p:spPr>
          <a:xfrm>
            <a:off x="502920" y="1408176"/>
            <a:ext cx="2286000" cy="384048"/>
          </a:xfrm>
          <a:prstGeom prst="rect">
            <a:avLst/>
          </a:prstGeom>
          <a:noFill/>
          <a:ln/>
        </p:spPr>
        <p:txBody>
          <a:bodyPr wrap="square" lIns="0" tIns="0" rIns="0" bIns="0" rtlCol="0" anchor="ctr"/>
          <a:lstStyle/>
          <a:p>
            <a:pPr indent="0" marL="0">
              <a:buNone/>
            </a:pPr>
            <a:r>
              <a:rPr lang="en-US" sz="2600" b="1" dirty="0">
                <a:solidFill>
                  <a:srgbClr val="A83D28"/>
                </a:solidFill>
                <a:latin typeface="Calibri" pitchFamily="34" charset="0"/>
                <a:ea typeface="Calibri" pitchFamily="34" charset="-122"/>
                <a:cs typeface="Calibri" pitchFamily="34" charset="-120"/>
              </a:rPr>
              <a:t>2,000+ MW</a:t>
            </a:r>
            <a:endParaRPr lang="en-US" sz="2600" dirty="0"/>
          </a:p>
        </p:txBody>
      </p:sp>
      <p:sp>
        <p:nvSpPr>
          <p:cNvPr id="9" name="Text 7"/>
          <p:cNvSpPr/>
          <p:nvPr/>
        </p:nvSpPr>
        <p:spPr>
          <a:xfrm>
            <a:off x="502920" y="1810512"/>
            <a:ext cx="3749040" cy="201168"/>
          </a:xfrm>
          <a:prstGeom prst="rect">
            <a:avLst/>
          </a:prstGeom>
          <a:noFill/>
          <a:ln/>
        </p:spPr>
        <p:txBody>
          <a:bodyPr wrap="square" lIns="0" tIns="0" rIns="0" bIns="0" rtlCol="0" anchor="ctr"/>
          <a:lstStyle/>
          <a:p>
            <a:pPr indent="0" marL="0">
              <a:buNone/>
            </a:pPr>
            <a:r>
              <a:rPr lang="en-US" sz="900" dirty="0">
                <a:solidFill>
                  <a:srgbClr val="617283"/>
                </a:solidFill>
                <a:latin typeface="Calibri" pitchFamily="34" charset="0"/>
                <a:ea typeface="Calibri" pitchFamily="34" charset="-122"/>
                <a:cs typeface="Calibri" pitchFamily="34" charset="-120"/>
              </a:rPr>
              <a:t>~40% of 5,000 MW target (including pipeline)</a:t>
            </a:r>
            <a:endParaRPr lang="en-US" sz="900" dirty="0"/>
          </a:p>
        </p:txBody>
      </p:sp>
      <p:sp>
        <p:nvSpPr>
          <p:cNvPr id="10" name="Shape 8"/>
          <p:cNvSpPr/>
          <p:nvPr/>
        </p:nvSpPr>
        <p:spPr>
          <a:xfrm>
            <a:off x="502920" y="1673352"/>
            <a:ext cx="3749040" cy="91440"/>
          </a:xfrm>
          <a:prstGeom prst="rect">
            <a:avLst/>
          </a:prstGeom>
          <a:solidFill>
            <a:srgbClr val="E5EAF1"/>
          </a:solidFill>
          <a:ln/>
        </p:spPr>
      </p:sp>
      <p:sp>
        <p:nvSpPr>
          <p:cNvPr id="11" name="Shape 9"/>
          <p:cNvSpPr/>
          <p:nvPr/>
        </p:nvSpPr>
        <p:spPr>
          <a:xfrm>
            <a:off x="502920" y="1673352"/>
            <a:ext cx="1499616" cy="91440"/>
          </a:xfrm>
          <a:prstGeom prst="rect">
            <a:avLst/>
          </a:prstGeom>
          <a:solidFill>
            <a:srgbClr val="A83D28"/>
          </a:solidFill>
          <a:ln/>
        </p:spPr>
      </p:sp>
      <p:sp>
        <p:nvSpPr>
          <p:cNvPr id="12" name="Shape 10"/>
          <p:cNvSpPr/>
          <p:nvPr/>
        </p:nvSpPr>
        <p:spPr>
          <a:xfrm>
            <a:off x="347472" y="2231136"/>
            <a:ext cx="4114800" cy="969264"/>
          </a:xfrm>
          <a:prstGeom prst="rect">
            <a:avLst/>
          </a:prstGeom>
          <a:solidFill>
            <a:srgbClr val="FDF3DC"/>
          </a:solidFill>
          <a:ln/>
          <a:effectLst>
            <a:outerShdw sx="100000" sy="100000" kx="0" ky="0" algn="bl" rotWithShape="0" blurRad="101600" dist="38100" dir="8100000">
              <a:srgbClr val="000000">
                <a:alpha val="13000"/>
              </a:srgbClr>
            </a:outerShdw>
          </a:effectLst>
        </p:spPr>
      </p:sp>
      <p:sp>
        <p:nvSpPr>
          <p:cNvPr id="13" name="Shape 11"/>
          <p:cNvSpPr/>
          <p:nvPr/>
        </p:nvSpPr>
        <p:spPr>
          <a:xfrm>
            <a:off x="347472" y="2231136"/>
            <a:ext cx="73152" cy="969264"/>
          </a:xfrm>
          <a:prstGeom prst="rect">
            <a:avLst/>
          </a:prstGeom>
          <a:solidFill>
            <a:srgbClr val="C68A17"/>
          </a:solidFill>
          <a:ln/>
        </p:spPr>
      </p:sp>
      <p:sp>
        <p:nvSpPr>
          <p:cNvPr id="14" name="Text 12"/>
          <p:cNvSpPr/>
          <p:nvPr/>
        </p:nvSpPr>
        <p:spPr>
          <a:xfrm>
            <a:off x="502920" y="2304288"/>
            <a:ext cx="3840480" cy="182880"/>
          </a:xfrm>
          <a:prstGeom prst="rect">
            <a:avLst/>
          </a:prstGeom>
          <a:noFill/>
          <a:ln/>
        </p:spPr>
        <p:txBody>
          <a:bodyPr wrap="square" lIns="0" tIns="0" rIns="0" bIns="0" rtlCol="0" anchor="ctr"/>
          <a:lstStyle/>
          <a:p>
            <a:pPr indent="0" marL="0">
              <a:buNone/>
            </a:pPr>
            <a:r>
              <a:rPr lang="en-US" sz="800" b="1" spc="50" kern="0" dirty="0">
                <a:solidFill>
                  <a:srgbClr val="C68A17"/>
                </a:solidFill>
                <a:latin typeface="Calibri" pitchFamily="34" charset="0"/>
                <a:ea typeface="Calibri" pitchFamily="34" charset="-122"/>
                <a:cs typeface="Calibri" pitchFamily="34" charset="-120"/>
              </a:rPr>
              <a:t>PERMITTED — SUFFOLK + MIDDLESEX</a:t>
            </a:r>
            <a:endParaRPr lang="en-US" sz="800" dirty="0"/>
          </a:p>
        </p:txBody>
      </p:sp>
      <p:sp>
        <p:nvSpPr>
          <p:cNvPr id="15" name="Text 13"/>
          <p:cNvSpPr/>
          <p:nvPr/>
        </p:nvSpPr>
        <p:spPr>
          <a:xfrm>
            <a:off x="502920" y="2505456"/>
            <a:ext cx="2286000" cy="384048"/>
          </a:xfrm>
          <a:prstGeom prst="rect">
            <a:avLst/>
          </a:prstGeom>
          <a:noFill/>
          <a:ln/>
        </p:spPr>
        <p:txBody>
          <a:bodyPr wrap="square" lIns="0" tIns="0" rIns="0" bIns="0" rtlCol="0" anchor="ctr"/>
          <a:lstStyle/>
          <a:p>
            <a:pPr indent="0" marL="0">
              <a:buNone/>
            </a:pPr>
            <a:r>
              <a:rPr lang="en-US" sz="2600" b="1" dirty="0">
                <a:solidFill>
                  <a:srgbClr val="C68A17"/>
                </a:solidFill>
                <a:latin typeface="Calibri" pitchFamily="34" charset="0"/>
                <a:ea typeface="Calibri" pitchFamily="34" charset="-122"/>
                <a:cs typeface="Calibri" pitchFamily="34" charset="-120"/>
              </a:rPr>
              <a:t>1,285 MW</a:t>
            </a:r>
            <a:endParaRPr lang="en-US" sz="2600" dirty="0"/>
          </a:p>
        </p:txBody>
      </p:sp>
      <p:sp>
        <p:nvSpPr>
          <p:cNvPr id="16" name="Text 14"/>
          <p:cNvSpPr/>
          <p:nvPr/>
        </p:nvSpPr>
        <p:spPr>
          <a:xfrm>
            <a:off x="502920" y="2907792"/>
            <a:ext cx="3749040" cy="201168"/>
          </a:xfrm>
          <a:prstGeom prst="rect">
            <a:avLst/>
          </a:prstGeom>
          <a:noFill/>
          <a:ln/>
        </p:spPr>
        <p:txBody>
          <a:bodyPr wrap="square" lIns="0" tIns="0" rIns="0" bIns="0" rtlCol="0" anchor="ctr"/>
          <a:lstStyle/>
          <a:p>
            <a:pPr indent="0" marL="0">
              <a:buNone/>
            </a:pPr>
            <a:r>
              <a:rPr lang="en-US" sz="900" dirty="0">
                <a:solidFill>
                  <a:srgbClr val="617283"/>
                </a:solidFill>
                <a:latin typeface="Calibri" pitchFamily="34" charset="0"/>
                <a:ea typeface="Calibri" pitchFamily="34" charset="-122"/>
                <a:cs typeface="Calibri" pitchFamily="34" charset="-120"/>
              </a:rPr>
              <a:t>~25% of target — concentrated in highest-value nodes</a:t>
            </a:r>
            <a:endParaRPr lang="en-US" sz="900" dirty="0"/>
          </a:p>
        </p:txBody>
      </p:sp>
      <p:sp>
        <p:nvSpPr>
          <p:cNvPr id="17" name="Shape 15"/>
          <p:cNvSpPr/>
          <p:nvPr/>
        </p:nvSpPr>
        <p:spPr>
          <a:xfrm>
            <a:off x="502920" y="2770632"/>
            <a:ext cx="3749040" cy="91440"/>
          </a:xfrm>
          <a:prstGeom prst="rect">
            <a:avLst/>
          </a:prstGeom>
          <a:solidFill>
            <a:srgbClr val="E5EAF1"/>
          </a:solidFill>
          <a:ln/>
        </p:spPr>
      </p:sp>
      <p:sp>
        <p:nvSpPr>
          <p:cNvPr id="18" name="Shape 16"/>
          <p:cNvSpPr/>
          <p:nvPr/>
        </p:nvSpPr>
        <p:spPr>
          <a:xfrm>
            <a:off x="502920" y="2770632"/>
            <a:ext cx="963503" cy="91440"/>
          </a:xfrm>
          <a:prstGeom prst="rect">
            <a:avLst/>
          </a:prstGeom>
          <a:solidFill>
            <a:srgbClr val="C68A17"/>
          </a:solidFill>
          <a:ln/>
        </p:spPr>
      </p:sp>
      <p:sp>
        <p:nvSpPr>
          <p:cNvPr id="19" name="Shape 17"/>
          <p:cNvSpPr/>
          <p:nvPr/>
        </p:nvSpPr>
        <p:spPr>
          <a:xfrm>
            <a:off x="347472" y="3328416"/>
            <a:ext cx="4114800" cy="969264"/>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20" name="Shape 18"/>
          <p:cNvSpPr/>
          <p:nvPr/>
        </p:nvSpPr>
        <p:spPr>
          <a:xfrm>
            <a:off x="347472" y="3328416"/>
            <a:ext cx="73152" cy="969264"/>
          </a:xfrm>
          <a:prstGeom prst="rect">
            <a:avLst/>
          </a:prstGeom>
          <a:solidFill>
            <a:srgbClr val="0E2040"/>
          </a:solidFill>
          <a:ln/>
        </p:spPr>
      </p:sp>
      <p:sp>
        <p:nvSpPr>
          <p:cNvPr id="21" name="Text 19"/>
          <p:cNvSpPr/>
          <p:nvPr/>
        </p:nvSpPr>
        <p:spPr>
          <a:xfrm>
            <a:off x="502920" y="3401568"/>
            <a:ext cx="3840480" cy="182880"/>
          </a:xfrm>
          <a:prstGeom prst="rect">
            <a:avLst/>
          </a:prstGeom>
          <a:noFill/>
          <a:ln/>
        </p:spPr>
        <p:txBody>
          <a:bodyPr wrap="square" lIns="0" tIns="0" rIns="0" bIns="0" rtlCol="0" anchor="ctr"/>
          <a:lstStyle/>
          <a:p>
            <a:pPr indent="0" marL="0">
              <a:buNone/>
            </a:pPr>
            <a:r>
              <a:rPr lang="en-US" sz="800" b="1" spc="50" kern="0" dirty="0">
                <a:solidFill>
                  <a:srgbClr val="0E2040"/>
                </a:solidFill>
                <a:latin typeface="Calibri" pitchFamily="34" charset="0"/>
                <a:ea typeface="Calibri" pitchFamily="34" charset="-122"/>
                <a:cs typeface="Calibri" pitchFamily="34" charset="-120"/>
              </a:rPr>
              <a:t>2030 STATUTORY MANDATE</a:t>
            </a:r>
            <a:endParaRPr lang="en-US" sz="800" dirty="0"/>
          </a:p>
        </p:txBody>
      </p:sp>
      <p:sp>
        <p:nvSpPr>
          <p:cNvPr id="22" name="Text 20"/>
          <p:cNvSpPr/>
          <p:nvPr/>
        </p:nvSpPr>
        <p:spPr>
          <a:xfrm>
            <a:off x="502920" y="3602736"/>
            <a:ext cx="2286000" cy="384048"/>
          </a:xfrm>
          <a:prstGeom prst="rect">
            <a:avLst/>
          </a:prstGeom>
          <a:noFill/>
          <a:ln/>
        </p:spPr>
        <p:txBody>
          <a:bodyPr wrap="square" lIns="0" tIns="0" rIns="0" bIns="0" rtlCol="0" anchor="ctr"/>
          <a:lstStyle/>
          <a:p>
            <a:pPr indent="0" marL="0">
              <a:buNone/>
            </a:pPr>
            <a:r>
              <a:rPr lang="en-US" sz="2600" b="1" dirty="0">
                <a:solidFill>
                  <a:srgbClr val="0E2040"/>
                </a:solidFill>
                <a:latin typeface="Calibri" pitchFamily="34" charset="0"/>
                <a:ea typeface="Calibri" pitchFamily="34" charset="-122"/>
                <a:cs typeface="Calibri" pitchFamily="34" charset="-120"/>
              </a:rPr>
              <a:t>5,000 MW</a:t>
            </a:r>
            <a:endParaRPr lang="en-US" sz="2600" dirty="0"/>
          </a:p>
        </p:txBody>
      </p:sp>
      <p:sp>
        <p:nvSpPr>
          <p:cNvPr id="23" name="Text 21"/>
          <p:cNvSpPr/>
          <p:nvPr/>
        </p:nvSpPr>
        <p:spPr>
          <a:xfrm>
            <a:off x="502920" y="4005072"/>
            <a:ext cx="3749040" cy="201168"/>
          </a:xfrm>
          <a:prstGeom prst="rect">
            <a:avLst/>
          </a:prstGeom>
          <a:noFill/>
          <a:ln/>
        </p:spPr>
        <p:txBody>
          <a:bodyPr wrap="square" lIns="0" tIns="0" rIns="0" bIns="0" rtlCol="0" anchor="ctr"/>
          <a:lstStyle/>
          <a:p>
            <a:pPr indent="0" marL="0">
              <a:buNone/>
            </a:pPr>
            <a:r>
              <a:rPr lang="en-US" sz="900" dirty="0">
                <a:solidFill>
                  <a:srgbClr val="617283"/>
                </a:solidFill>
                <a:latin typeface="Calibri" pitchFamily="34" charset="0"/>
                <a:ea typeface="Calibri" pitchFamily="34" charset="-122"/>
                <a:cs typeface="Calibri" pitchFamily="34" charset="-120"/>
              </a:rPr>
              <a:t>By July 31, 2030 · Chapter 239</a:t>
            </a:r>
            <a:endParaRPr lang="en-US" sz="900" dirty="0"/>
          </a:p>
        </p:txBody>
      </p:sp>
      <p:sp>
        <p:nvSpPr>
          <p:cNvPr id="24" name="Shape 22"/>
          <p:cNvSpPr/>
          <p:nvPr/>
        </p:nvSpPr>
        <p:spPr>
          <a:xfrm>
            <a:off x="502920" y="3867912"/>
            <a:ext cx="3749040" cy="91440"/>
          </a:xfrm>
          <a:prstGeom prst="rect">
            <a:avLst/>
          </a:prstGeom>
          <a:solidFill>
            <a:srgbClr val="E5EAF1"/>
          </a:solidFill>
          <a:ln/>
        </p:spPr>
      </p:sp>
      <p:sp>
        <p:nvSpPr>
          <p:cNvPr id="25" name="Shape 23"/>
          <p:cNvSpPr/>
          <p:nvPr/>
        </p:nvSpPr>
        <p:spPr>
          <a:xfrm>
            <a:off x="502920" y="3867912"/>
            <a:ext cx="3749040" cy="91440"/>
          </a:xfrm>
          <a:prstGeom prst="rect">
            <a:avLst/>
          </a:prstGeom>
          <a:solidFill>
            <a:srgbClr val="0E2040"/>
          </a:solidFill>
          <a:ln/>
        </p:spPr>
      </p:sp>
      <p:sp>
        <p:nvSpPr>
          <p:cNvPr id="26" name="Shape 24"/>
          <p:cNvSpPr/>
          <p:nvPr/>
        </p:nvSpPr>
        <p:spPr>
          <a:xfrm>
            <a:off x="347472" y="4407408"/>
            <a:ext cx="4114800" cy="411480"/>
          </a:xfrm>
          <a:prstGeom prst="rect">
            <a:avLst/>
          </a:prstGeom>
          <a:solidFill>
            <a:srgbClr val="0E2040"/>
          </a:solidFill>
          <a:ln/>
        </p:spPr>
      </p:sp>
      <p:sp>
        <p:nvSpPr>
          <p:cNvPr id="27" name="Text 25"/>
          <p:cNvSpPr/>
          <p:nvPr/>
        </p:nvSpPr>
        <p:spPr>
          <a:xfrm>
            <a:off x="457200" y="4443984"/>
            <a:ext cx="3913632" cy="347472"/>
          </a:xfrm>
          <a:prstGeom prst="rect">
            <a:avLst/>
          </a:prstGeom>
          <a:noFill/>
          <a:ln/>
        </p:spPr>
        <p:txBody>
          <a:bodyPr wrap="square" rtlCol="0" anchor="ctr"/>
          <a:lstStyle/>
          <a:p>
            <a:pPr indent="0" marL="0">
              <a:lnSpc>
                <a:spcPct val="125000"/>
              </a:lnSpc>
              <a:buNone/>
            </a:pPr>
            <a:r>
              <a:rPr lang="en-US" sz="850" i="1" dirty="0">
                <a:solidFill>
                  <a:srgbClr val="FFFFFF"/>
                </a:solidFill>
                <a:latin typeface="Calibri" pitchFamily="34" charset="0"/>
                <a:ea typeface="Calibri" pitchFamily="34" charset="-122"/>
                <a:cs typeface="Calibri" pitchFamily="34" charset="-120"/>
              </a:rPr>
              <a:t>The buildout gap is not a technology or capital problem — it is driven by siting, interconnection, and execution challenges.</a:t>
            </a:r>
            <a:endParaRPr lang="en-US" sz="850" dirty="0"/>
          </a:p>
        </p:txBody>
      </p:sp>
      <p:sp>
        <p:nvSpPr>
          <p:cNvPr id="28" name="Shape 26"/>
          <p:cNvSpPr/>
          <p:nvPr/>
        </p:nvSpPr>
        <p:spPr>
          <a:xfrm>
            <a:off x="4736592" y="804672"/>
            <a:ext cx="4087368" cy="84124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9" name="Shape 27"/>
          <p:cNvSpPr/>
          <p:nvPr/>
        </p:nvSpPr>
        <p:spPr>
          <a:xfrm>
            <a:off x="4736592" y="804672"/>
            <a:ext cx="64008" cy="841248"/>
          </a:xfrm>
          <a:prstGeom prst="rect">
            <a:avLst/>
          </a:prstGeom>
          <a:solidFill>
            <a:srgbClr val="A83D28"/>
          </a:solidFill>
          <a:ln/>
        </p:spPr>
      </p:sp>
      <p:sp>
        <p:nvSpPr>
          <p:cNvPr id="30" name="Text 28"/>
          <p:cNvSpPr/>
          <p:nvPr/>
        </p:nvSpPr>
        <p:spPr>
          <a:xfrm>
            <a:off x="4873752" y="868680"/>
            <a:ext cx="3858768" cy="256032"/>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  5,000 MW by July 31, 2030</a:t>
            </a:r>
            <a:endParaRPr lang="en-US" sz="1000" dirty="0"/>
          </a:p>
        </p:txBody>
      </p:sp>
      <p:sp>
        <p:nvSpPr>
          <p:cNvPr id="31" name="Text 29"/>
          <p:cNvSpPr/>
          <p:nvPr/>
        </p:nvSpPr>
        <p:spPr>
          <a:xfrm>
            <a:off x="4873752" y="1152144"/>
            <a:ext cx="3858768" cy="429768"/>
          </a:xfrm>
          <a:prstGeom prst="rect">
            <a:avLst/>
          </a:prstGeom>
          <a:noFill/>
          <a:ln/>
        </p:spPr>
        <p:txBody>
          <a:bodyPr wrap="square" lIns="0" tIns="0" rIns="0" bIns="0" rtlCol="0" anchor="ctr"/>
          <a:lstStyle/>
          <a:p>
            <a:pPr indent="0" marL="0">
              <a:lnSpc>
                <a:spcPct val="115000"/>
              </a:lnSpc>
              <a:buNone/>
            </a:pPr>
            <a:r>
              <a:rPr lang="en-US" sz="850" dirty="0">
                <a:solidFill>
                  <a:srgbClr val="617283"/>
                </a:solidFill>
                <a:latin typeface="Calibri" pitchFamily="34" charset="0"/>
                <a:ea typeface="Calibri" pitchFamily="34" charset="-122"/>
                <a:cs typeface="Calibri" pitchFamily="34" charset="-120"/>
              </a:rPr>
              <a:t>Massachusetts’ statutory mandate — the most aggressive state storage target in the US (MA 2024 Climate Act, Chapter 239)</a:t>
            </a:r>
            <a:endParaRPr lang="en-US" sz="850" dirty="0"/>
          </a:p>
        </p:txBody>
      </p:sp>
      <p:sp>
        <p:nvSpPr>
          <p:cNvPr id="32" name="Shape 30"/>
          <p:cNvSpPr/>
          <p:nvPr/>
        </p:nvSpPr>
        <p:spPr>
          <a:xfrm>
            <a:off x="4736592" y="1755648"/>
            <a:ext cx="4087368" cy="84124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3" name="Shape 31"/>
          <p:cNvSpPr/>
          <p:nvPr/>
        </p:nvSpPr>
        <p:spPr>
          <a:xfrm>
            <a:off x="4736592" y="1755648"/>
            <a:ext cx="64008" cy="841248"/>
          </a:xfrm>
          <a:prstGeom prst="rect">
            <a:avLst/>
          </a:prstGeom>
          <a:solidFill>
            <a:srgbClr val="0D7C7B"/>
          </a:solidFill>
          <a:ln/>
        </p:spPr>
      </p:sp>
      <p:sp>
        <p:nvSpPr>
          <p:cNvPr id="34" name="Text 32"/>
          <p:cNvSpPr/>
          <p:nvPr/>
        </p:nvSpPr>
        <p:spPr>
          <a:xfrm>
            <a:off x="4873752" y="1819656"/>
            <a:ext cx="3858768" cy="256032"/>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  ~ 2,000+ MW in operation or active development</a:t>
            </a:r>
            <a:endParaRPr lang="en-US" sz="1000" dirty="0"/>
          </a:p>
        </p:txBody>
      </p:sp>
      <p:sp>
        <p:nvSpPr>
          <p:cNvPr id="35" name="Text 33"/>
          <p:cNvSpPr/>
          <p:nvPr/>
        </p:nvSpPr>
        <p:spPr>
          <a:xfrm>
            <a:off x="4873752" y="2103120"/>
            <a:ext cx="3858768" cy="429768"/>
          </a:xfrm>
          <a:prstGeom prst="rect">
            <a:avLst/>
          </a:prstGeom>
          <a:noFill/>
          <a:ln/>
        </p:spPr>
        <p:txBody>
          <a:bodyPr wrap="square" lIns="0" tIns="0" rIns="0" bIns="0" rtlCol="0" anchor="ctr"/>
          <a:lstStyle/>
          <a:p>
            <a:pPr indent="0" marL="0">
              <a:lnSpc>
                <a:spcPct val="115000"/>
              </a:lnSpc>
              <a:buNone/>
            </a:pPr>
            <a:r>
              <a:rPr lang="en-US" sz="850" dirty="0">
                <a:solidFill>
                  <a:srgbClr val="617283"/>
                </a:solidFill>
                <a:latin typeface="Calibri" pitchFamily="34" charset="0"/>
                <a:ea typeface="Calibri" pitchFamily="34" charset="-122"/>
                <a:cs typeface="Calibri" pitchFamily="34" charset="-120"/>
              </a:rPr>
              <a:t>~2+ GW of storage installed or in development (~40% of 5,000 MW target, including pipeline). Significant gap remains, requiring rapid and accurate site identification.</a:t>
            </a:r>
            <a:endParaRPr lang="en-US" sz="850" dirty="0"/>
          </a:p>
        </p:txBody>
      </p:sp>
      <p:sp>
        <p:nvSpPr>
          <p:cNvPr id="36" name="Shape 34"/>
          <p:cNvSpPr/>
          <p:nvPr/>
        </p:nvSpPr>
        <p:spPr>
          <a:xfrm>
            <a:off x="4736592" y="2706624"/>
            <a:ext cx="4087368" cy="84124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7" name="Shape 35"/>
          <p:cNvSpPr/>
          <p:nvPr/>
        </p:nvSpPr>
        <p:spPr>
          <a:xfrm>
            <a:off x="4736592" y="2706624"/>
            <a:ext cx="64008" cy="841248"/>
          </a:xfrm>
          <a:prstGeom prst="rect">
            <a:avLst/>
          </a:prstGeom>
          <a:solidFill>
            <a:srgbClr val="C68A17"/>
          </a:solidFill>
          <a:ln/>
        </p:spPr>
      </p:sp>
      <p:sp>
        <p:nvSpPr>
          <p:cNvPr id="38" name="Text 36"/>
          <p:cNvSpPr/>
          <p:nvPr/>
        </p:nvSpPr>
        <p:spPr>
          <a:xfrm>
            <a:off x="4873752" y="2770632"/>
            <a:ext cx="3858768" cy="256032"/>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  Suffolk + Middlesex Lead</a:t>
            </a:r>
            <a:endParaRPr lang="en-US" sz="1000" dirty="0"/>
          </a:p>
        </p:txBody>
      </p:sp>
      <p:sp>
        <p:nvSpPr>
          <p:cNvPr id="39" name="Text 37"/>
          <p:cNvSpPr/>
          <p:nvPr/>
        </p:nvSpPr>
        <p:spPr>
          <a:xfrm>
            <a:off x="4873752" y="3054096"/>
            <a:ext cx="3858768" cy="429768"/>
          </a:xfrm>
          <a:prstGeom prst="rect">
            <a:avLst/>
          </a:prstGeom>
          <a:noFill/>
          <a:ln/>
        </p:spPr>
        <p:txBody>
          <a:bodyPr wrap="square" lIns="0" tIns="0" rIns="0" bIns="0" rtlCol="0" anchor="ctr"/>
          <a:lstStyle/>
          <a:p>
            <a:pPr indent="0" marL="0">
              <a:lnSpc>
                <a:spcPct val="115000"/>
              </a:lnSpc>
              <a:buNone/>
            </a:pPr>
            <a:r>
              <a:rPr lang="en-US" sz="850" dirty="0">
                <a:solidFill>
                  <a:srgbClr val="617283"/>
                </a:solidFill>
                <a:latin typeface="Calibri" pitchFamily="34" charset="0"/>
                <a:ea typeface="Calibri" pitchFamily="34" charset="-122"/>
                <a:cs typeface="Calibri" pitchFamily="34" charset="-120"/>
              </a:rPr>
              <a:t>1,285 MW permitted in two counties = 25.7% of the statewide 2030 goal — from the highest-grid-value zones in New England.</a:t>
            </a:r>
            <a:endParaRPr lang="en-US" sz="850" dirty="0"/>
          </a:p>
        </p:txBody>
      </p:sp>
      <p:sp>
        <p:nvSpPr>
          <p:cNvPr id="40" name="Shape 38"/>
          <p:cNvSpPr/>
          <p:nvPr/>
        </p:nvSpPr>
        <p:spPr>
          <a:xfrm>
            <a:off x="4736592" y="3657600"/>
            <a:ext cx="4087368" cy="84124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41" name="Shape 39"/>
          <p:cNvSpPr/>
          <p:nvPr/>
        </p:nvSpPr>
        <p:spPr>
          <a:xfrm>
            <a:off x="4736592" y="3657600"/>
            <a:ext cx="64008" cy="841248"/>
          </a:xfrm>
          <a:prstGeom prst="rect">
            <a:avLst/>
          </a:prstGeom>
          <a:solidFill>
            <a:srgbClr val="2A6145"/>
          </a:solidFill>
          <a:ln/>
        </p:spPr>
      </p:sp>
      <p:sp>
        <p:nvSpPr>
          <p:cNvPr id="42" name="Text 40"/>
          <p:cNvSpPr/>
          <p:nvPr/>
        </p:nvSpPr>
        <p:spPr>
          <a:xfrm>
            <a:off x="4873752" y="3721608"/>
            <a:ext cx="3858768" cy="256032"/>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  $10B in Ratepayer Savings</a:t>
            </a:r>
            <a:endParaRPr lang="en-US" sz="1000" dirty="0"/>
          </a:p>
        </p:txBody>
      </p:sp>
      <p:sp>
        <p:nvSpPr>
          <p:cNvPr id="43" name="Text 41"/>
          <p:cNvSpPr/>
          <p:nvPr/>
        </p:nvSpPr>
        <p:spPr>
          <a:xfrm>
            <a:off x="4873752" y="4005072"/>
            <a:ext cx="3858768" cy="429768"/>
          </a:xfrm>
          <a:prstGeom prst="rect">
            <a:avLst/>
          </a:prstGeom>
          <a:noFill/>
          <a:ln/>
        </p:spPr>
        <p:txBody>
          <a:bodyPr wrap="square" lIns="0" tIns="0" rIns="0" bIns="0" rtlCol="0" anchor="ctr"/>
          <a:lstStyle/>
          <a:p>
            <a:pPr indent="0" marL="0">
              <a:lnSpc>
                <a:spcPct val="115000"/>
              </a:lnSpc>
              <a:buNone/>
            </a:pPr>
            <a:r>
              <a:rPr lang="en-US" sz="850" dirty="0">
                <a:solidFill>
                  <a:srgbClr val="617283"/>
                </a:solidFill>
                <a:latin typeface="Calibri" pitchFamily="34" charset="0"/>
                <a:ea typeface="Calibri" pitchFamily="34" charset="-122"/>
                <a:cs typeface="Calibri" pitchFamily="34" charset="-120"/>
              </a:rPr>
              <a:t>Governor Healey’s 10X10X10 Executive Order ties storage deployment to $10 billion in projected customer savings by 2035.</a:t>
            </a:r>
            <a:endParaRPr lang="en-US" sz="850" dirty="0"/>
          </a:p>
        </p:txBody>
      </p:sp>
      <p:sp>
        <p:nvSpPr>
          <p:cNvPr id="44" name="Shape 42"/>
          <p:cNvSpPr/>
          <p:nvPr/>
        </p:nvSpPr>
        <p:spPr>
          <a:xfrm>
            <a:off x="0" y="4864608"/>
            <a:ext cx="9144000" cy="274320"/>
          </a:xfrm>
          <a:prstGeom prst="rect">
            <a:avLst/>
          </a:prstGeom>
          <a:solidFill>
            <a:srgbClr val="09182B"/>
          </a:solidFill>
          <a:ln/>
        </p:spPr>
      </p:sp>
      <p:sp>
        <p:nvSpPr>
          <p:cNvPr id="45" name="Text 43"/>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MA 2024 Climate Act Chapter 239 (signed Nov 2024) · Mass.gov ESI Goals &amp; Storage Target · Governor Healey 10X10X10 Executive Order (Mar 2026) · pv magazine USA (Dec 2025)</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THE PROBLEM: WHY BESS PROJECTS FAIL BEFORE THEY START</a:t>
            </a:r>
            <a:endParaRPr lang="en-US" sz="1100" dirty="0"/>
          </a:p>
        </p:txBody>
      </p:sp>
      <p:sp>
        <p:nvSpPr>
          <p:cNvPr id="4" name="Shape 2"/>
          <p:cNvSpPr/>
          <p:nvPr/>
        </p:nvSpPr>
        <p:spPr>
          <a:xfrm>
            <a:off x="320040" y="777240"/>
            <a:ext cx="4160520" cy="3977640"/>
          </a:xfrm>
          <a:prstGeom prst="rect">
            <a:avLst/>
          </a:prstGeom>
          <a:solidFill>
            <a:srgbClr val="A83D28">
              <a:alpha val="8000"/>
            </a:srgbClr>
          </a:solidFill>
          <a:ln w="12700">
            <a:solidFill>
              <a:srgbClr val="A83D28"/>
            </a:solidFill>
            <a:prstDash val="solid"/>
          </a:ln>
        </p:spPr>
      </p:sp>
      <p:sp>
        <p:nvSpPr>
          <p:cNvPr id="5" name="Shape 3"/>
          <p:cNvSpPr/>
          <p:nvPr/>
        </p:nvSpPr>
        <p:spPr>
          <a:xfrm>
            <a:off x="320040" y="777240"/>
            <a:ext cx="4160520" cy="384048"/>
          </a:xfrm>
          <a:prstGeom prst="rect">
            <a:avLst/>
          </a:prstGeom>
          <a:solidFill>
            <a:srgbClr val="A83D28"/>
          </a:solidFill>
          <a:ln/>
        </p:spPr>
      </p:sp>
      <p:sp>
        <p:nvSpPr>
          <p:cNvPr id="6" name="Text 4"/>
          <p:cNvSpPr/>
          <p:nvPr/>
        </p:nvSpPr>
        <p:spPr>
          <a:xfrm>
            <a:off x="457200" y="822960"/>
            <a:ext cx="3840480" cy="292608"/>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Developer Failure Modes</a:t>
            </a:r>
            <a:endParaRPr lang="en-US" sz="1100" dirty="0"/>
          </a:p>
        </p:txBody>
      </p:sp>
      <p:sp>
        <p:nvSpPr>
          <p:cNvPr id="7" name="Shape 5"/>
          <p:cNvSpPr/>
          <p:nvPr/>
        </p:nvSpPr>
        <p:spPr>
          <a:xfrm>
            <a:off x="438912" y="126187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8" name="Shape 6"/>
          <p:cNvSpPr/>
          <p:nvPr/>
        </p:nvSpPr>
        <p:spPr>
          <a:xfrm>
            <a:off x="512064" y="1371600"/>
            <a:ext cx="164592" cy="164592"/>
          </a:xfrm>
          <a:prstGeom prst="ellipse">
            <a:avLst/>
          </a:prstGeom>
          <a:solidFill>
            <a:srgbClr val="A83D28"/>
          </a:solidFill>
          <a:ln/>
        </p:spPr>
      </p:sp>
      <p:sp>
        <p:nvSpPr>
          <p:cNvPr id="9" name="Text 7"/>
          <p:cNvSpPr/>
          <p:nvPr/>
        </p:nvSpPr>
        <p:spPr>
          <a:xfrm>
            <a:off x="768096" y="124358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Sites are selected before EJ screening — triggering costly late-stage redesigns</a:t>
            </a:r>
            <a:endParaRPr lang="en-US" sz="950" dirty="0"/>
          </a:p>
        </p:txBody>
      </p:sp>
      <p:sp>
        <p:nvSpPr>
          <p:cNvPr id="10" name="Shape 8"/>
          <p:cNvSpPr/>
          <p:nvPr/>
        </p:nvSpPr>
        <p:spPr>
          <a:xfrm>
            <a:off x="438912" y="185623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1" name="Shape 9"/>
          <p:cNvSpPr/>
          <p:nvPr/>
        </p:nvSpPr>
        <p:spPr>
          <a:xfrm>
            <a:off x="512064" y="1965960"/>
            <a:ext cx="164592" cy="164592"/>
          </a:xfrm>
          <a:prstGeom prst="ellipse">
            <a:avLst/>
          </a:prstGeom>
          <a:solidFill>
            <a:srgbClr val="A83D28"/>
          </a:solidFill>
          <a:ln/>
        </p:spPr>
      </p:sp>
      <p:sp>
        <p:nvSpPr>
          <p:cNvPr id="12" name="Text 10"/>
          <p:cNvSpPr/>
          <p:nvPr/>
        </p:nvSpPr>
        <p:spPr>
          <a:xfrm>
            <a:off x="768096" y="183794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Battery systems are sized without setback or zoning clarity</a:t>
            </a:r>
            <a:endParaRPr lang="en-US" sz="950" dirty="0"/>
          </a:p>
        </p:txBody>
      </p:sp>
      <p:sp>
        <p:nvSpPr>
          <p:cNvPr id="13" name="Shape 11"/>
          <p:cNvSpPr/>
          <p:nvPr/>
        </p:nvSpPr>
        <p:spPr>
          <a:xfrm>
            <a:off x="438912" y="245059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4" name="Shape 12"/>
          <p:cNvSpPr/>
          <p:nvPr/>
        </p:nvSpPr>
        <p:spPr>
          <a:xfrm>
            <a:off x="512064" y="2560320"/>
            <a:ext cx="164592" cy="164592"/>
          </a:xfrm>
          <a:prstGeom prst="ellipse">
            <a:avLst/>
          </a:prstGeom>
          <a:solidFill>
            <a:srgbClr val="A83D28"/>
          </a:solidFill>
          <a:ln/>
        </p:spPr>
      </p:sp>
      <p:sp>
        <p:nvSpPr>
          <p:cNvPr id="15" name="Text 13"/>
          <p:cNvSpPr/>
          <p:nvPr/>
        </p:nvSpPr>
        <p:spPr>
          <a:xfrm>
            <a:off x="768096" y="243230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Revenue modeled without ISO-NE zone-specific LMP variability</a:t>
            </a:r>
            <a:endParaRPr lang="en-US" sz="950" dirty="0"/>
          </a:p>
        </p:txBody>
      </p:sp>
      <p:sp>
        <p:nvSpPr>
          <p:cNvPr id="16" name="Shape 14"/>
          <p:cNvSpPr/>
          <p:nvPr/>
        </p:nvSpPr>
        <p:spPr>
          <a:xfrm>
            <a:off x="438912" y="304495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7" name="Shape 15"/>
          <p:cNvSpPr/>
          <p:nvPr/>
        </p:nvSpPr>
        <p:spPr>
          <a:xfrm>
            <a:off x="512064" y="3154680"/>
            <a:ext cx="164592" cy="164592"/>
          </a:xfrm>
          <a:prstGeom prst="ellipse">
            <a:avLst/>
          </a:prstGeom>
          <a:solidFill>
            <a:srgbClr val="A83D28"/>
          </a:solidFill>
          <a:ln/>
        </p:spPr>
      </p:sp>
      <p:sp>
        <p:nvSpPr>
          <p:cNvPr id="18" name="Text 16"/>
          <p:cNvSpPr/>
          <p:nvPr/>
        </p:nvSpPr>
        <p:spPr>
          <a:xfrm>
            <a:off x="768096" y="302666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Communities bear environmental burden with no structured benefit pathway</a:t>
            </a:r>
            <a:endParaRPr lang="en-US" sz="950" dirty="0"/>
          </a:p>
        </p:txBody>
      </p:sp>
      <p:sp>
        <p:nvSpPr>
          <p:cNvPr id="19" name="Shape 17"/>
          <p:cNvSpPr/>
          <p:nvPr/>
        </p:nvSpPr>
        <p:spPr>
          <a:xfrm>
            <a:off x="438912" y="363931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0" name="Shape 18"/>
          <p:cNvSpPr/>
          <p:nvPr/>
        </p:nvSpPr>
        <p:spPr>
          <a:xfrm>
            <a:off x="512064" y="3749040"/>
            <a:ext cx="164592" cy="164592"/>
          </a:xfrm>
          <a:prstGeom prst="ellipse">
            <a:avLst/>
          </a:prstGeom>
          <a:solidFill>
            <a:srgbClr val="A83D28"/>
          </a:solidFill>
          <a:ln/>
        </p:spPr>
      </p:sp>
      <p:sp>
        <p:nvSpPr>
          <p:cNvPr id="21" name="Text 19"/>
          <p:cNvSpPr/>
          <p:nvPr/>
        </p:nvSpPr>
        <p:spPr>
          <a:xfrm>
            <a:off x="768096" y="362102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Interconnection costs estimated without hosting capacity data</a:t>
            </a:r>
            <a:endParaRPr lang="en-US" sz="950" dirty="0"/>
          </a:p>
        </p:txBody>
      </p:sp>
      <p:sp>
        <p:nvSpPr>
          <p:cNvPr id="22" name="Shape 20"/>
          <p:cNvSpPr/>
          <p:nvPr/>
        </p:nvSpPr>
        <p:spPr>
          <a:xfrm>
            <a:off x="4681728" y="777240"/>
            <a:ext cx="4160520" cy="3977640"/>
          </a:xfrm>
          <a:prstGeom prst="rect">
            <a:avLst/>
          </a:prstGeom>
          <a:solidFill>
            <a:srgbClr val="2A6145">
              <a:alpha val="8000"/>
            </a:srgbClr>
          </a:solidFill>
          <a:ln w="12700">
            <a:solidFill>
              <a:srgbClr val="2A6145"/>
            </a:solidFill>
            <a:prstDash val="solid"/>
          </a:ln>
        </p:spPr>
      </p:sp>
      <p:sp>
        <p:nvSpPr>
          <p:cNvPr id="23" name="Shape 21"/>
          <p:cNvSpPr/>
          <p:nvPr/>
        </p:nvSpPr>
        <p:spPr>
          <a:xfrm>
            <a:off x="4681728" y="777240"/>
            <a:ext cx="4160520" cy="384048"/>
          </a:xfrm>
          <a:prstGeom prst="rect">
            <a:avLst/>
          </a:prstGeom>
          <a:solidFill>
            <a:srgbClr val="2A6145"/>
          </a:solidFill>
          <a:ln/>
        </p:spPr>
      </p:sp>
      <p:sp>
        <p:nvSpPr>
          <p:cNvPr id="24" name="Text 22"/>
          <p:cNvSpPr/>
          <p:nvPr/>
        </p:nvSpPr>
        <p:spPr>
          <a:xfrm>
            <a:off x="4818888" y="822960"/>
            <a:ext cx="3840480" cy="292608"/>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What Our Tool Solves</a:t>
            </a:r>
            <a:endParaRPr lang="en-US" sz="1100" dirty="0"/>
          </a:p>
        </p:txBody>
      </p:sp>
      <p:sp>
        <p:nvSpPr>
          <p:cNvPr id="25" name="Shape 23"/>
          <p:cNvSpPr/>
          <p:nvPr/>
        </p:nvSpPr>
        <p:spPr>
          <a:xfrm>
            <a:off x="4773168" y="126187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6" name="Shape 24"/>
          <p:cNvSpPr/>
          <p:nvPr/>
        </p:nvSpPr>
        <p:spPr>
          <a:xfrm>
            <a:off x="4846320" y="1371600"/>
            <a:ext cx="164592" cy="164592"/>
          </a:xfrm>
          <a:prstGeom prst="ellipse">
            <a:avLst/>
          </a:prstGeom>
          <a:solidFill>
            <a:srgbClr val="2A6145"/>
          </a:solidFill>
          <a:ln/>
        </p:spPr>
      </p:sp>
      <p:sp>
        <p:nvSpPr>
          <p:cNvPr id="27" name="Text 25"/>
          <p:cNvSpPr/>
          <p:nvPr/>
        </p:nvSpPr>
        <p:spPr>
          <a:xfrm>
            <a:off x="5102352" y="124358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EJ &amp; CIA screening embedded before any site is shortlisted</a:t>
            </a:r>
            <a:endParaRPr lang="en-US" sz="950" dirty="0"/>
          </a:p>
        </p:txBody>
      </p:sp>
      <p:sp>
        <p:nvSpPr>
          <p:cNvPr id="28" name="Shape 26"/>
          <p:cNvSpPr/>
          <p:nvPr/>
        </p:nvSpPr>
        <p:spPr>
          <a:xfrm>
            <a:off x="4773168" y="185623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9" name="Shape 27"/>
          <p:cNvSpPr/>
          <p:nvPr/>
        </p:nvSpPr>
        <p:spPr>
          <a:xfrm>
            <a:off x="4846320" y="1965960"/>
            <a:ext cx="164592" cy="164592"/>
          </a:xfrm>
          <a:prstGeom prst="ellipse">
            <a:avLst/>
          </a:prstGeom>
          <a:solidFill>
            <a:srgbClr val="2A6145"/>
          </a:solidFill>
          <a:ln/>
        </p:spPr>
      </p:sp>
      <p:sp>
        <p:nvSpPr>
          <p:cNvPr id="30" name="Text 28"/>
          <p:cNvSpPr/>
          <p:nvPr/>
        </p:nvSpPr>
        <p:spPr>
          <a:xfrm>
            <a:off x="5102352" y="183794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MW sizing logic integrates grid hosting capacity as binding constraint</a:t>
            </a:r>
            <a:endParaRPr lang="en-US" sz="950" dirty="0"/>
          </a:p>
        </p:txBody>
      </p:sp>
      <p:sp>
        <p:nvSpPr>
          <p:cNvPr id="31" name="Shape 29"/>
          <p:cNvSpPr/>
          <p:nvPr/>
        </p:nvSpPr>
        <p:spPr>
          <a:xfrm>
            <a:off x="4773168" y="245059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2" name="Shape 30"/>
          <p:cNvSpPr/>
          <p:nvPr/>
        </p:nvSpPr>
        <p:spPr>
          <a:xfrm>
            <a:off x="4846320" y="2560320"/>
            <a:ext cx="164592" cy="164592"/>
          </a:xfrm>
          <a:prstGeom prst="ellipse">
            <a:avLst/>
          </a:prstGeom>
          <a:solidFill>
            <a:srgbClr val="2A6145"/>
          </a:solidFill>
          <a:ln/>
        </p:spPr>
      </p:sp>
      <p:sp>
        <p:nvSpPr>
          <p:cNvPr id="33" name="Text 31"/>
          <p:cNvSpPr/>
          <p:nvPr/>
        </p:nvSpPr>
        <p:spPr>
          <a:xfrm>
            <a:off x="5102352" y="243230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ISO-NE NEMA zone LMP, FCM, CPS, and SMART modeled in revenue stack</a:t>
            </a:r>
            <a:endParaRPr lang="en-US" sz="950" dirty="0"/>
          </a:p>
        </p:txBody>
      </p:sp>
      <p:sp>
        <p:nvSpPr>
          <p:cNvPr id="34" name="Shape 32"/>
          <p:cNvSpPr/>
          <p:nvPr/>
        </p:nvSpPr>
        <p:spPr>
          <a:xfrm>
            <a:off x="4773168" y="304495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5" name="Shape 33"/>
          <p:cNvSpPr/>
          <p:nvPr/>
        </p:nvSpPr>
        <p:spPr>
          <a:xfrm>
            <a:off x="4846320" y="3154680"/>
            <a:ext cx="164592" cy="164592"/>
          </a:xfrm>
          <a:prstGeom prst="ellipse">
            <a:avLst/>
          </a:prstGeom>
          <a:solidFill>
            <a:srgbClr val="2A6145"/>
          </a:solidFill>
          <a:ln/>
        </p:spPr>
      </p:sp>
      <p:sp>
        <p:nvSpPr>
          <p:cNvPr id="36" name="Text 34"/>
          <p:cNvSpPr/>
          <p:nvPr/>
        </p:nvSpPr>
        <p:spPr>
          <a:xfrm>
            <a:off x="5102352" y="302666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Community benefits layer: energy burden, health data, HCA templates</a:t>
            </a:r>
            <a:endParaRPr lang="en-US" sz="950" dirty="0"/>
          </a:p>
        </p:txBody>
      </p:sp>
      <p:sp>
        <p:nvSpPr>
          <p:cNvPr id="37" name="Shape 35"/>
          <p:cNvSpPr/>
          <p:nvPr/>
        </p:nvSpPr>
        <p:spPr>
          <a:xfrm>
            <a:off x="4773168" y="3639312"/>
            <a:ext cx="3931920" cy="493776"/>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8" name="Shape 36"/>
          <p:cNvSpPr/>
          <p:nvPr/>
        </p:nvSpPr>
        <p:spPr>
          <a:xfrm>
            <a:off x="4846320" y="3749040"/>
            <a:ext cx="164592" cy="164592"/>
          </a:xfrm>
          <a:prstGeom prst="ellipse">
            <a:avLst/>
          </a:prstGeom>
          <a:solidFill>
            <a:srgbClr val="2A6145"/>
          </a:solidFill>
          <a:ln/>
        </p:spPr>
      </p:sp>
      <p:sp>
        <p:nvSpPr>
          <p:cNvPr id="39" name="Text 37"/>
          <p:cNvSpPr/>
          <p:nvPr/>
        </p:nvSpPr>
        <p:spPr>
          <a:xfrm>
            <a:off x="5102352" y="3621024"/>
            <a:ext cx="3511296" cy="512064"/>
          </a:xfrm>
          <a:prstGeom prst="rect">
            <a:avLst/>
          </a:prstGeom>
          <a:noFill/>
          <a:ln/>
        </p:spPr>
        <p:txBody>
          <a:bodyPr wrap="square" lIns="0" tIns="0" rIns="0" bIns="0" rtlCol="0" anchor="ctr"/>
          <a:lstStyle/>
          <a:p>
            <a:pPr indent="0" marL="0">
              <a:lnSpc>
                <a:spcPct val="115000"/>
              </a:lnSpc>
              <a:buNone/>
            </a:pPr>
            <a:r>
              <a:rPr lang="en-US" sz="950" dirty="0">
                <a:solidFill>
                  <a:srgbClr val="09182B"/>
                </a:solidFill>
                <a:latin typeface="Calibri" pitchFamily="34" charset="0"/>
                <a:ea typeface="Calibri" pitchFamily="34" charset="-122"/>
                <a:cs typeface="Calibri" pitchFamily="34" charset="-120"/>
              </a:rPr>
              <a:t>Eversource &amp; National Grid hosting capacity data integrated by circuit</a:t>
            </a:r>
            <a:endParaRPr lang="en-US" sz="950" dirty="0"/>
          </a:p>
        </p:txBody>
      </p:sp>
      <p:sp>
        <p:nvSpPr>
          <p:cNvPr id="40" name="Text 38"/>
          <p:cNvSpPr/>
          <p:nvPr/>
        </p:nvSpPr>
        <p:spPr>
          <a:xfrm>
            <a:off x="4251960" y="2651760"/>
            <a:ext cx="548640" cy="548640"/>
          </a:xfrm>
          <a:prstGeom prst="rect">
            <a:avLst/>
          </a:prstGeom>
          <a:noFill/>
          <a:ln/>
        </p:spPr>
        <p:txBody>
          <a:bodyPr wrap="square" rtlCol="0" anchor="ctr"/>
          <a:lstStyle/>
          <a:p>
            <a:pPr algn="ctr" indent="0" marL="0">
              <a:buNone/>
            </a:pPr>
            <a:r>
              <a:rPr lang="en-US" sz="2800" b="1" dirty="0">
                <a:solidFill>
                  <a:srgbClr val="0D7C7B"/>
                </a:solidFill>
                <a:latin typeface="Calibri" pitchFamily="34" charset="0"/>
                <a:ea typeface="Calibri" pitchFamily="34" charset="-122"/>
                <a:cs typeface="Calibri" pitchFamily="34" charset="-120"/>
              </a:rPr>
              <a:t>→</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2040"/>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METHODOLOGY FOUNDATION: BUILDING ON THE WORCESTER COUNTY MCE FRAMEWORK</a:t>
            </a:r>
            <a:endParaRPr lang="en-US" sz="1100" dirty="0"/>
          </a:p>
        </p:txBody>
      </p:sp>
      <p:sp>
        <p:nvSpPr>
          <p:cNvPr id="4" name="Shape 2"/>
          <p:cNvSpPr/>
          <p:nvPr/>
        </p:nvSpPr>
        <p:spPr>
          <a:xfrm>
            <a:off x="320040" y="804672"/>
            <a:ext cx="4023360" cy="3977640"/>
          </a:xfrm>
          <a:prstGeom prst="rect">
            <a:avLst/>
          </a:prstGeom>
          <a:solidFill>
            <a:srgbClr val="FFFFFF">
              <a:alpha val="8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804672"/>
            <a:ext cx="4023360" cy="365760"/>
          </a:xfrm>
          <a:prstGeom prst="rect">
            <a:avLst/>
          </a:prstGeom>
          <a:solidFill>
            <a:srgbClr val="3A5278"/>
          </a:solidFill>
          <a:ln/>
        </p:spPr>
      </p:sp>
      <p:sp>
        <p:nvSpPr>
          <p:cNvPr id="6" name="Text 4"/>
          <p:cNvSpPr/>
          <p:nvPr/>
        </p:nvSpPr>
        <p:spPr>
          <a:xfrm>
            <a:off x="457200" y="841248"/>
            <a:ext cx="37490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Worcester County MCE Baseline (2025)</a:t>
            </a:r>
            <a:endParaRPr lang="en-US" sz="1050" dirty="0"/>
          </a:p>
        </p:txBody>
      </p:sp>
      <p:sp>
        <p:nvSpPr>
          <p:cNvPr id="7" name="Shape 5"/>
          <p:cNvSpPr/>
          <p:nvPr/>
        </p:nvSpPr>
        <p:spPr>
          <a:xfrm>
            <a:off x="384048" y="1261872"/>
            <a:ext cx="3877056" cy="384048"/>
          </a:xfrm>
          <a:prstGeom prst="rect">
            <a:avLst/>
          </a:prstGeom>
          <a:solidFill>
            <a:srgbClr val="FFFFFF">
              <a:alpha val="5000"/>
            </a:srgbClr>
          </a:solidFill>
          <a:ln/>
        </p:spPr>
      </p:sp>
      <p:sp>
        <p:nvSpPr>
          <p:cNvPr id="8" name="Text 6"/>
          <p:cNvSpPr/>
          <p:nvPr/>
        </p:nvSpPr>
        <p:spPr>
          <a:xfrm>
            <a:off x="475488" y="1298448"/>
            <a:ext cx="1371600" cy="310896"/>
          </a:xfrm>
          <a:prstGeom prst="rect">
            <a:avLst/>
          </a:prstGeom>
          <a:noFill/>
          <a:ln/>
        </p:spPr>
        <p:txBody>
          <a:bodyPr wrap="square" lIns="0" tIns="0" rIns="0" bIns="0" rtlCol="0" anchor="ctr"/>
          <a:lstStyle/>
          <a:p>
            <a:pPr indent="0" marL="0">
              <a:buNone/>
            </a:pPr>
            <a:r>
              <a:rPr lang="en-US" sz="900" b="1" dirty="0">
                <a:solidFill>
                  <a:srgbClr val="A9BAC9"/>
                </a:solidFill>
                <a:latin typeface="Calibri" pitchFamily="34" charset="0"/>
                <a:ea typeface="Calibri" pitchFamily="34" charset="-122"/>
                <a:cs typeface="Calibri" pitchFamily="34" charset="-120"/>
              </a:rPr>
              <a:t>Criteria:</a:t>
            </a:r>
            <a:endParaRPr lang="en-US" sz="900" dirty="0"/>
          </a:p>
        </p:txBody>
      </p:sp>
      <p:sp>
        <p:nvSpPr>
          <p:cNvPr id="9" name="Text 7"/>
          <p:cNvSpPr/>
          <p:nvPr/>
        </p:nvSpPr>
        <p:spPr>
          <a:xfrm>
            <a:off x="1874520" y="1298448"/>
            <a:ext cx="2304288" cy="31089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 factors: roads, transmission lines, population density</a:t>
            </a:r>
            <a:endParaRPr lang="en-US" sz="900" dirty="0"/>
          </a:p>
        </p:txBody>
      </p:sp>
      <p:sp>
        <p:nvSpPr>
          <p:cNvPr id="10" name="Shape 8"/>
          <p:cNvSpPr/>
          <p:nvPr/>
        </p:nvSpPr>
        <p:spPr>
          <a:xfrm>
            <a:off x="384048" y="1700784"/>
            <a:ext cx="3877056" cy="384048"/>
          </a:xfrm>
          <a:prstGeom prst="rect">
            <a:avLst/>
          </a:prstGeom>
          <a:solidFill>
            <a:srgbClr val="FFFFFF">
              <a:alpha val="12000"/>
            </a:srgbClr>
          </a:solidFill>
          <a:ln/>
        </p:spPr>
      </p:sp>
      <p:sp>
        <p:nvSpPr>
          <p:cNvPr id="11" name="Text 9"/>
          <p:cNvSpPr/>
          <p:nvPr/>
        </p:nvSpPr>
        <p:spPr>
          <a:xfrm>
            <a:off x="475488" y="1737360"/>
            <a:ext cx="1371600" cy="310896"/>
          </a:xfrm>
          <a:prstGeom prst="rect">
            <a:avLst/>
          </a:prstGeom>
          <a:noFill/>
          <a:ln/>
        </p:spPr>
        <p:txBody>
          <a:bodyPr wrap="square" lIns="0" tIns="0" rIns="0" bIns="0" rtlCol="0" anchor="ctr"/>
          <a:lstStyle/>
          <a:p>
            <a:pPr indent="0" marL="0">
              <a:buNone/>
            </a:pPr>
            <a:r>
              <a:rPr lang="en-US" sz="900" b="1" dirty="0">
                <a:solidFill>
                  <a:srgbClr val="A9BAC9"/>
                </a:solidFill>
                <a:latin typeface="Calibri" pitchFamily="34" charset="0"/>
                <a:ea typeface="Calibri" pitchFamily="34" charset="-122"/>
                <a:cs typeface="Calibri" pitchFamily="34" charset="-120"/>
              </a:rPr>
              <a:t>Scoring:</a:t>
            </a:r>
            <a:endParaRPr lang="en-US" sz="900" dirty="0"/>
          </a:p>
        </p:txBody>
      </p:sp>
      <p:sp>
        <p:nvSpPr>
          <p:cNvPr id="12" name="Text 10"/>
          <p:cNvSpPr/>
          <p:nvPr/>
        </p:nvSpPr>
        <p:spPr>
          <a:xfrm>
            <a:off x="1874520" y="1737360"/>
            <a:ext cx="2304288" cy="31089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Uniform equal weighting (33.3% each)</a:t>
            </a:r>
            <a:endParaRPr lang="en-US" sz="900" dirty="0"/>
          </a:p>
        </p:txBody>
      </p:sp>
      <p:sp>
        <p:nvSpPr>
          <p:cNvPr id="13" name="Shape 11"/>
          <p:cNvSpPr/>
          <p:nvPr/>
        </p:nvSpPr>
        <p:spPr>
          <a:xfrm>
            <a:off x="384048" y="2139696"/>
            <a:ext cx="3877056" cy="384048"/>
          </a:xfrm>
          <a:prstGeom prst="rect">
            <a:avLst/>
          </a:prstGeom>
          <a:solidFill>
            <a:srgbClr val="FFFFFF">
              <a:alpha val="5000"/>
            </a:srgbClr>
          </a:solidFill>
          <a:ln/>
        </p:spPr>
      </p:sp>
      <p:sp>
        <p:nvSpPr>
          <p:cNvPr id="14" name="Text 12"/>
          <p:cNvSpPr/>
          <p:nvPr/>
        </p:nvSpPr>
        <p:spPr>
          <a:xfrm>
            <a:off x="475488" y="2176272"/>
            <a:ext cx="1371600" cy="310896"/>
          </a:xfrm>
          <a:prstGeom prst="rect">
            <a:avLst/>
          </a:prstGeom>
          <a:noFill/>
          <a:ln/>
        </p:spPr>
        <p:txBody>
          <a:bodyPr wrap="square" lIns="0" tIns="0" rIns="0" bIns="0" rtlCol="0" anchor="ctr"/>
          <a:lstStyle/>
          <a:p>
            <a:pPr indent="0" marL="0">
              <a:buNone/>
            </a:pPr>
            <a:r>
              <a:rPr lang="en-US" sz="900" b="1" dirty="0">
                <a:solidFill>
                  <a:srgbClr val="A9BAC9"/>
                </a:solidFill>
                <a:latin typeface="Calibri" pitchFamily="34" charset="0"/>
                <a:ea typeface="Calibri" pitchFamily="34" charset="-122"/>
                <a:cs typeface="Calibri" pitchFamily="34" charset="-120"/>
              </a:rPr>
              <a:t>EJ Integration:</a:t>
            </a:r>
            <a:endParaRPr lang="en-US" sz="900" dirty="0"/>
          </a:p>
        </p:txBody>
      </p:sp>
      <p:sp>
        <p:nvSpPr>
          <p:cNvPr id="15" name="Text 13"/>
          <p:cNvSpPr/>
          <p:nvPr/>
        </p:nvSpPr>
        <p:spPr>
          <a:xfrm>
            <a:off x="1874520" y="2176272"/>
            <a:ext cx="2304288" cy="31089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Population density as proxy — not EJ-specific</a:t>
            </a:r>
            <a:endParaRPr lang="en-US" sz="900" dirty="0"/>
          </a:p>
        </p:txBody>
      </p:sp>
      <p:sp>
        <p:nvSpPr>
          <p:cNvPr id="16" name="Shape 14"/>
          <p:cNvSpPr/>
          <p:nvPr/>
        </p:nvSpPr>
        <p:spPr>
          <a:xfrm>
            <a:off x="384048" y="2578608"/>
            <a:ext cx="3877056" cy="384048"/>
          </a:xfrm>
          <a:prstGeom prst="rect">
            <a:avLst/>
          </a:prstGeom>
          <a:solidFill>
            <a:srgbClr val="FFFFFF">
              <a:alpha val="12000"/>
            </a:srgbClr>
          </a:solidFill>
          <a:ln/>
        </p:spPr>
      </p:sp>
      <p:sp>
        <p:nvSpPr>
          <p:cNvPr id="17" name="Text 15"/>
          <p:cNvSpPr/>
          <p:nvPr/>
        </p:nvSpPr>
        <p:spPr>
          <a:xfrm>
            <a:off x="475488" y="2615184"/>
            <a:ext cx="1371600" cy="310896"/>
          </a:xfrm>
          <a:prstGeom prst="rect">
            <a:avLst/>
          </a:prstGeom>
          <a:noFill/>
          <a:ln/>
        </p:spPr>
        <p:txBody>
          <a:bodyPr wrap="square" lIns="0" tIns="0" rIns="0" bIns="0" rtlCol="0" anchor="ctr"/>
          <a:lstStyle/>
          <a:p>
            <a:pPr indent="0" marL="0">
              <a:buNone/>
            </a:pPr>
            <a:r>
              <a:rPr lang="en-US" sz="900" b="1" dirty="0">
                <a:solidFill>
                  <a:srgbClr val="A9BAC9"/>
                </a:solidFill>
                <a:latin typeface="Calibri" pitchFamily="34" charset="0"/>
                <a:ea typeface="Calibri" pitchFamily="34" charset="-122"/>
                <a:cs typeface="Calibri" pitchFamily="34" charset="-120"/>
              </a:rPr>
              <a:t>Revenue Model:</a:t>
            </a:r>
            <a:endParaRPr lang="en-US" sz="900" dirty="0"/>
          </a:p>
        </p:txBody>
      </p:sp>
      <p:sp>
        <p:nvSpPr>
          <p:cNvPr id="18" name="Text 16"/>
          <p:cNvSpPr/>
          <p:nvPr/>
        </p:nvSpPr>
        <p:spPr>
          <a:xfrm>
            <a:off x="1874520" y="2615184"/>
            <a:ext cx="2304288" cy="31089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Not included</a:t>
            </a:r>
            <a:endParaRPr lang="en-US" sz="900" dirty="0"/>
          </a:p>
        </p:txBody>
      </p:sp>
      <p:sp>
        <p:nvSpPr>
          <p:cNvPr id="19" name="Shape 17"/>
          <p:cNvSpPr/>
          <p:nvPr/>
        </p:nvSpPr>
        <p:spPr>
          <a:xfrm>
            <a:off x="384048" y="3017520"/>
            <a:ext cx="3877056" cy="384048"/>
          </a:xfrm>
          <a:prstGeom prst="rect">
            <a:avLst/>
          </a:prstGeom>
          <a:solidFill>
            <a:srgbClr val="FFFFFF">
              <a:alpha val="5000"/>
            </a:srgbClr>
          </a:solidFill>
          <a:ln/>
        </p:spPr>
      </p:sp>
      <p:sp>
        <p:nvSpPr>
          <p:cNvPr id="20" name="Text 18"/>
          <p:cNvSpPr/>
          <p:nvPr/>
        </p:nvSpPr>
        <p:spPr>
          <a:xfrm>
            <a:off x="475488" y="3054096"/>
            <a:ext cx="1371600" cy="310896"/>
          </a:xfrm>
          <a:prstGeom prst="rect">
            <a:avLst/>
          </a:prstGeom>
          <a:noFill/>
          <a:ln/>
        </p:spPr>
        <p:txBody>
          <a:bodyPr wrap="square" lIns="0" tIns="0" rIns="0" bIns="0" rtlCol="0" anchor="ctr"/>
          <a:lstStyle/>
          <a:p>
            <a:pPr indent="0" marL="0">
              <a:buNone/>
            </a:pPr>
            <a:r>
              <a:rPr lang="en-US" sz="900" b="1" dirty="0">
                <a:solidFill>
                  <a:srgbClr val="A9BAC9"/>
                </a:solidFill>
                <a:latin typeface="Calibri" pitchFamily="34" charset="0"/>
                <a:ea typeface="Calibri" pitchFamily="34" charset="-122"/>
                <a:cs typeface="Calibri" pitchFamily="34" charset="-120"/>
              </a:rPr>
              <a:t>Legal/Zoning:</a:t>
            </a:r>
            <a:endParaRPr lang="en-US" sz="900" dirty="0"/>
          </a:p>
        </p:txBody>
      </p:sp>
      <p:sp>
        <p:nvSpPr>
          <p:cNvPr id="21" name="Text 19"/>
          <p:cNvSpPr/>
          <p:nvPr/>
        </p:nvSpPr>
        <p:spPr>
          <a:xfrm>
            <a:off x="1874520" y="3054096"/>
            <a:ext cx="2304288" cy="31089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Not included</a:t>
            </a:r>
            <a:endParaRPr lang="en-US" sz="900" dirty="0"/>
          </a:p>
        </p:txBody>
      </p:sp>
      <p:sp>
        <p:nvSpPr>
          <p:cNvPr id="22" name="Shape 20"/>
          <p:cNvSpPr/>
          <p:nvPr/>
        </p:nvSpPr>
        <p:spPr>
          <a:xfrm>
            <a:off x="384048" y="3456432"/>
            <a:ext cx="3877056" cy="384048"/>
          </a:xfrm>
          <a:prstGeom prst="rect">
            <a:avLst/>
          </a:prstGeom>
          <a:solidFill>
            <a:srgbClr val="FFFFFF">
              <a:alpha val="12000"/>
            </a:srgbClr>
          </a:solidFill>
          <a:ln/>
        </p:spPr>
      </p:sp>
      <p:sp>
        <p:nvSpPr>
          <p:cNvPr id="23" name="Text 21"/>
          <p:cNvSpPr/>
          <p:nvPr/>
        </p:nvSpPr>
        <p:spPr>
          <a:xfrm>
            <a:off x="475488" y="3493008"/>
            <a:ext cx="1371600" cy="310896"/>
          </a:xfrm>
          <a:prstGeom prst="rect">
            <a:avLst/>
          </a:prstGeom>
          <a:noFill/>
          <a:ln/>
        </p:spPr>
        <p:txBody>
          <a:bodyPr wrap="square" lIns="0" tIns="0" rIns="0" bIns="0" rtlCol="0" anchor="ctr"/>
          <a:lstStyle/>
          <a:p>
            <a:pPr indent="0" marL="0">
              <a:buNone/>
            </a:pPr>
            <a:r>
              <a:rPr lang="en-US" sz="900" b="1" dirty="0">
                <a:solidFill>
                  <a:srgbClr val="A9BAC9"/>
                </a:solidFill>
                <a:latin typeface="Calibri" pitchFamily="34" charset="0"/>
                <a:ea typeface="Calibri" pitchFamily="34" charset="-122"/>
                <a:cs typeface="Calibri" pitchFamily="34" charset="-120"/>
              </a:rPr>
              <a:t>Suitability Classes:</a:t>
            </a:r>
            <a:endParaRPr lang="en-US" sz="900" dirty="0"/>
          </a:p>
        </p:txBody>
      </p:sp>
      <p:sp>
        <p:nvSpPr>
          <p:cNvPr id="24" name="Text 22"/>
          <p:cNvSpPr/>
          <p:nvPr/>
        </p:nvSpPr>
        <p:spPr>
          <a:xfrm>
            <a:off x="1874520" y="3493008"/>
            <a:ext cx="2304288" cy="31089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5 classes (Very Low → Very High)</a:t>
            </a:r>
            <a:endParaRPr lang="en-US" sz="900" dirty="0"/>
          </a:p>
        </p:txBody>
      </p:sp>
      <p:sp>
        <p:nvSpPr>
          <p:cNvPr id="25" name="Shape 23"/>
          <p:cNvSpPr/>
          <p:nvPr/>
        </p:nvSpPr>
        <p:spPr>
          <a:xfrm>
            <a:off x="384048" y="3895344"/>
            <a:ext cx="3877056" cy="384048"/>
          </a:xfrm>
          <a:prstGeom prst="rect">
            <a:avLst/>
          </a:prstGeom>
          <a:solidFill>
            <a:srgbClr val="FFFFFF">
              <a:alpha val="5000"/>
            </a:srgbClr>
          </a:solidFill>
          <a:ln/>
        </p:spPr>
      </p:sp>
      <p:sp>
        <p:nvSpPr>
          <p:cNvPr id="26" name="Text 24"/>
          <p:cNvSpPr/>
          <p:nvPr/>
        </p:nvSpPr>
        <p:spPr>
          <a:xfrm>
            <a:off x="475488" y="3931920"/>
            <a:ext cx="1371600" cy="310896"/>
          </a:xfrm>
          <a:prstGeom prst="rect">
            <a:avLst/>
          </a:prstGeom>
          <a:noFill/>
          <a:ln/>
        </p:spPr>
        <p:txBody>
          <a:bodyPr wrap="square" lIns="0" tIns="0" rIns="0" bIns="0" rtlCol="0" anchor="ctr"/>
          <a:lstStyle/>
          <a:p>
            <a:pPr indent="0" marL="0">
              <a:buNone/>
            </a:pPr>
            <a:r>
              <a:rPr lang="en-US" sz="900" b="1" dirty="0">
                <a:solidFill>
                  <a:srgbClr val="A9BAC9"/>
                </a:solidFill>
                <a:latin typeface="Calibri" pitchFamily="34" charset="0"/>
                <a:ea typeface="Calibri" pitchFamily="34" charset="-122"/>
                <a:cs typeface="Calibri" pitchFamily="34" charset="-120"/>
              </a:rPr>
              <a:t>High + Very High:</a:t>
            </a:r>
            <a:endParaRPr lang="en-US" sz="900" dirty="0"/>
          </a:p>
        </p:txBody>
      </p:sp>
      <p:sp>
        <p:nvSpPr>
          <p:cNvPr id="27" name="Text 25"/>
          <p:cNvSpPr/>
          <p:nvPr/>
        </p:nvSpPr>
        <p:spPr>
          <a:xfrm>
            <a:off x="1874520" y="3931920"/>
            <a:ext cx="2304288" cy="31089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40.25% of Worcester parcels identified</a:t>
            </a:r>
            <a:endParaRPr lang="en-US" sz="900" dirty="0"/>
          </a:p>
        </p:txBody>
      </p:sp>
      <p:sp>
        <p:nvSpPr>
          <p:cNvPr id="28" name="Shape 26"/>
          <p:cNvSpPr/>
          <p:nvPr/>
        </p:nvSpPr>
        <p:spPr>
          <a:xfrm>
            <a:off x="384048" y="4334256"/>
            <a:ext cx="3877056" cy="384048"/>
          </a:xfrm>
          <a:prstGeom prst="rect">
            <a:avLst/>
          </a:prstGeom>
          <a:solidFill>
            <a:srgbClr val="FFFFFF">
              <a:alpha val="12000"/>
            </a:srgbClr>
          </a:solidFill>
          <a:ln/>
        </p:spPr>
      </p:sp>
      <p:sp>
        <p:nvSpPr>
          <p:cNvPr id="29" name="Text 27"/>
          <p:cNvSpPr/>
          <p:nvPr/>
        </p:nvSpPr>
        <p:spPr>
          <a:xfrm>
            <a:off x="475488" y="4370832"/>
            <a:ext cx="1371600" cy="310896"/>
          </a:xfrm>
          <a:prstGeom prst="rect">
            <a:avLst/>
          </a:prstGeom>
          <a:noFill/>
          <a:ln/>
        </p:spPr>
        <p:txBody>
          <a:bodyPr wrap="square" lIns="0" tIns="0" rIns="0" bIns="0" rtlCol="0" anchor="ctr"/>
          <a:lstStyle/>
          <a:p>
            <a:pPr indent="0" marL="0">
              <a:buNone/>
            </a:pPr>
            <a:r>
              <a:rPr lang="en-US" sz="900" b="1" dirty="0">
                <a:solidFill>
                  <a:srgbClr val="A9BAC9"/>
                </a:solidFill>
                <a:latin typeface="Calibri" pitchFamily="34" charset="0"/>
                <a:ea typeface="Calibri" pitchFamily="34" charset="-122"/>
                <a:cs typeface="Calibri" pitchFamily="34" charset="-120"/>
              </a:rPr>
              <a:t>Limitation:</a:t>
            </a:r>
            <a:endParaRPr lang="en-US" sz="900" dirty="0"/>
          </a:p>
        </p:txBody>
      </p:sp>
      <p:sp>
        <p:nvSpPr>
          <p:cNvPr id="30" name="Text 28"/>
          <p:cNvSpPr/>
          <p:nvPr/>
        </p:nvSpPr>
        <p:spPr>
          <a:xfrm>
            <a:off x="1874520" y="4370832"/>
            <a:ext cx="2304288" cy="31089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Single-county; no community layer; no legal framework</a:t>
            </a:r>
            <a:endParaRPr lang="en-US" sz="900" dirty="0"/>
          </a:p>
        </p:txBody>
      </p:sp>
      <p:sp>
        <p:nvSpPr>
          <p:cNvPr id="31" name="Text 29"/>
          <p:cNvSpPr/>
          <p:nvPr/>
        </p:nvSpPr>
        <p:spPr>
          <a:xfrm>
            <a:off x="4462272" y="2286000"/>
            <a:ext cx="594360" cy="1097280"/>
          </a:xfrm>
          <a:prstGeom prst="rect">
            <a:avLst/>
          </a:prstGeom>
          <a:noFill/>
          <a:ln/>
        </p:spPr>
        <p:txBody>
          <a:bodyPr wrap="square" rtlCol="0" anchor="ctr"/>
          <a:lstStyle/>
          <a:p>
            <a:pPr algn="ctr" indent="0" marL="0">
              <a:buNone/>
            </a:pPr>
            <a:r>
              <a:rPr lang="en-US" sz="900" b="1" dirty="0">
                <a:solidFill>
                  <a:srgbClr val="F0B429"/>
                </a:solidFill>
                <a:latin typeface="Calibri" pitchFamily="34" charset="0"/>
                <a:ea typeface="Calibri" pitchFamily="34" charset="-122"/>
                <a:cs typeface="Calibri" pitchFamily="34" charset="-120"/>
              </a:rPr>
              <a:t>→</a:t>
            </a:r>
            <a:endParaRPr lang="en-US" sz="900" dirty="0"/>
          </a:p>
          <a:p>
            <a:pPr algn="ctr" indent="0" marL="0">
              <a:buNone/>
            </a:pPr>
            <a:r>
              <a:rPr lang="en-US" sz="900" b="1" dirty="0">
                <a:solidFill>
                  <a:srgbClr val="F0B429"/>
                </a:solidFill>
                <a:latin typeface="Calibri" pitchFamily="34" charset="0"/>
                <a:ea typeface="Calibri" pitchFamily="34" charset="-122"/>
                <a:cs typeface="Calibri" pitchFamily="34" charset="-120"/>
              </a:rPr>
              <a:t>Enhanced</a:t>
            </a:r>
            <a:endParaRPr lang="en-US" sz="900" dirty="0"/>
          </a:p>
          <a:p>
            <a:pPr algn="ctr" indent="0" marL="0">
              <a:buNone/>
            </a:pPr>
            <a:r>
              <a:rPr lang="en-US" sz="900" b="1" dirty="0">
                <a:solidFill>
                  <a:srgbClr val="F0B429"/>
                </a:solidFill>
                <a:latin typeface="Calibri" pitchFamily="34" charset="0"/>
                <a:ea typeface="Calibri" pitchFamily="34" charset="-122"/>
                <a:cs typeface="Calibri" pitchFamily="34" charset="-120"/>
              </a:rPr>
              <a:t>for S+M</a:t>
            </a:r>
            <a:endParaRPr lang="en-US" sz="900" dirty="0"/>
          </a:p>
        </p:txBody>
      </p:sp>
      <p:sp>
        <p:nvSpPr>
          <p:cNvPr id="32" name="Shape 30"/>
          <p:cNvSpPr/>
          <p:nvPr/>
        </p:nvSpPr>
        <p:spPr>
          <a:xfrm>
            <a:off x="5166360" y="804672"/>
            <a:ext cx="3749040" cy="3977640"/>
          </a:xfrm>
          <a:prstGeom prst="rect">
            <a:avLst/>
          </a:prstGeom>
          <a:solidFill>
            <a:srgbClr val="FFFFFF">
              <a:alpha val="8000"/>
            </a:srgbClr>
          </a:solidFill>
          <a:ln/>
          <a:effectLst>
            <a:outerShdw sx="100000" sy="100000" kx="0" ky="0" algn="bl" rotWithShape="0" blurRad="101600" dist="38100" dir="8100000">
              <a:srgbClr val="000000">
                <a:alpha val="13000"/>
              </a:srgbClr>
            </a:outerShdw>
          </a:effectLst>
        </p:spPr>
      </p:sp>
      <p:sp>
        <p:nvSpPr>
          <p:cNvPr id="33" name="Shape 31"/>
          <p:cNvSpPr/>
          <p:nvPr/>
        </p:nvSpPr>
        <p:spPr>
          <a:xfrm>
            <a:off x="5166360" y="804672"/>
            <a:ext cx="3749040" cy="365760"/>
          </a:xfrm>
          <a:prstGeom prst="rect">
            <a:avLst/>
          </a:prstGeom>
          <a:solidFill>
            <a:srgbClr val="0D7C7B"/>
          </a:solidFill>
          <a:ln/>
        </p:spPr>
      </p:sp>
      <p:sp>
        <p:nvSpPr>
          <p:cNvPr id="34" name="Text 32"/>
          <p:cNvSpPr/>
          <p:nvPr/>
        </p:nvSpPr>
        <p:spPr>
          <a:xfrm>
            <a:off x="5303520" y="841248"/>
            <a:ext cx="347472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Suffolk + Middlesex: Five-Layer MCE (2026)</a:t>
            </a:r>
            <a:endParaRPr lang="en-US" sz="1050" dirty="0"/>
          </a:p>
        </p:txBody>
      </p:sp>
      <p:sp>
        <p:nvSpPr>
          <p:cNvPr id="35" name="Shape 33"/>
          <p:cNvSpPr/>
          <p:nvPr/>
        </p:nvSpPr>
        <p:spPr>
          <a:xfrm>
            <a:off x="5230368" y="1261872"/>
            <a:ext cx="3621024" cy="384048"/>
          </a:xfrm>
          <a:prstGeom prst="rect">
            <a:avLst/>
          </a:prstGeom>
          <a:solidFill>
            <a:srgbClr val="FFFFFF">
              <a:alpha val="5000"/>
            </a:srgbClr>
          </a:solidFill>
          <a:ln/>
        </p:spPr>
      </p:sp>
      <p:sp>
        <p:nvSpPr>
          <p:cNvPr id="36" name="Text 34"/>
          <p:cNvSpPr/>
          <p:nvPr/>
        </p:nvSpPr>
        <p:spPr>
          <a:xfrm>
            <a:off x="5321808" y="1298448"/>
            <a:ext cx="1188720" cy="310896"/>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Criteria:</a:t>
            </a:r>
            <a:endParaRPr lang="en-US" sz="900" dirty="0"/>
          </a:p>
        </p:txBody>
      </p:sp>
      <p:sp>
        <p:nvSpPr>
          <p:cNvPr id="37" name="Text 35"/>
          <p:cNvSpPr/>
          <p:nvPr/>
        </p:nvSpPr>
        <p:spPr>
          <a:xfrm>
            <a:off x="6537960" y="1298448"/>
            <a:ext cx="2240280"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5 independent scored dimensions (EJ, Grid, Zoning, Physical, Revenue)</a:t>
            </a:r>
            <a:endParaRPr lang="en-US" sz="850" dirty="0"/>
          </a:p>
        </p:txBody>
      </p:sp>
      <p:sp>
        <p:nvSpPr>
          <p:cNvPr id="38" name="Shape 36"/>
          <p:cNvSpPr/>
          <p:nvPr/>
        </p:nvSpPr>
        <p:spPr>
          <a:xfrm>
            <a:off x="5230368" y="1700784"/>
            <a:ext cx="3621024" cy="384048"/>
          </a:xfrm>
          <a:prstGeom prst="rect">
            <a:avLst/>
          </a:prstGeom>
          <a:solidFill>
            <a:srgbClr val="FFFFFF">
              <a:alpha val="12000"/>
            </a:srgbClr>
          </a:solidFill>
          <a:ln/>
        </p:spPr>
      </p:sp>
      <p:sp>
        <p:nvSpPr>
          <p:cNvPr id="39" name="Text 37"/>
          <p:cNvSpPr/>
          <p:nvPr/>
        </p:nvSpPr>
        <p:spPr>
          <a:xfrm>
            <a:off x="5321808" y="1737360"/>
            <a:ext cx="1188720" cy="310896"/>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Scoring:</a:t>
            </a:r>
            <a:endParaRPr lang="en-US" sz="900" dirty="0"/>
          </a:p>
        </p:txBody>
      </p:sp>
      <p:sp>
        <p:nvSpPr>
          <p:cNvPr id="40" name="Text 38"/>
          <p:cNvSpPr/>
          <p:nvPr/>
        </p:nvSpPr>
        <p:spPr>
          <a:xfrm>
            <a:off x="6537960" y="1737360"/>
            <a:ext cx="2240280"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Custom-weighted per regulatory priority; max 125 pts composite</a:t>
            </a:r>
            <a:endParaRPr lang="en-US" sz="850" dirty="0"/>
          </a:p>
        </p:txBody>
      </p:sp>
      <p:sp>
        <p:nvSpPr>
          <p:cNvPr id="41" name="Shape 39"/>
          <p:cNvSpPr/>
          <p:nvPr/>
        </p:nvSpPr>
        <p:spPr>
          <a:xfrm>
            <a:off x="5230368" y="2139696"/>
            <a:ext cx="3621024" cy="384048"/>
          </a:xfrm>
          <a:prstGeom prst="rect">
            <a:avLst/>
          </a:prstGeom>
          <a:solidFill>
            <a:srgbClr val="FFFFFF">
              <a:alpha val="5000"/>
            </a:srgbClr>
          </a:solidFill>
          <a:ln/>
        </p:spPr>
      </p:sp>
      <p:sp>
        <p:nvSpPr>
          <p:cNvPr id="42" name="Text 40"/>
          <p:cNvSpPr/>
          <p:nvPr/>
        </p:nvSpPr>
        <p:spPr>
          <a:xfrm>
            <a:off x="5321808" y="2176272"/>
            <a:ext cx="1188720" cy="310896"/>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EJ Integration:</a:t>
            </a:r>
            <a:endParaRPr lang="en-US" sz="900" dirty="0"/>
          </a:p>
        </p:txBody>
      </p:sp>
      <p:sp>
        <p:nvSpPr>
          <p:cNvPr id="43" name="Text 41"/>
          <p:cNvSpPr/>
          <p:nvPr/>
        </p:nvSpPr>
        <p:spPr>
          <a:xfrm>
            <a:off x="6537960" y="2176272"/>
            <a:ext cx="2240280"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OEJE MassGIS EJ data; CIA 33-indicator framework; energy burden</a:t>
            </a:r>
            <a:endParaRPr lang="en-US" sz="850" dirty="0"/>
          </a:p>
        </p:txBody>
      </p:sp>
      <p:sp>
        <p:nvSpPr>
          <p:cNvPr id="44" name="Shape 42"/>
          <p:cNvSpPr/>
          <p:nvPr/>
        </p:nvSpPr>
        <p:spPr>
          <a:xfrm>
            <a:off x="5230368" y="2578608"/>
            <a:ext cx="3621024" cy="384048"/>
          </a:xfrm>
          <a:prstGeom prst="rect">
            <a:avLst/>
          </a:prstGeom>
          <a:solidFill>
            <a:srgbClr val="FFFFFF">
              <a:alpha val="12000"/>
            </a:srgbClr>
          </a:solidFill>
          <a:ln/>
        </p:spPr>
      </p:sp>
      <p:sp>
        <p:nvSpPr>
          <p:cNvPr id="45" name="Text 43"/>
          <p:cNvSpPr/>
          <p:nvPr/>
        </p:nvSpPr>
        <p:spPr>
          <a:xfrm>
            <a:off x="5321808" y="2615184"/>
            <a:ext cx="1188720" cy="310896"/>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Revenue Model:</a:t>
            </a:r>
            <a:endParaRPr lang="en-US" sz="900" dirty="0"/>
          </a:p>
        </p:txBody>
      </p:sp>
      <p:sp>
        <p:nvSpPr>
          <p:cNvPr id="46" name="Text 44"/>
          <p:cNvSpPr/>
          <p:nvPr/>
        </p:nvSpPr>
        <p:spPr>
          <a:xfrm>
            <a:off x="6537960" y="2615184"/>
            <a:ext cx="2240280"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ISO-NE LMP, FCM SENE zone, CPS, SMART adder, ITC stacking</a:t>
            </a:r>
            <a:endParaRPr lang="en-US" sz="850" dirty="0"/>
          </a:p>
        </p:txBody>
      </p:sp>
      <p:sp>
        <p:nvSpPr>
          <p:cNvPr id="47" name="Shape 45"/>
          <p:cNvSpPr/>
          <p:nvPr/>
        </p:nvSpPr>
        <p:spPr>
          <a:xfrm>
            <a:off x="5230368" y="3017520"/>
            <a:ext cx="3621024" cy="384048"/>
          </a:xfrm>
          <a:prstGeom prst="rect">
            <a:avLst/>
          </a:prstGeom>
          <a:solidFill>
            <a:srgbClr val="FFFFFF">
              <a:alpha val="5000"/>
            </a:srgbClr>
          </a:solidFill>
          <a:ln/>
        </p:spPr>
      </p:sp>
      <p:sp>
        <p:nvSpPr>
          <p:cNvPr id="48" name="Text 46"/>
          <p:cNvSpPr/>
          <p:nvPr/>
        </p:nvSpPr>
        <p:spPr>
          <a:xfrm>
            <a:off x="5321808" y="3054096"/>
            <a:ext cx="1188720" cy="310896"/>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Legal/Zoning:</a:t>
            </a:r>
            <a:endParaRPr lang="en-US" sz="900" dirty="0"/>
          </a:p>
        </p:txBody>
      </p:sp>
      <p:sp>
        <p:nvSpPr>
          <p:cNvPr id="49" name="Text 47"/>
          <p:cNvSpPr/>
          <p:nvPr/>
        </p:nvSpPr>
        <p:spPr>
          <a:xfrm>
            <a:off x="6537960" y="3054096"/>
            <a:ext cx="2240280"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DOER Model Bylaw tiers, EFSB jurisdiction, Dover Amendment</a:t>
            </a:r>
            <a:endParaRPr lang="en-US" sz="850" dirty="0"/>
          </a:p>
        </p:txBody>
      </p:sp>
      <p:sp>
        <p:nvSpPr>
          <p:cNvPr id="50" name="Shape 48"/>
          <p:cNvSpPr/>
          <p:nvPr/>
        </p:nvSpPr>
        <p:spPr>
          <a:xfrm>
            <a:off x="5230368" y="3456432"/>
            <a:ext cx="3621024" cy="384048"/>
          </a:xfrm>
          <a:prstGeom prst="rect">
            <a:avLst/>
          </a:prstGeom>
          <a:solidFill>
            <a:srgbClr val="FFFFFF">
              <a:alpha val="12000"/>
            </a:srgbClr>
          </a:solidFill>
          <a:ln/>
        </p:spPr>
      </p:sp>
      <p:sp>
        <p:nvSpPr>
          <p:cNvPr id="51" name="Text 49"/>
          <p:cNvSpPr/>
          <p:nvPr/>
        </p:nvSpPr>
        <p:spPr>
          <a:xfrm>
            <a:off x="5321808" y="3493008"/>
            <a:ext cx="1188720" cy="310896"/>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Community Layer:</a:t>
            </a:r>
            <a:endParaRPr lang="en-US" sz="900" dirty="0"/>
          </a:p>
        </p:txBody>
      </p:sp>
      <p:sp>
        <p:nvSpPr>
          <p:cNvPr id="52" name="Text 50"/>
          <p:cNvSpPr/>
          <p:nvPr/>
        </p:nvSpPr>
        <p:spPr>
          <a:xfrm>
            <a:off x="6537960" y="3493008"/>
            <a:ext cx="2240280"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Energy burden, health rates, host community agreement benchmarks</a:t>
            </a:r>
            <a:endParaRPr lang="en-US" sz="850" dirty="0"/>
          </a:p>
        </p:txBody>
      </p:sp>
      <p:sp>
        <p:nvSpPr>
          <p:cNvPr id="53" name="Shape 51"/>
          <p:cNvSpPr/>
          <p:nvPr/>
        </p:nvSpPr>
        <p:spPr>
          <a:xfrm>
            <a:off x="5230368" y="3895344"/>
            <a:ext cx="3621024" cy="384048"/>
          </a:xfrm>
          <a:prstGeom prst="rect">
            <a:avLst/>
          </a:prstGeom>
          <a:solidFill>
            <a:srgbClr val="FFFFFF">
              <a:alpha val="5000"/>
            </a:srgbClr>
          </a:solidFill>
          <a:ln/>
        </p:spPr>
      </p:sp>
      <p:sp>
        <p:nvSpPr>
          <p:cNvPr id="54" name="Text 52"/>
          <p:cNvSpPr/>
          <p:nvPr/>
        </p:nvSpPr>
        <p:spPr>
          <a:xfrm>
            <a:off x="5321808" y="3931920"/>
            <a:ext cx="1188720" cy="310896"/>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Output:</a:t>
            </a:r>
            <a:endParaRPr lang="en-US" sz="900" dirty="0"/>
          </a:p>
        </p:txBody>
      </p:sp>
      <p:sp>
        <p:nvSpPr>
          <p:cNvPr id="55" name="Text 53"/>
          <p:cNvSpPr/>
          <p:nvPr/>
        </p:nvSpPr>
        <p:spPr>
          <a:xfrm>
            <a:off x="6537960" y="3931920"/>
            <a:ext cx="2240280"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13 municipalities ranked; 3 user audiences served simultaneously</a:t>
            </a:r>
            <a:endParaRPr lang="en-US" sz="850" dirty="0"/>
          </a:p>
        </p:txBody>
      </p:sp>
      <p:sp>
        <p:nvSpPr>
          <p:cNvPr id="56" name="Shape 54"/>
          <p:cNvSpPr/>
          <p:nvPr/>
        </p:nvSpPr>
        <p:spPr>
          <a:xfrm>
            <a:off x="5230368" y="4334256"/>
            <a:ext cx="3621024" cy="384048"/>
          </a:xfrm>
          <a:prstGeom prst="rect">
            <a:avLst/>
          </a:prstGeom>
          <a:solidFill>
            <a:srgbClr val="FFFFFF">
              <a:alpha val="12000"/>
            </a:srgbClr>
          </a:solidFill>
          <a:ln/>
        </p:spPr>
      </p:sp>
      <p:sp>
        <p:nvSpPr>
          <p:cNvPr id="57" name="Text 55"/>
          <p:cNvSpPr/>
          <p:nvPr/>
        </p:nvSpPr>
        <p:spPr>
          <a:xfrm>
            <a:off x="5321808" y="4370832"/>
            <a:ext cx="1188720" cy="310896"/>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Validated:</a:t>
            </a:r>
            <a:endParaRPr lang="en-US" sz="900" dirty="0"/>
          </a:p>
        </p:txBody>
      </p:sp>
      <p:sp>
        <p:nvSpPr>
          <p:cNvPr id="58" name="Text 56"/>
          <p:cNvSpPr/>
          <p:nvPr/>
        </p:nvSpPr>
        <p:spPr>
          <a:xfrm>
            <a:off x="6537960" y="4370832"/>
            <a:ext cx="2240280"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Top 2 scores → parcel-specific analysis confirmed by financial models</a:t>
            </a:r>
            <a:endParaRPr lang="en-US" sz="850" dirty="0"/>
          </a:p>
        </p:txBody>
      </p:sp>
      <p:sp>
        <p:nvSpPr>
          <p:cNvPr id="59" name="Shape 57"/>
          <p:cNvSpPr/>
          <p:nvPr/>
        </p:nvSpPr>
        <p:spPr>
          <a:xfrm>
            <a:off x="0" y="4864608"/>
            <a:ext cx="9144000" cy="274320"/>
          </a:xfrm>
          <a:prstGeom prst="rect">
            <a:avLst/>
          </a:prstGeom>
          <a:solidFill>
            <a:srgbClr val="09182B"/>
          </a:solidFill>
          <a:ln/>
        </p:spPr>
      </p:sp>
      <p:sp>
        <p:nvSpPr>
          <p:cNvPr id="60" name="Text 58"/>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Worcester County Battery Storage Suitability Report (MCE/QGIS, 2025) · Worcester EV Charging Siting Analysis (2025) · Worcester Solar MCE Report (2025)</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THE BESS SITING TOOL: FIVE INTEGRATED EVALUATION LAYERS</a:t>
            </a:r>
            <a:endParaRPr lang="en-US" sz="1100" dirty="0"/>
          </a:p>
        </p:txBody>
      </p:sp>
      <p:sp>
        <p:nvSpPr>
          <p:cNvPr id="4" name="Text 2"/>
          <p:cNvSpPr/>
          <p:nvPr/>
        </p:nvSpPr>
        <p:spPr>
          <a:xfrm>
            <a:off x="347472" y="731520"/>
            <a:ext cx="8503920" cy="256032"/>
          </a:xfrm>
          <a:prstGeom prst="rect">
            <a:avLst/>
          </a:prstGeom>
          <a:noFill/>
          <a:ln/>
        </p:spPr>
        <p:txBody>
          <a:bodyPr wrap="square" rtlCol="0" anchor="ctr"/>
          <a:lstStyle/>
          <a:p>
            <a:pPr indent="0" marL="0">
              <a:buNone/>
            </a:pPr>
            <a:r>
              <a:rPr lang="en-US" sz="950" dirty="0">
                <a:solidFill>
                  <a:srgbClr val="617283"/>
                </a:solidFill>
                <a:latin typeface="Calibri" pitchFamily="34" charset="0"/>
                <a:ea typeface="Calibri" pitchFamily="34" charset="-122"/>
                <a:cs typeface="Calibri" pitchFamily="34" charset="-120"/>
              </a:rPr>
              <a:t>Each layer scores 0–25 points  ·  Maximum composite score: 125  ·  All 13 municipalities screened simultaneously across three user audiences</a:t>
            </a:r>
            <a:endParaRPr lang="en-US" sz="950" dirty="0"/>
          </a:p>
        </p:txBody>
      </p:sp>
      <p:sp>
        <p:nvSpPr>
          <p:cNvPr id="5" name="Shape 3"/>
          <p:cNvSpPr/>
          <p:nvPr/>
        </p:nvSpPr>
        <p:spPr>
          <a:xfrm>
            <a:off x="320040" y="1051560"/>
            <a:ext cx="8503920" cy="7315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051560"/>
            <a:ext cx="73152" cy="731520"/>
          </a:xfrm>
          <a:prstGeom prst="rect">
            <a:avLst/>
          </a:prstGeom>
          <a:solidFill>
            <a:srgbClr val="A83D28"/>
          </a:solidFill>
          <a:ln/>
        </p:spPr>
      </p:sp>
      <p:sp>
        <p:nvSpPr>
          <p:cNvPr id="7" name="Shape 5"/>
          <p:cNvSpPr/>
          <p:nvPr/>
        </p:nvSpPr>
        <p:spPr>
          <a:xfrm>
            <a:off x="457200" y="1161288"/>
            <a:ext cx="438912" cy="438912"/>
          </a:xfrm>
          <a:prstGeom prst="rect">
            <a:avLst/>
          </a:prstGeom>
          <a:solidFill>
            <a:srgbClr val="A83D28"/>
          </a:solidFill>
          <a:ln/>
        </p:spPr>
      </p:sp>
      <p:sp>
        <p:nvSpPr>
          <p:cNvPr id="8" name="Text 6"/>
          <p:cNvSpPr/>
          <p:nvPr/>
        </p:nvSpPr>
        <p:spPr>
          <a:xfrm>
            <a:off x="457200" y="11612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9" name="Text 7"/>
          <p:cNvSpPr/>
          <p:nvPr/>
        </p:nvSpPr>
        <p:spPr>
          <a:xfrm>
            <a:off x="1005840" y="1106424"/>
            <a:ext cx="2286000" cy="274320"/>
          </a:xfrm>
          <a:prstGeom prst="rect">
            <a:avLst/>
          </a:prstGeom>
          <a:noFill/>
          <a:ln/>
        </p:spPr>
        <p:txBody>
          <a:bodyPr wrap="square" lIns="0" tIns="0" rIns="0" bIns="0" rtlCol="0" anchor="ctr"/>
          <a:lstStyle/>
          <a:p>
            <a:pPr indent="0" marL="0">
              <a:buNone/>
            </a:pPr>
            <a:r>
              <a:rPr lang="en-US" sz="950" b="1" dirty="0">
                <a:solidFill>
                  <a:srgbClr val="A83D28"/>
                </a:solidFill>
                <a:latin typeface="Calibri" pitchFamily="34" charset="0"/>
                <a:ea typeface="Calibri" pitchFamily="34" charset="-122"/>
                <a:cs typeface="Calibri" pitchFamily="34" charset="-120"/>
              </a:rPr>
              <a:t>Environmental Justice &amp; Regulatory Compliance</a:t>
            </a:r>
            <a:endParaRPr lang="en-US" sz="950" dirty="0"/>
          </a:p>
        </p:txBody>
      </p:sp>
      <p:sp>
        <p:nvSpPr>
          <p:cNvPr id="10" name="Text 8"/>
          <p:cNvSpPr/>
          <p:nvPr/>
        </p:nvSpPr>
        <p:spPr>
          <a:xfrm>
            <a:off x="1005840" y="1389888"/>
            <a:ext cx="4160520" cy="347472"/>
          </a:xfrm>
          <a:prstGeom prst="rect">
            <a:avLst/>
          </a:prstGeom>
          <a:noFill/>
          <a:ln/>
        </p:spPr>
        <p:txBody>
          <a:bodyPr wrap="square" lIns="0" tIns="0" rIns="0" bIns="0" rtlCol="0" anchor="ctr"/>
          <a:lstStyle/>
          <a:p>
            <a:pPr indent="0" marL="0">
              <a:buNone/>
            </a:pPr>
            <a:r>
              <a:rPr lang="en-US" sz="750" dirty="0">
                <a:solidFill>
                  <a:srgbClr val="617283"/>
                </a:solidFill>
                <a:latin typeface="Calibri" pitchFamily="34" charset="0"/>
                <a:ea typeface="Calibri" pitchFamily="34" charset="-122"/>
                <a:cs typeface="Calibri" pitchFamily="34" charset="-120"/>
              </a:rPr>
              <a:t>MassGIS OEJE 2020 EJ Population data · CIA 33-indicator framework (eff. July 2024) · Energy burden · Health burden (asthma, PM2.5) · CIA Standards 980 CMR 15.00 (Jan 2026)</a:t>
            </a:r>
            <a:endParaRPr lang="en-US" sz="750" dirty="0"/>
          </a:p>
        </p:txBody>
      </p:sp>
      <p:sp>
        <p:nvSpPr>
          <p:cNvPr id="11" name="Shape 9"/>
          <p:cNvSpPr/>
          <p:nvPr/>
        </p:nvSpPr>
        <p:spPr>
          <a:xfrm>
            <a:off x="5257800" y="1124712"/>
            <a:ext cx="3493008" cy="585216"/>
          </a:xfrm>
          <a:prstGeom prst="rect">
            <a:avLst/>
          </a:prstGeom>
          <a:solidFill>
            <a:srgbClr val="A83D28">
              <a:alpha val="10000"/>
            </a:srgbClr>
          </a:solidFill>
          <a:ln/>
        </p:spPr>
      </p:sp>
      <p:sp>
        <p:nvSpPr>
          <p:cNvPr id="12" name="Text 10"/>
          <p:cNvSpPr/>
          <p:nvPr/>
        </p:nvSpPr>
        <p:spPr>
          <a:xfrm>
            <a:off x="5376672" y="1161288"/>
            <a:ext cx="3291840" cy="512064"/>
          </a:xfrm>
          <a:prstGeom prst="rect">
            <a:avLst/>
          </a:prstGeom>
          <a:noFill/>
          <a:ln/>
        </p:spPr>
        <p:txBody>
          <a:bodyPr wrap="square" lIns="0" tIns="0" rIns="0" bIns="0" rtlCol="0" anchor="ctr"/>
          <a:lstStyle/>
          <a:p>
            <a:pPr indent="0" marL="0">
              <a:lnSpc>
                <a:spcPct val="115000"/>
              </a:lnSpc>
              <a:buNone/>
            </a:pPr>
            <a:r>
              <a:rPr lang="en-US" sz="780" dirty="0">
                <a:solidFill>
                  <a:srgbClr val="09182B"/>
                </a:solidFill>
                <a:latin typeface="Calibri" pitchFamily="34" charset="0"/>
                <a:ea typeface="Calibri" pitchFamily="34" charset="-122"/>
                <a:cs typeface="Calibri" pitchFamily="34" charset="-120"/>
              </a:rPr>
              <a:t>All 13 municipalities EJ-designated · Chelsea &amp; Everett: 100% EJ block group coverage · CIA compliance embedded pre-selection</a:t>
            </a:r>
            <a:endParaRPr lang="en-US" sz="780" dirty="0"/>
          </a:p>
        </p:txBody>
      </p:sp>
      <p:sp>
        <p:nvSpPr>
          <p:cNvPr id="13" name="Shape 11"/>
          <p:cNvSpPr/>
          <p:nvPr/>
        </p:nvSpPr>
        <p:spPr>
          <a:xfrm>
            <a:off x="320040" y="1856232"/>
            <a:ext cx="8503920" cy="7315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4" name="Shape 12"/>
          <p:cNvSpPr/>
          <p:nvPr/>
        </p:nvSpPr>
        <p:spPr>
          <a:xfrm>
            <a:off x="320040" y="1856232"/>
            <a:ext cx="73152" cy="731520"/>
          </a:xfrm>
          <a:prstGeom prst="rect">
            <a:avLst/>
          </a:prstGeom>
          <a:solidFill>
            <a:srgbClr val="0D7C7B"/>
          </a:solidFill>
          <a:ln/>
        </p:spPr>
      </p:sp>
      <p:sp>
        <p:nvSpPr>
          <p:cNvPr id="15" name="Shape 13"/>
          <p:cNvSpPr/>
          <p:nvPr/>
        </p:nvSpPr>
        <p:spPr>
          <a:xfrm>
            <a:off x="457200" y="1965960"/>
            <a:ext cx="438912" cy="438912"/>
          </a:xfrm>
          <a:prstGeom prst="rect">
            <a:avLst/>
          </a:prstGeom>
          <a:solidFill>
            <a:srgbClr val="0D7C7B"/>
          </a:solidFill>
          <a:ln/>
        </p:spPr>
      </p:sp>
      <p:sp>
        <p:nvSpPr>
          <p:cNvPr id="16" name="Text 14"/>
          <p:cNvSpPr/>
          <p:nvPr/>
        </p:nvSpPr>
        <p:spPr>
          <a:xfrm>
            <a:off x="457200" y="19659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7" name="Text 15"/>
          <p:cNvSpPr/>
          <p:nvPr/>
        </p:nvSpPr>
        <p:spPr>
          <a:xfrm>
            <a:off x="1005840" y="1911096"/>
            <a:ext cx="2286000" cy="274320"/>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Grid Feasibility &amp; Hosting Capacity</a:t>
            </a:r>
            <a:endParaRPr lang="en-US" sz="950" dirty="0"/>
          </a:p>
        </p:txBody>
      </p:sp>
      <p:sp>
        <p:nvSpPr>
          <p:cNvPr id="18" name="Text 16"/>
          <p:cNvSpPr/>
          <p:nvPr/>
        </p:nvSpPr>
        <p:spPr>
          <a:xfrm>
            <a:off x="1005840" y="2194560"/>
            <a:ext cx="4160520" cy="347472"/>
          </a:xfrm>
          <a:prstGeom prst="rect">
            <a:avLst/>
          </a:prstGeom>
          <a:noFill/>
          <a:ln/>
        </p:spPr>
        <p:txBody>
          <a:bodyPr wrap="square" lIns="0" tIns="0" rIns="0" bIns="0" rtlCol="0" anchor="ctr"/>
          <a:lstStyle/>
          <a:p>
            <a:pPr indent="0" marL="0">
              <a:buNone/>
            </a:pPr>
            <a:r>
              <a:rPr lang="en-US" sz="750" dirty="0">
                <a:solidFill>
                  <a:srgbClr val="617283"/>
                </a:solidFill>
                <a:latin typeface="Calibri" pitchFamily="34" charset="0"/>
                <a:ea typeface="Calibri" pitchFamily="34" charset="-122"/>
                <a:cs typeface="Calibri" pitchFamily="34" charset="-120"/>
              </a:rPr>
              <a:t>Eversource Hosting Capacity Map / envelio Navigator · National Grid MA SDP · U.S. DOE Atlas · ORNL OpenEnergyHub · ISO-NE interconnection queue</a:t>
            </a:r>
            <a:endParaRPr lang="en-US" sz="750" dirty="0"/>
          </a:p>
        </p:txBody>
      </p:sp>
      <p:sp>
        <p:nvSpPr>
          <p:cNvPr id="19" name="Shape 17"/>
          <p:cNvSpPr/>
          <p:nvPr/>
        </p:nvSpPr>
        <p:spPr>
          <a:xfrm>
            <a:off x="5257800" y="1929384"/>
            <a:ext cx="3493008" cy="585216"/>
          </a:xfrm>
          <a:prstGeom prst="rect">
            <a:avLst/>
          </a:prstGeom>
          <a:solidFill>
            <a:srgbClr val="0D7C7B">
              <a:alpha val="10000"/>
            </a:srgbClr>
          </a:solidFill>
          <a:ln/>
        </p:spPr>
      </p:sp>
      <p:sp>
        <p:nvSpPr>
          <p:cNvPr id="20" name="Text 18"/>
          <p:cNvSpPr/>
          <p:nvPr/>
        </p:nvSpPr>
        <p:spPr>
          <a:xfrm>
            <a:off x="5376672" y="1965960"/>
            <a:ext cx="3291840" cy="512064"/>
          </a:xfrm>
          <a:prstGeom prst="rect">
            <a:avLst/>
          </a:prstGeom>
          <a:noFill/>
          <a:ln/>
        </p:spPr>
        <p:txBody>
          <a:bodyPr wrap="square" lIns="0" tIns="0" rIns="0" bIns="0" rtlCol="0" anchor="ctr"/>
          <a:lstStyle/>
          <a:p>
            <a:pPr indent="0" marL="0">
              <a:lnSpc>
                <a:spcPct val="115000"/>
              </a:lnSpc>
              <a:buNone/>
            </a:pPr>
            <a:r>
              <a:rPr lang="en-US" sz="780" dirty="0">
                <a:solidFill>
                  <a:srgbClr val="09182B"/>
                </a:solidFill>
                <a:latin typeface="Calibri" pitchFamily="34" charset="0"/>
                <a:ea typeface="Calibri" pitchFamily="34" charset="-122"/>
                <a:cs typeface="Calibri" pitchFamily="34" charset="-120"/>
              </a:rPr>
              <a:t>KEY INSIGHT: Grid hosting capacity is the BINDING MW constraint — not parcel size. Everett feeder: 15 MW ceiling. Chelsea substation: 100 MW. Layer 2 drives the financial model.</a:t>
            </a:r>
            <a:endParaRPr lang="en-US" sz="780" dirty="0"/>
          </a:p>
        </p:txBody>
      </p:sp>
      <p:sp>
        <p:nvSpPr>
          <p:cNvPr id="21" name="Shape 19"/>
          <p:cNvSpPr/>
          <p:nvPr/>
        </p:nvSpPr>
        <p:spPr>
          <a:xfrm>
            <a:off x="320040" y="2660904"/>
            <a:ext cx="8503920" cy="7315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2" name="Shape 20"/>
          <p:cNvSpPr/>
          <p:nvPr/>
        </p:nvSpPr>
        <p:spPr>
          <a:xfrm>
            <a:off x="320040" y="2660904"/>
            <a:ext cx="73152" cy="731520"/>
          </a:xfrm>
          <a:prstGeom prst="rect">
            <a:avLst/>
          </a:prstGeom>
          <a:solidFill>
            <a:srgbClr val="3A5278"/>
          </a:solidFill>
          <a:ln/>
        </p:spPr>
      </p:sp>
      <p:sp>
        <p:nvSpPr>
          <p:cNvPr id="23" name="Shape 21"/>
          <p:cNvSpPr/>
          <p:nvPr/>
        </p:nvSpPr>
        <p:spPr>
          <a:xfrm>
            <a:off x="457200" y="2770632"/>
            <a:ext cx="438912" cy="438912"/>
          </a:xfrm>
          <a:prstGeom prst="rect">
            <a:avLst/>
          </a:prstGeom>
          <a:solidFill>
            <a:srgbClr val="3A5278"/>
          </a:solidFill>
          <a:ln/>
        </p:spPr>
      </p:sp>
      <p:sp>
        <p:nvSpPr>
          <p:cNvPr id="24" name="Text 22"/>
          <p:cNvSpPr/>
          <p:nvPr/>
        </p:nvSpPr>
        <p:spPr>
          <a:xfrm>
            <a:off x="457200" y="277063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5" name="Text 23"/>
          <p:cNvSpPr/>
          <p:nvPr/>
        </p:nvSpPr>
        <p:spPr>
          <a:xfrm>
            <a:off x="1005840" y="2715768"/>
            <a:ext cx="2286000" cy="274320"/>
          </a:xfrm>
          <a:prstGeom prst="rect">
            <a:avLst/>
          </a:prstGeom>
          <a:noFill/>
          <a:ln/>
        </p:spPr>
        <p:txBody>
          <a:bodyPr wrap="square" lIns="0" tIns="0" rIns="0" bIns="0" rtlCol="0" anchor="ctr"/>
          <a:lstStyle/>
          <a:p>
            <a:pPr indent="0" marL="0">
              <a:buNone/>
            </a:pPr>
            <a:r>
              <a:rPr lang="en-US" sz="950" b="1" dirty="0">
                <a:solidFill>
                  <a:srgbClr val="3A5278"/>
                </a:solidFill>
                <a:latin typeface="Calibri" pitchFamily="34" charset="0"/>
                <a:ea typeface="Calibri" pitchFamily="34" charset="-122"/>
                <a:cs typeface="Calibri" pitchFamily="34" charset="-120"/>
              </a:rPr>
              <a:t>Zoning, Permitting &amp; Legal Framework</a:t>
            </a:r>
            <a:endParaRPr lang="en-US" sz="950" dirty="0"/>
          </a:p>
        </p:txBody>
      </p:sp>
      <p:sp>
        <p:nvSpPr>
          <p:cNvPr id="26" name="Text 24"/>
          <p:cNvSpPr/>
          <p:nvPr/>
        </p:nvSpPr>
        <p:spPr>
          <a:xfrm>
            <a:off x="1005840" y="2999232"/>
            <a:ext cx="4160520" cy="347472"/>
          </a:xfrm>
          <a:prstGeom prst="rect">
            <a:avLst/>
          </a:prstGeom>
          <a:noFill/>
          <a:ln/>
        </p:spPr>
        <p:txBody>
          <a:bodyPr wrap="square" lIns="0" tIns="0" rIns="0" bIns="0" rtlCol="0" anchor="ctr"/>
          <a:lstStyle/>
          <a:p>
            <a:pPr indent="0" marL="0">
              <a:buNone/>
            </a:pPr>
            <a:r>
              <a:rPr lang="en-US" sz="750" dirty="0">
                <a:solidFill>
                  <a:srgbClr val="617283"/>
                </a:solidFill>
                <a:latin typeface="Calibri" pitchFamily="34" charset="0"/>
                <a:ea typeface="Calibri" pitchFamily="34" charset="-122"/>
                <a:cs typeface="Calibri" pitchFamily="34" charset="-120"/>
              </a:rPr>
              <a:t>DOER Model Bylaw tiers (Oct 2025) · EFSB sole jurisdiction ≥10 MWh (July 2026) · MA Zoning Atlas · Municipal codes · Dover Amendment precedent</a:t>
            </a:r>
            <a:endParaRPr lang="en-US" sz="750" dirty="0"/>
          </a:p>
        </p:txBody>
      </p:sp>
      <p:sp>
        <p:nvSpPr>
          <p:cNvPr id="27" name="Shape 25"/>
          <p:cNvSpPr/>
          <p:nvPr/>
        </p:nvSpPr>
        <p:spPr>
          <a:xfrm>
            <a:off x="5257800" y="2734056"/>
            <a:ext cx="3493008" cy="585216"/>
          </a:xfrm>
          <a:prstGeom prst="rect">
            <a:avLst/>
          </a:prstGeom>
          <a:solidFill>
            <a:srgbClr val="3A5278">
              <a:alpha val="10000"/>
            </a:srgbClr>
          </a:solidFill>
          <a:ln/>
        </p:spPr>
      </p:sp>
      <p:sp>
        <p:nvSpPr>
          <p:cNvPr id="28" name="Text 26"/>
          <p:cNvSpPr/>
          <p:nvPr/>
        </p:nvSpPr>
        <p:spPr>
          <a:xfrm>
            <a:off x="5376672" y="2770632"/>
            <a:ext cx="3291840" cy="512064"/>
          </a:xfrm>
          <a:prstGeom prst="rect">
            <a:avLst/>
          </a:prstGeom>
          <a:noFill/>
          <a:ln/>
        </p:spPr>
        <p:txBody>
          <a:bodyPr wrap="square" lIns="0" tIns="0" rIns="0" bIns="0" rtlCol="0" anchor="ctr"/>
          <a:lstStyle/>
          <a:p>
            <a:pPr indent="0" marL="0">
              <a:lnSpc>
                <a:spcPct val="115000"/>
              </a:lnSpc>
              <a:buNone/>
            </a:pPr>
            <a:r>
              <a:rPr lang="en-US" sz="780" dirty="0">
                <a:solidFill>
                  <a:srgbClr val="09182B"/>
                </a:solidFill>
                <a:latin typeface="Calibri" pitchFamily="34" charset="0"/>
                <a:ea typeface="Calibri" pitchFamily="34" charset="-122"/>
                <a:cs typeface="Calibri" pitchFamily="34" charset="-120"/>
              </a:rPr>
              <a:t>Both sites: I-1/I-2 Industrial (50 ft setback). Chelsea 400 MWh qualifies for EFSB sole jurisdiction path. Everett 60 MWh = local permitting path. Zero moratoriums.</a:t>
            </a:r>
            <a:endParaRPr lang="en-US" sz="780" dirty="0"/>
          </a:p>
        </p:txBody>
      </p:sp>
      <p:sp>
        <p:nvSpPr>
          <p:cNvPr id="29" name="Shape 27"/>
          <p:cNvSpPr/>
          <p:nvPr/>
        </p:nvSpPr>
        <p:spPr>
          <a:xfrm>
            <a:off x="320040" y="3465576"/>
            <a:ext cx="8503920" cy="7315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0" name="Shape 28"/>
          <p:cNvSpPr/>
          <p:nvPr/>
        </p:nvSpPr>
        <p:spPr>
          <a:xfrm>
            <a:off x="320040" y="3465576"/>
            <a:ext cx="73152" cy="731520"/>
          </a:xfrm>
          <a:prstGeom prst="rect">
            <a:avLst/>
          </a:prstGeom>
          <a:solidFill>
            <a:srgbClr val="2A6145"/>
          </a:solidFill>
          <a:ln/>
        </p:spPr>
      </p:sp>
      <p:sp>
        <p:nvSpPr>
          <p:cNvPr id="31" name="Shape 29"/>
          <p:cNvSpPr/>
          <p:nvPr/>
        </p:nvSpPr>
        <p:spPr>
          <a:xfrm>
            <a:off x="457200" y="3575304"/>
            <a:ext cx="438912" cy="438912"/>
          </a:xfrm>
          <a:prstGeom prst="rect">
            <a:avLst/>
          </a:prstGeom>
          <a:solidFill>
            <a:srgbClr val="2A6145"/>
          </a:solidFill>
          <a:ln/>
        </p:spPr>
      </p:sp>
      <p:sp>
        <p:nvSpPr>
          <p:cNvPr id="32" name="Text 30"/>
          <p:cNvSpPr/>
          <p:nvPr/>
        </p:nvSpPr>
        <p:spPr>
          <a:xfrm>
            <a:off x="457200" y="357530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33" name="Text 31"/>
          <p:cNvSpPr/>
          <p:nvPr/>
        </p:nvSpPr>
        <p:spPr>
          <a:xfrm>
            <a:off x="1005840" y="3520440"/>
            <a:ext cx="2286000" cy="274320"/>
          </a:xfrm>
          <a:prstGeom prst="rect">
            <a:avLst/>
          </a:prstGeom>
          <a:noFill/>
          <a:ln/>
        </p:spPr>
        <p:txBody>
          <a:bodyPr wrap="square" lIns="0" tIns="0" rIns="0" bIns="0" rtlCol="0" anchor="ctr"/>
          <a:lstStyle/>
          <a:p>
            <a:pPr indent="0" marL="0">
              <a:buNone/>
            </a:pPr>
            <a:r>
              <a:rPr lang="en-US" sz="950" b="1" dirty="0">
                <a:solidFill>
                  <a:srgbClr val="2A6145"/>
                </a:solidFill>
                <a:latin typeface="Calibri" pitchFamily="34" charset="0"/>
                <a:ea typeface="Calibri" pitchFamily="34" charset="-122"/>
                <a:cs typeface="Calibri" pitchFamily="34" charset="-120"/>
              </a:rPr>
              <a:t>Physical Feasibility &amp; Site Characteristics</a:t>
            </a:r>
            <a:endParaRPr lang="en-US" sz="950" dirty="0"/>
          </a:p>
        </p:txBody>
      </p:sp>
      <p:sp>
        <p:nvSpPr>
          <p:cNvPr id="34" name="Text 32"/>
          <p:cNvSpPr/>
          <p:nvPr/>
        </p:nvSpPr>
        <p:spPr>
          <a:xfrm>
            <a:off x="1005840" y="3803904"/>
            <a:ext cx="4160520" cy="347472"/>
          </a:xfrm>
          <a:prstGeom prst="rect">
            <a:avLst/>
          </a:prstGeom>
          <a:noFill/>
          <a:ln/>
        </p:spPr>
        <p:txBody>
          <a:bodyPr wrap="square" lIns="0" tIns="0" rIns="0" bIns="0" rtlCol="0" anchor="ctr"/>
          <a:lstStyle/>
          <a:p>
            <a:pPr indent="0" marL="0">
              <a:buNone/>
            </a:pPr>
            <a:r>
              <a:rPr lang="en-US" sz="750" dirty="0">
                <a:solidFill>
                  <a:srgbClr val="617283"/>
                </a:solidFill>
                <a:latin typeface="Calibri" pitchFamily="34" charset="0"/>
                <a:ea typeface="Calibri" pitchFamily="34" charset="-122"/>
                <a:cs typeface="Calibri" pitchFamily="34" charset="-120"/>
              </a:rPr>
              <a:t>Industrial/brownfield parcels · Net buildable area after setbacks · MW sizing logic (interconnection-constrained, not land-constrained) · Brownfield bonus (energy community ITC)</a:t>
            </a:r>
            <a:endParaRPr lang="en-US" sz="750" dirty="0"/>
          </a:p>
        </p:txBody>
      </p:sp>
      <p:sp>
        <p:nvSpPr>
          <p:cNvPr id="35" name="Shape 33"/>
          <p:cNvSpPr/>
          <p:nvPr/>
        </p:nvSpPr>
        <p:spPr>
          <a:xfrm>
            <a:off x="5257800" y="3538728"/>
            <a:ext cx="3493008" cy="585216"/>
          </a:xfrm>
          <a:prstGeom prst="rect">
            <a:avLst/>
          </a:prstGeom>
          <a:solidFill>
            <a:srgbClr val="2A6145">
              <a:alpha val="10000"/>
            </a:srgbClr>
          </a:solidFill>
          <a:ln/>
        </p:spPr>
      </p:sp>
      <p:sp>
        <p:nvSpPr>
          <p:cNvPr id="36" name="Text 34"/>
          <p:cNvSpPr/>
          <p:nvPr/>
        </p:nvSpPr>
        <p:spPr>
          <a:xfrm>
            <a:off x="5376672" y="3575304"/>
            <a:ext cx="3291840" cy="512064"/>
          </a:xfrm>
          <a:prstGeom prst="rect">
            <a:avLst/>
          </a:prstGeom>
          <a:noFill/>
          <a:ln/>
        </p:spPr>
        <p:txBody>
          <a:bodyPr wrap="square" lIns="0" tIns="0" rIns="0" bIns="0" rtlCol="0" anchor="ctr"/>
          <a:lstStyle/>
          <a:p>
            <a:pPr indent="0" marL="0">
              <a:lnSpc>
                <a:spcPct val="115000"/>
              </a:lnSpc>
              <a:buNone/>
            </a:pPr>
            <a:r>
              <a:rPr lang="en-US" sz="780" dirty="0">
                <a:solidFill>
                  <a:srgbClr val="09182B"/>
                </a:solidFill>
                <a:latin typeface="Calibri" pitchFamily="34" charset="0"/>
                <a:ea typeface="Calibri" pitchFamily="34" charset="-122"/>
                <a:cs typeface="Calibri" pitchFamily="34" charset="-120"/>
              </a:rPr>
              <a:t>231 Beacham: 15 MW / 60 MWh (4hr, feeder-constrained, $25.1M gross CAPEX) · 283 Eastern: 100 MW / 400 MWh (4hr, substation-scale, $144M gross CAPEX)</a:t>
            </a:r>
            <a:endParaRPr lang="en-US" sz="780" dirty="0"/>
          </a:p>
        </p:txBody>
      </p:sp>
      <p:sp>
        <p:nvSpPr>
          <p:cNvPr id="37" name="Shape 35"/>
          <p:cNvSpPr/>
          <p:nvPr/>
        </p:nvSpPr>
        <p:spPr>
          <a:xfrm>
            <a:off x="320040" y="4270248"/>
            <a:ext cx="8503920" cy="7315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8" name="Shape 36"/>
          <p:cNvSpPr/>
          <p:nvPr/>
        </p:nvSpPr>
        <p:spPr>
          <a:xfrm>
            <a:off x="320040" y="4270248"/>
            <a:ext cx="73152" cy="731520"/>
          </a:xfrm>
          <a:prstGeom prst="rect">
            <a:avLst/>
          </a:prstGeom>
          <a:solidFill>
            <a:srgbClr val="C68A17"/>
          </a:solidFill>
          <a:ln/>
        </p:spPr>
      </p:sp>
      <p:sp>
        <p:nvSpPr>
          <p:cNvPr id="39" name="Shape 37"/>
          <p:cNvSpPr/>
          <p:nvPr/>
        </p:nvSpPr>
        <p:spPr>
          <a:xfrm>
            <a:off x="457200" y="4379976"/>
            <a:ext cx="438912" cy="438912"/>
          </a:xfrm>
          <a:prstGeom prst="rect">
            <a:avLst/>
          </a:prstGeom>
          <a:solidFill>
            <a:srgbClr val="C68A17"/>
          </a:solidFill>
          <a:ln/>
        </p:spPr>
      </p:sp>
      <p:sp>
        <p:nvSpPr>
          <p:cNvPr id="40" name="Text 38"/>
          <p:cNvSpPr/>
          <p:nvPr/>
        </p:nvSpPr>
        <p:spPr>
          <a:xfrm>
            <a:off x="457200" y="43799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1" name="Text 39"/>
          <p:cNvSpPr/>
          <p:nvPr/>
        </p:nvSpPr>
        <p:spPr>
          <a:xfrm>
            <a:off x="1005840" y="4325112"/>
            <a:ext cx="2286000" cy="274320"/>
          </a:xfrm>
          <a:prstGeom prst="rect">
            <a:avLst/>
          </a:prstGeom>
          <a:noFill/>
          <a:ln/>
        </p:spPr>
        <p:txBody>
          <a:bodyPr wrap="square" lIns="0" tIns="0" rIns="0" bIns="0" rtlCol="0" anchor="ctr"/>
          <a:lstStyle/>
          <a:p>
            <a:pPr indent="0" marL="0">
              <a:buNone/>
            </a:pPr>
            <a:r>
              <a:rPr lang="en-US" sz="950" b="1" dirty="0">
                <a:solidFill>
                  <a:srgbClr val="C68A17"/>
                </a:solidFill>
                <a:latin typeface="Calibri" pitchFamily="34" charset="0"/>
                <a:ea typeface="Calibri" pitchFamily="34" charset="-122"/>
                <a:cs typeface="Calibri" pitchFamily="34" charset="-120"/>
              </a:rPr>
              <a:t>Revenue Modeling &amp; Market Economics</a:t>
            </a:r>
            <a:endParaRPr lang="en-US" sz="950" dirty="0"/>
          </a:p>
        </p:txBody>
      </p:sp>
      <p:sp>
        <p:nvSpPr>
          <p:cNvPr id="42" name="Text 40"/>
          <p:cNvSpPr/>
          <p:nvPr/>
        </p:nvSpPr>
        <p:spPr>
          <a:xfrm>
            <a:off x="1005840" y="4608576"/>
            <a:ext cx="4160520" cy="347472"/>
          </a:xfrm>
          <a:prstGeom prst="rect">
            <a:avLst/>
          </a:prstGeom>
          <a:noFill/>
          <a:ln/>
        </p:spPr>
        <p:txBody>
          <a:bodyPr wrap="square" lIns="0" tIns="0" rIns="0" bIns="0" rtlCol="0" anchor="ctr"/>
          <a:lstStyle/>
          <a:p>
            <a:pPr indent="0" marL="0">
              <a:buNone/>
            </a:pPr>
            <a:r>
              <a:rPr lang="en-US" sz="750" dirty="0">
                <a:solidFill>
                  <a:srgbClr val="617283"/>
                </a:solidFill>
                <a:latin typeface="Calibri" pitchFamily="34" charset="0"/>
                <a:ea typeface="Calibri" pitchFamily="34" charset="-122"/>
                <a:cs typeface="Calibri" pitchFamily="34" charset="-120"/>
              </a:rPr>
              <a:t>ISO-NE NEMA zone LMP ($42.09/MWh DA 2024) · FCM SENE zone (FCA 18: $3.58/kW-mo) · Clean Peak Energy Certificates · SMART 3.0 adder · Federal ITC 40% (PWA + domestic content)</a:t>
            </a:r>
            <a:endParaRPr lang="en-US" sz="750" dirty="0"/>
          </a:p>
        </p:txBody>
      </p:sp>
      <p:sp>
        <p:nvSpPr>
          <p:cNvPr id="43" name="Shape 41"/>
          <p:cNvSpPr/>
          <p:nvPr/>
        </p:nvSpPr>
        <p:spPr>
          <a:xfrm>
            <a:off x="5257800" y="4343400"/>
            <a:ext cx="3493008" cy="585216"/>
          </a:xfrm>
          <a:prstGeom prst="rect">
            <a:avLst/>
          </a:prstGeom>
          <a:solidFill>
            <a:srgbClr val="C68A17">
              <a:alpha val="10000"/>
            </a:srgbClr>
          </a:solidFill>
          <a:ln/>
        </p:spPr>
      </p:sp>
      <p:sp>
        <p:nvSpPr>
          <p:cNvPr id="44" name="Text 42"/>
          <p:cNvSpPr/>
          <p:nvPr/>
        </p:nvSpPr>
        <p:spPr>
          <a:xfrm>
            <a:off x="5376672" y="4379976"/>
            <a:ext cx="3291840" cy="512064"/>
          </a:xfrm>
          <a:prstGeom prst="rect">
            <a:avLst/>
          </a:prstGeom>
          <a:noFill/>
          <a:ln/>
        </p:spPr>
        <p:txBody>
          <a:bodyPr wrap="square" lIns="0" tIns="0" rIns="0" bIns="0" rtlCol="0" anchor="ctr"/>
          <a:lstStyle/>
          <a:p>
            <a:pPr indent="0" marL="0">
              <a:lnSpc>
                <a:spcPct val="115000"/>
              </a:lnSpc>
              <a:buNone/>
            </a:pPr>
            <a:r>
              <a:rPr lang="en-US" sz="780" dirty="0">
                <a:solidFill>
                  <a:srgbClr val="09182B"/>
                </a:solidFill>
                <a:latin typeface="Calibri" pitchFamily="34" charset="0"/>
                <a:ea typeface="Calibri" pitchFamily="34" charset="-122"/>
                <a:cs typeface="Calibri" pitchFamily="34" charset="-120"/>
              </a:rPr>
              <a:t>$130/kW-yr base revenue confirmed by models. Everett: −$2.2M NPV, 5.9% IRR (needs &gt;$150/kW-yr). Chelsea: +$5.4M NPV, 8.8% IRR. 40% ITC confirmed; domestic content risk limits higher tiers.</a:t>
            </a:r>
            <a:endParaRPr lang="en-US" sz="780" dirty="0"/>
          </a:p>
        </p:txBody>
      </p:sp>
      <p:sp>
        <p:nvSpPr>
          <p:cNvPr id="45" name="Shape 43"/>
          <p:cNvSpPr/>
          <p:nvPr/>
        </p:nvSpPr>
        <p:spPr>
          <a:xfrm>
            <a:off x="0" y="4864608"/>
            <a:ext cx="9144000" cy="274320"/>
          </a:xfrm>
          <a:prstGeom prst="rect">
            <a:avLst/>
          </a:prstGeom>
          <a:solidFill>
            <a:srgbClr val="09182B"/>
          </a:solidFill>
          <a:ln/>
        </p:spPr>
      </p:sp>
      <p:sp>
        <p:nvSpPr>
          <p:cNvPr id="46" name="Text 44"/>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MassGIS OEJE EJ Populations (2020) · Eversource Hosting Capacity Map · National Grid MA SDP · ISO-NE Market Reports · DOER Model Bylaw (Oct 2025) · BESS Financial Models — 231 Beacham (Everett) &amp; 283 Eastern (Chelsea) · NREL ATB 2024</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HOW THE TOOL WORKS: DATA ARCHITECTURE &amp; USER PATHWAYS</a:t>
            </a:r>
            <a:endParaRPr lang="en-US" sz="1100" dirty="0"/>
          </a:p>
        </p:txBody>
      </p:sp>
      <p:sp>
        <p:nvSpPr>
          <p:cNvPr id="4" name="Shape 2"/>
          <p:cNvSpPr/>
          <p:nvPr/>
        </p:nvSpPr>
        <p:spPr>
          <a:xfrm>
            <a:off x="292608" y="749808"/>
            <a:ext cx="2743200" cy="2029968"/>
          </a:xfrm>
          <a:prstGeom prst="rect">
            <a:avLst/>
          </a:prstGeom>
          <a:solidFill>
            <a:srgbClr val="3A5278">
              <a:alpha val="10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292608" y="749808"/>
            <a:ext cx="2743200" cy="347472"/>
          </a:xfrm>
          <a:prstGeom prst="rect">
            <a:avLst/>
          </a:prstGeom>
          <a:solidFill>
            <a:srgbClr val="3A5278"/>
          </a:solidFill>
          <a:ln/>
        </p:spPr>
      </p:sp>
      <p:sp>
        <p:nvSpPr>
          <p:cNvPr id="6" name="Text 4"/>
          <p:cNvSpPr/>
          <p:nvPr/>
        </p:nvSpPr>
        <p:spPr>
          <a:xfrm>
            <a:off x="384048" y="786384"/>
            <a:ext cx="256032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MassDOER Policy Staff</a:t>
            </a:r>
            <a:endParaRPr lang="en-US" sz="1050" dirty="0"/>
          </a:p>
        </p:txBody>
      </p:sp>
      <p:sp>
        <p:nvSpPr>
          <p:cNvPr id="7" name="Shape 5"/>
          <p:cNvSpPr/>
          <p:nvPr/>
        </p:nvSpPr>
        <p:spPr>
          <a:xfrm>
            <a:off x="402336" y="1188720"/>
            <a:ext cx="128016" cy="128016"/>
          </a:xfrm>
          <a:prstGeom prst="ellipse">
            <a:avLst/>
          </a:prstGeom>
          <a:solidFill>
            <a:srgbClr val="3A5278"/>
          </a:solidFill>
          <a:ln/>
        </p:spPr>
      </p:sp>
      <p:sp>
        <p:nvSpPr>
          <p:cNvPr id="8" name="Text 6"/>
          <p:cNvSpPr/>
          <p:nvPr/>
        </p:nvSpPr>
        <p:spPr>
          <a:xfrm>
            <a:off x="603504" y="1143000"/>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Pre-screen 83E procurement bids</a:t>
            </a:r>
            <a:endParaRPr lang="en-US" sz="900" dirty="0"/>
          </a:p>
        </p:txBody>
      </p:sp>
      <p:sp>
        <p:nvSpPr>
          <p:cNvPr id="9" name="Shape 7"/>
          <p:cNvSpPr/>
          <p:nvPr/>
        </p:nvSpPr>
        <p:spPr>
          <a:xfrm>
            <a:off x="402336" y="1572768"/>
            <a:ext cx="128016" cy="128016"/>
          </a:xfrm>
          <a:prstGeom prst="ellipse">
            <a:avLst/>
          </a:prstGeom>
          <a:solidFill>
            <a:srgbClr val="3A5278"/>
          </a:solidFill>
          <a:ln/>
        </p:spPr>
      </p:sp>
      <p:sp>
        <p:nvSpPr>
          <p:cNvPr id="10" name="Text 8"/>
          <p:cNvSpPr/>
          <p:nvPr/>
        </p:nvSpPr>
        <p:spPr>
          <a:xfrm>
            <a:off x="603504" y="1527048"/>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Track 2030 goal progress live</a:t>
            </a:r>
            <a:endParaRPr lang="en-US" sz="900" dirty="0"/>
          </a:p>
        </p:txBody>
      </p:sp>
      <p:sp>
        <p:nvSpPr>
          <p:cNvPr id="11" name="Shape 9"/>
          <p:cNvSpPr/>
          <p:nvPr/>
        </p:nvSpPr>
        <p:spPr>
          <a:xfrm>
            <a:off x="402336" y="1956816"/>
            <a:ext cx="128016" cy="128016"/>
          </a:xfrm>
          <a:prstGeom prst="ellipse">
            <a:avLst/>
          </a:prstGeom>
          <a:solidFill>
            <a:srgbClr val="3A5278"/>
          </a:solidFill>
          <a:ln/>
        </p:spPr>
      </p:sp>
      <p:sp>
        <p:nvSpPr>
          <p:cNvPr id="12" name="Text 10"/>
          <p:cNvSpPr/>
          <p:nvPr/>
        </p:nvSpPr>
        <p:spPr>
          <a:xfrm>
            <a:off x="603504" y="1911096"/>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Validate CIA compliance before approval</a:t>
            </a:r>
            <a:endParaRPr lang="en-US" sz="900" dirty="0"/>
          </a:p>
        </p:txBody>
      </p:sp>
      <p:sp>
        <p:nvSpPr>
          <p:cNvPr id="13" name="Shape 11"/>
          <p:cNvSpPr/>
          <p:nvPr/>
        </p:nvSpPr>
        <p:spPr>
          <a:xfrm>
            <a:off x="402336" y="2340864"/>
            <a:ext cx="128016" cy="128016"/>
          </a:xfrm>
          <a:prstGeom prst="ellipse">
            <a:avLst/>
          </a:prstGeom>
          <a:solidFill>
            <a:srgbClr val="3A5278"/>
          </a:solidFill>
          <a:ln/>
        </p:spPr>
      </p:sp>
      <p:sp>
        <p:nvSpPr>
          <p:cNvPr id="14" name="Text 12"/>
          <p:cNvSpPr/>
          <p:nvPr/>
        </p:nvSpPr>
        <p:spPr>
          <a:xfrm>
            <a:off x="603504" y="2295144"/>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Connect to MassEnviroScreen (in dev.)</a:t>
            </a:r>
            <a:endParaRPr lang="en-US" sz="900" dirty="0"/>
          </a:p>
        </p:txBody>
      </p:sp>
      <p:sp>
        <p:nvSpPr>
          <p:cNvPr id="15" name="Shape 13"/>
          <p:cNvSpPr/>
          <p:nvPr/>
        </p:nvSpPr>
        <p:spPr>
          <a:xfrm>
            <a:off x="3218688" y="749808"/>
            <a:ext cx="2743200" cy="2029968"/>
          </a:xfrm>
          <a:prstGeom prst="rect">
            <a:avLst/>
          </a:prstGeom>
          <a:solidFill>
            <a:srgbClr val="0D7C7B">
              <a:alpha val="10000"/>
            </a:srgbClr>
          </a:solidFill>
          <a:ln/>
          <a:effectLst>
            <a:outerShdw sx="100000" sy="100000" kx="0" ky="0" algn="bl" rotWithShape="0" blurRad="101600" dist="38100" dir="8100000">
              <a:srgbClr val="000000">
                <a:alpha val="13000"/>
              </a:srgbClr>
            </a:outerShdw>
          </a:effectLst>
        </p:spPr>
      </p:sp>
      <p:sp>
        <p:nvSpPr>
          <p:cNvPr id="16" name="Shape 14"/>
          <p:cNvSpPr/>
          <p:nvPr/>
        </p:nvSpPr>
        <p:spPr>
          <a:xfrm>
            <a:off x="3218688" y="749808"/>
            <a:ext cx="2743200" cy="347472"/>
          </a:xfrm>
          <a:prstGeom prst="rect">
            <a:avLst/>
          </a:prstGeom>
          <a:solidFill>
            <a:srgbClr val="0D7C7B"/>
          </a:solidFill>
          <a:ln/>
        </p:spPr>
      </p:sp>
      <p:sp>
        <p:nvSpPr>
          <p:cNvPr id="17" name="Text 15"/>
          <p:cNvSpPr/>
          <p:nvPr/>
        </p:nvSpPr>
        <p:spPr>
          <a:xfrm>
            <a:off x="3310128" y="786384"/>
            <a:ext cx="256032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Private Developers</a:t>
            </a:r>
            <a:endParaRPr lang="en-US" sz="1050" dirty="0"/>
          </a:p>
        </p:txBody>
      </p:sp>
      <p:sp>
        <p:nvSpPr>
          <p:cNvPr id="18" name="Shape 16"/>
          <p:cNvSpPr/>
          <p:nvPr/>
        </p:nvSpPr>
        <p:spPr>
          <a:xfrm>
            <a:off x="3328416" y="1188720"/>
            <a:ext cx="128016" cy="128016"/>
          </a:xfrm>
          <a:prstGeom prst="ellipse">
            <a:avLst/>
          </a:prstGeom>
          <a:solidFill>
            <a:srgbClr val="0D7C7B"/>
          </a:solidFill>
          <a:ln/>
        </p:spPr>
      </p:sp>
      <p:sp>
        <p:nvSpPr>
          <p:cNvPr id="19" name="Text 17"/>
          <p:cNvSpPr/>
          <p:nvPr/>
        </p:nvSpPr>
        <p:spPr>
          <a:xfrm>
            <a:off x="3529584" y="1143000"/>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Score sites before acquisition</a:t>
            </a:r>
            <a:endParaRPr lang="en-US" sz="900" dirty="0"/>
          </a:p>
        </p:txBody>
      </p:sp>
      <p:sp>
        <p:nvSpPr>
          <p:cNvPr id="20" name="Shape 18"/>
          <p:cNvSpPr/>
          <p:nvPr/>
        </p:nvSpPr>
        <p:spPr>
          <a:xfrm>
            <a:off x="3328416" y="1572768"/>
            <a:ext cx="128016" cy="128016"/>
          </a:xfrm>
          <a:prstGeom prst="ellipse">
            <a:avLst/>
          </a:prstGeom>
          <a:solidFill>
            <a:srgbClr val="0D7C7B"/>
          </a:solidFill>
          <a:ln/>
        </p:spPr>
      </p:sp>
      <p:sp>
        <p:nvSpPr>
          <p:cNvPr id="21" name="Text 19"/>
          <p:cNvSpPr/>
          <p:nvPr/>
        </p:nvSpPr>
        <p:spPr>
          <a:xfrm>
            <a:off x="3529584" y="1527048"/>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Model 2hr / 4hr / 8hr duration revenue</a:t>
            </a:r>
            <a:endParaRPr lang="en-US" sz="900" dirty="0"/>
          </a:p>
        </p:txBody>
      </p:sp>
      <p:sp>
        <p:nvSpPr>
          <p:cNvPr id="22" name="Shape 20"/>
          <p:cNvSpPr/>
          <p:nvPr/>
        </p:nvSpPr>
        <p:spPr>
          <a:xfrm>
            <a:off x="3328416" y="1956816"/>
            <a:ext cx="128016" cy="128016"/>
          </a:xfrm>
          <a:prstGeom prst="ellipse">
            <a:avLst/>
          </a:prstGeom>
          <a:solidFill>
            <a:srgbClr val="0D7C7B"/>
          </a:solidFill>
          <a:ln/>
        </p:spPr>
      </p:sp>
      <p:sp>
        <p:nvSpPr>
          <p:cNvPr id="23" name="Text 21"/>
          <p:cNvSpPr/>
          <p:nvPr/>
        </p:nvSpPr>
        <p:spPr>
          <a:xfrm>
            <a:off x="3529584" y="1911096"/>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Stack ITC: base 30% → up to 40%+</a:t>
            </a:r>
            <a:endParaRPr lang="en-US" sz="900" dirty="0"/>
          </a:p>
        </p:txBody>
      </p:sp>
      <p:sp>
        <p:nvSpPr>
          <p:cNvPr id="24" name="Shape 22"/>
          <p:cNvSpPr/>
          <p:nvPr/>
        </p:nvSpPr>
        <p:spPr>
          <a:xfrm>
            <a:off x="3328416" y="2340864"/>
            <a:ext cx="128016" cy="128016"/>
          </a:xfrm>
          <a:prstGeom prst="ellipse">
            <a:avLst/>
          </a:prstGeom>
          <a:solidFill>
            <a:srgbClr val="0D7C7B"/>
          </a:solidFill>
          <a:ln/>
        </p:spPr>
      </p:sp>
      <p:sp>
        <p:nvSpPr>
          <p:cNvPr id="25" name="Text 23"/>
          <p:cNvSpPr/>
          <p:nvPr/>
        </p:nvSpPr>
        <p:spPr>
          <a:xfrm>
            <a:off x="3529584" y="2295144"/>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Identify brownfield sites near substations</a:t>
            </a:r>
            <a:endParaRPr lang="en-US" sz="900" dirty="0"/>
          </a:p>
        </p:txBody>
      </p:sp>
      <p:sp>
        <p:nvSpPr>
          <p:cNvPr id="26" name="Shape 24"/>
          <p:cNvSpPr/>
          <p:nvPr/>
        </p:nvSpPr>
        <p:spPr>
          <a:xfrm>
            <a:off x="6144768" y="749808"/>
            <a:ext cx="2743200" cy="2029968"/>
          </a:xfrm>
          <a:prstGeom prst="rect">
            <a:avLst/>
          </a:prstGeom>
          <a:solidFill>
            <a:srgbClr val="A83D28">
              <a:alpha val="10000"/>
            </a:srgbClr>
          </a:solidFill>
          <a:ln/>
          <a:effectLst>
            <a:outerShdw sx="100000" sy="100000" kx="0" ky="0" algn="bl" rotWithShape="0" blurRad="101600" dist="38100" dir="8100000">
              <a:srgbClr val="000000">
                <a:alpha val="13000"/>
              </a:srgbClr>
            </a:outerShdw>
          </a:effectLst>
        </p:spPr>
      </p:sp>
      <p:sp>
        <p:nvSpPr>
          <p:cNvPr id="27" name="Shape 25"/>
          <p:cNvSpPr/>
          <p:nvPr/>
        </p:nvSpPr>
        <p:spPr>
          <a:xfrm>
            <a:off x="6144768" y="749808"/>
            <a:ext cx="2743200" cy="347472"/>
          </a:xfrm>
          <a:prstGeom prst="rect">
            <a:avLst/>
          </a:prstGeom>
          <a:solidFill>
            <a:srgbClr val="A83D28"/>
          </a:solidFill>
          <a:ln/>
        </p:spPr>
      </p:sp>
      <p:sp>
        <p:nvSpPr>
          <p:cNvPr id="28" name="Text 26"/>
          <p:cNvSpPr/>
          <p:nvPr/>
        </p:nvSpPr>
        <p:spPr>
          <a:xfrm>
            <a:off x="6236208" y="786384"/>
            <a:ext cx="256032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Community Stakeholders</a:t>
            </a:r>
            <a:endParaRPr lang="en-US" sz="1050" dirty="0"/>
          </a:p>
        </p:txBody>
      </p:sp>
      <p:sp>
        <p:nvSpPr>
          <p:cNvPr id="29" name="Shape 27"/>
          <p:cNvSpPr/>
          <p:nvPr/>
        </p:nvSpPr>
        <p:spPr>
          <a:xfrm>
            <a:off x="6254496" y="1188720"/>
            <a:ext cx="128016" cy="128016"/>
          </a:xfrm>
          <a:prstGeom prst="ellipse">
            <a:avLst/>
          </a:prstGeom>
          <a:solidFill>
            <a:srgbClr val="A83D28"/>
          </a:solidFill>
          <a:ln/>
        </p:spPr>
      </p:sp>
      <p:sp>
        <p:nvSpPr>
          <p:cNvPr id="30" name="Text 28"/>
          <p:cNvSpPr/>
          <p:nvPr/>
        </p:nvSpPr>
        <p:spPr>
          <a:xfrm>
            <a:off x="6455664" y="1143000"/>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View energy burden by neighborhood</a:t>
            </a:r>
            <a:endParaRPr lang="en-US" sz="900" dirty="0"/>
          </a:p>
        </p:txBody>
      </p:sp>
      <p:sp>
        <p:nvSpPr>
          <p:cNvPr id="31" name="Shape 29"/>
          <p:cNvSpPr/>
          <p:nvPr/>
        </p:nvSpPr>
        <p:spPr>
          <a:xfrm>
            <a:off x="6254496" y="1572768"/>
            <a:ext cx="128016" cy="128016"/>
          </a:xfrm>
          <a:prstGeom prst="ellipse">
            <a:avLst/>
          </a:prstGeom>
          <a:solidFill>
            <a:srgbClr val="A83D28"/>
          </a:solidFill>
          <a:ln/>
        </p:spPr>
      </p:sp>
      <p:sp>
        <p:nvSpPr>
          <p:cNvPr id="32" name="Text 30"/>
          <p:cNvSpPr/>
          <p:nvPr/>
        </p:nvSpPr>
        <p:spPr>
          <a:xfrm>
            <a:off x="6455664" y="1527048"/>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Access CIA trigger flags</a:t>
            </a:r>
            <a:endParaRPr lang="en-US" sz="900" dirty="0"/>
          </a:p>
        </p:txBody>
      </p:sp>
      <p:sp>
        <p:nvSpPr>
          <p:cNvPr id="33" name="Shape 31"/>
          <p:cNvSpPr/>
          <p:nvPr/>
        </p:nvSpPr>
        <p:spPr>
          <a:xfrm>
            <a:off x="6254496" y="1956816"/>
            <a:ext cx="128016" cy="128016"/>
          </a:xfrm>
          <a:prstGeom prst="ellipse">
            <a:avLst/>
          </a:prstGeom>
          <a:solidFill>
            <a:srgbClr val="A83D28"/>
          </a:solidFill>
          <a:ln/>
        </p:spPr>
      </p:sp>
      <p:sp>
        <p:nvSpPr>
          <p:cNvPr id="34" name="Text 32"/>
          <p:cNvSpPr/>
          <p:nvPr/>
        </p:nvSpPr>
        <p:spPr>
          <a:xfrm>
            <a:off x="6455664" y="1911096"/>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Track host community agreement values</a:t>
            </a:r>
            <a:endParaRPr lang="en-US" sz="900" dirty="0"/>
          </a:p>
        </p:txBody>
      </p:sp>
      <p:sp>
        <p:nvSpPr>
          <p:cNvPr id="35" name="Shape 33"/>
          <p:cNvSpPr/>
          <p:nvPr/>
        </p:nvSpPr>
        <p:spPr>
          <a:xfrm>
            <a:off x="6254496" y="2340864"/>
            <a:ext cx="128016" cy="128016"/>
          </a:xfrm>
          <a:prstGeom prst="ellipse">
            <a:avLst/>
          </a:prstGeom>
          <a:solidFill>
            <a:srgbClr val="A83D28"/>
          </a:solidFill>
          <a:ln/>
        </p:spPr>
      </p:sp>
      <p:sp>
        <p:nvSpPr>
          <p:cNvPr id="36" name="Text 34"/>
          <p:cNvSpPr/>
          <p:nvPr/>
        </p:nvSpPr>
        <p:spPr>
          <a:xfrm>
            <a:off x="6455664" y="2295144"/>
            <a:ext cx="2340864" cy="347472"/>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Exercise independent CIA review rights</a:t>
            </a:r>
            <a:endParaRPr lang="en-US" sz="900" dirty="0"/>
          </a:p>
        </p:txBody>
      </p:sp>
      <p:sp>
        <p:nvSpPr>
          <p:cNvPr id="37" name="Text 35"/>
          <p:cNvSpPr/>
          <p:nvPr/>
        </p:nvSpPr>
        <p:spPr>
          <a:xfrm>
            <a:off x="320040" y="2880360"/>
            <a:ext cx="8503920" cy="256032"/>
          </a:xfrm>
          <a:prstGeom prst="rect">
            <a:avLst/>
          </a:prstGeom>
          <a:noFill/>
          <a:ln/>
        </p:spPr>
        <p:txBody>
          <a:bodyPr wrap="square" rtlCol="0" anchor="ctr"/>
          <a:lstStyle/>
          <a:p>
            <a:pPr indent="0" marL="0">
              <a:buNone/>
            </a:pPr>
            <a:r>
              <a:rPr lang="en-US" sz="950" b="1" spc="100" kern="0" dirty="0">
                <a:solidFill>
                  <a:srgbClr val="0D7C7B"/>
                </a:solidFill>
                <a:latin typeface="Calibri" pitchFamily="34" charset="0"/>
                <a:ea typeface="Calibri" pitchFamily="34" charset="-122"/>
                <a:cs typeface="Calibri" pitchFamily="34" charset="-120"/>
              </a:rPr>
              <a:t>PRIMARY DATA SOURCES INTEGRATED INTO THE TOOL</a:t>
            </a:r>
            <a:endParaRPr lang="en-US" sz="950" dirty="0"/>
          </a:p>
        </p:txBody>
      </p:sp>
      <p:sp>
        <p:nvSpPr>
          <p:cNvPr id="38" name="Shape 36"/>
          <p:cNvSpPr/>
          <p:nvPr/>
        </p:nvSpPr>
        <p:spPr>
          <a:xfrm>
            <a:off x="320040" y="3218688"/>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39" name="Text 37"/>
          <p:cNvSpPr/>
          <p:nvPr/>
        </p:nvSpPr>
        <p:spPr>
          <a:xfrm>
            <a:off x="411480" y="3255264"/>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ISO-NE isoexpress</a:t>
            </a:r>
            <a:endParaRPr lang="en-US" sz="950" dirty="0"/>
          </a:p>
        </p:txBody>
      </p:sp>
      <p:sp>
        <p:nvSpPr>
          <p:cNvPr id="40" name="Text 38"/>
          <p:cNvSpPr/>
          <p:nvPr/>
        </p:nvSpPr>
        <p:spPr>
          <a:xfrm>
            <a:off x="411480" y="3456432"/>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LMP zone data, FCA results, load forecasts</a:t>
            </a:r>
            <a:endParaRPr lang="en-US" sz="800" dirty="0"/>
          </a:p>
        </p:txBody>
      </p:sp>
      <p:sp>
        <p:nvSpPr>
          <p:cNvPr id="41" name="Text 39"/>
          <p:cNvSpPr/>
          <p:nvPr/>
        </p:nvSpPr>
        <p:spPr>
          <a:xfrm>
            <a:off x="411480" y="3602736"/>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iso-ne.com</a:t>
            </a:r>
            <a:endParaRPr lang="en-US" sz="700" dirty="0"/>
          </a:p>
        </p:txBody>
      </p:sp>
      <p:sp>
        <p:nvSpPr>
          <p:cNvPr id="42" name="Shape 40"/>
          <p:cNvSpPr/>
          <p:nvPr/>
        </p:nvSpPr>
        <p:spPr>
          <a:xfrm>
            <a:off x="3291840" y="3218688"/>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43" name="Text 41"/>
          <p:cNvSpPr/>
          <p:nvPr/>
        </p:nvSpPr>
        <p:spPr>
          <a:xfrm>
            <a:off x="3383280" y="3255264"/>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Eversource Hosting Map</a:t>
            </a:r>
            <a:endParaRPr lang="en-US" sz="950" dirty="0"/>
          </a:p>
        </p:txBody>
      </p:sp>
      <p:sp>
        <p:nvSpPr>
          <p:cNvPr id="44" name="Text 42"/>
          <p:cNvSpPr/>
          <p:nvPr/>
        </p:nvSpPr>
        <p:spPr>
          <a:xfrm>
            <a:off x="3383280" y="3456432"/>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Circuit-level BESS hosting capacity, DER costs</a:t>
            </a:r>
            <a:endParaRPr lang="en-US" sz="800" dirty="0"/>
          </a:p>
        </p:txBody>
      </p:sp>
      <p:sp>
        <p:nvSpPr>
          <p:cNvPr id="45" name="Text 43"/>
          <p:cNvSpPr/>
          <p:nvPr/>
        </p:nvSpPr>
        <p:spPr>
          <a:xfrm>
            <a:off x="3383280" y="3602736"/>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eversource.com</a:t>
            </a:r>
            <a:endParaRPr lang="en-US" sz="700" dirty="0"/>
          </a:p>
        </p:txBody>
      </p:sp>
      <p:sp>
        <p:nvSpPr>
          <p:cNvPr id="46" name="Shape 44"/>
          <p:cNvSpPr/>
          <p:nvPr/>
        </p:nvSpPr>
        <p:spPr>
          <a:xfrm>
            <a:off x="6126480" y="3218688"/>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47" name="Text 45"/>
          <p:cNvSpPr/>
          <p:nvPr/>
        </p:nvSpPr>
        <p:spPr>
          <a:xfrm>
            <a:off x="6217920" y="3255264"/>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National Grid SDP</a:t>
            </a:r>
            <a:endParaRPr lang="en-US" sz="950" dirty="0"/>
          </a:p>
        </p:txBody>
      </p:sp>
      <p:sp>
        <p:nvSpPr>
          <p:cNvPr id="48" name="Text 46"/>
          <p:cNvSpPr/>
          <p:nvPr/>
        </p:nvSpPr>
        <p:spPr>
          <a:xfrm>
            <a:off x="6217920" y="3456432"/>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Middlesex County feeder-level hosting capacity</a:t>
            </a:r>
            <a:endParaRPr lang="en-US" sz="800" dirty="0"/>
          </a:p>
        </p:txBody>
      </p:sp>
      <p:sp>
        <p:nvSpPr>
          <p:cNvPr id="49" name="Text 47"/>
          <p:cNvSpPr/>
          <p:nvPr/>
        </p:nvSpPr>
        <p:spPr>
          <a:xfrm>
            <a:off x="6217920" y="3602736"/>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nationalgridus.com</a:t>
            </a:r>
            <a:endParaRPr lang="en-US" sz="700" dirty="0"/>
          </a:p>
        </p:txBody>
      </p:sp>
      <p:sp>
        <p:nvSpPr>
          <p:cNvPr id="50" name="Shape 48"/>
          <p:cNvSpPr/>
          <p:nvPr/>
        </p:nvSpPr>
        <p:spPr>
          <a:xfrm>
            <a:off x="320040" y="3785616"/>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51" name="Text 49"/>
          <p:cNvSpPr/>
          <p:nvPr/>
        </p:nvSpPr>
        <p:spPr>
          <a:xfrm>
            <a:off x="411480" y="3822192"/>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U.S. DOE Atlas</a:t>
            </a:r>
            <a:endParaRPr lang="en-US" sz="950" dirty="0"/>
          </a:p>
        </p:txBody>
      </p:sp>
      <p:sp>
        <p:nvSpPr>
          <p:cNvPr id="52" name="Text 50"/>
          <p:cNvSpPr/>
          <p:nvPr/>
        </p:nvSpPr>
        <p:spPr>
          <a:xfrm>
            <a:off x="411480" y="4023360"/>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National hosting capacity benchmarks &amp; links</a:t>
            </a:r>
            <a:endParaRPr lang="en-US" sz="800" dirty="0"/>
          </a:p>
        </p:txBody>
      </p:sp>
      <p:sp>
        <p:nvSpPr>
          <p:cNvPr id="53" name="Text 51"/>
          <p:cNvSpPr/>
          <p:nvPr/>
        </p:nvSpPr>
        <p:spPr>
          <a:xfrm>
            <a:off x="411480" y="4169664"/>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energy.gov/cmei</a:t>
            </a:r>
            <a:endParaRPr lang="en-US" sz="700" dirty="0"/>
          </a:p>
        </p:txBody>
      </p:sp>
      <p:sp>
        <p:nvSpPr>
          <p:cNvPr id="54" name="Shape 52"/>
          <p:cNvSpPr/>
          <p:nvPr/>
        </p:nvSpPr>
        <p:spPr>
          <a:xfrm>
            <a:off x="3291840" y="3785616"/>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55" name="Text 53"/>
          <p:cNvSpPr/>
          <p:nvPr/>
        </p:nvSpPr>
        <p:spPr>
          <a:xfrm>
            <a:off x="3383280" y="3822192"/>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MassGIS OEJE 2020</a:t>
            </a:r>
            <a:endParaRPr lang="en-US" sz="950" dirty="0"/>
          </a:p>
        </p:txBody>
      </p:sp>
      <p:sp>
        <p:nvSpPr>
          <p:cNvPr id="56" name="Text 54"/>
          <p:cNvSpPr/>
          <p:nvPr/>
        </p:nvSpPr>
        <p:spPr>
          <a:xfrm>
            <a:off x="3383280" y="4023360"/>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EJ block group designations, CIA indicators</a:t>
            </a:r>
            <a:endParaRPr lang="en-US" sz="800" dirty="0"/>
          </a:p>
        </p:txBody>
      </p:sp>
      <p:sp>
        <p:nvSpPr>
          <p:cNvPr id="57" name="Text 55"/>
          <p:cNvSpPr/>
          <p:nvPr/>
        </p:nvSpPr>
        <p:spPr>
          <a:xfrm>
            <a:off x="3383280" y="4169664"/>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mass.gov/massgis</a:t>
            </a:r>
            <a:endParaRPr lang="en-US" sz="700" dirty="0"/>
          </a:p>
        </p:txBody>
      </p:sp>
      <p:sp>
        <p:nvSpPr>
          <p:cNvPr id="58" name="Shape 56"/>
          <p:cNvSpPr/>
          <p:nvPr/>
        </p:nvSpPr>
        <p:spPr>
          <a:xfrm>
            <a:off x="6126480" y="3785616"/>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59" name="Text 57"/>
          <p:cNvSpPr/>
          <p:nvPr/>
        </p:nvSpPr>
        <p:spPr>
          <a:xfrm>
            <a:off x="6217920" y="3822192"/>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NREL ATB 2025</a:t>
            </a:r>
            <a:endParaRPr lang="en-US" sz="950" dirty="0"/>
          </a:p>
        </p:txBody>
      </p:sp>
      <p:sp>
        <p:nvSpPr>
          <p:cNvPr id="60" name="Text 58"/>
          <p:cNvSpPr/>
          <p:nvPr/>
        </p:nvSpPr>
        <p:spPr>
          <a:xfrm>
            <a:off x="6217920" y="4023360"/>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Installed cost projections — validated by financial models</a:t>
            </a:r>
            <a:endParaRPr lang="en-US" sz="800" dirty="0"/>
          </a:p>
        </p:txBody>
      </p:sp>
      <p:sp>
        <p:nvSpPr>
          <p:cNvPr id="61" name="Text 59"/>
          <p:cNvSpPr/>
          <p:nvPr/>
        </p:nvSpPr>
        <p:spPr>
          <a:xfrm>
            <a:off x="6217920" y="4169664"/>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nrel.gov</a:t>
            </a:r>
            <a:endParaRPr lang="en-US" sz="700" dirty="0"/>
          </a:p>
        </p:txBody>
      </p:sp>
      <p:sp>
        <p:nvSpPr>
          <p:cNvPr id="62" name="Shape 60"/>
          <p:cNvSpPr/>
          <p:nvPr/>
        </p:nvSpPr>
        <p:spPr>
          <a:xfrm>
            <a:off x="320040" y="4352544"/>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63" name="Text 61"/>
          <p:cNvSpPr/>
          <p:nvPr/>
        </p:nvSpPr>
        <p:spPr>
          <a:xfrm>
            <a:off x="411480" y="4389120"/>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DOER Model Bylaw</a:t>
            </a:r>
            <a:endParaRPr lang="en-US" sz="950" dirty="0"/>
          </a:p>
        </p:txBody>
      </p:sp>
      <p:sp>
        <p:nvSpPr>
          <p:cNvPr id="64" name="Text 62"/>
          <p:cNvSpPr/>
          <p:nvPr/>
        </p:nvSpPr>
        <p:spPr>
          <a:xfrm>
            <a:off x="411480" y="4590288"/>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3-tier BESS zoning framework (Oct 2025)</a:t>
            </a:r>
            <a:endParaRPr lang="en-US" sz="800" dirty="0"/>
          </a:p>
        </p:txBody>
      </p:sp>
      <p:sp>
        <p:nvSpPr>
          <p:cNvPr id="65" name="Text 63"/>
          <p:cNvSpPr/>
          <p:nvPr/>
        </p:nvSpPr>
        <p:spPr>
          <a:xfrm>
            <a:off x="411480" y="4736592"/>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mass.gov/doer</a:t>
            </a:r>
            <a:endParaRPr lang="en-US" sz="700" dirty="0"/>
          </a:p>
        </p:txBody>
      </p:sp>
      <p:sp>
        <p:nvSpPr>
          <p:cNvPr id="66" name="Shape 64"/>
          <p:cNvSpPr/>
          <p:nvPr/>
        </p:nvSpPr>
        <p:spPr>
          <a:xfrm>
            <a:off x="3291840" y="4352544"/>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67" name="Text 65"/>
          <p:cNvSpPr/>
          <p:nvPr/>
        </p:nvSpPr>
        <p:spPr>
          <a:xfrm>
            <a:off x="3383280" y="4389120"/>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MA Zoning Atlas</a:t>
            </a:r>
            <a:endParaRPr lang="en-US" sz="950" dirty="0"/>
          </a:p>
        </p:txBody>
      </p:sp>
      <p:sp>
        <p:nvSpPr>
          <p:cNvPr id="68" name="Text 66"/>
          <p:cNvSpPr/>
          <p:nvPr/>
        </p:nvSpPr>
        <p:spPr>
          <a:xfrm>
            <a:off x="3383280" y="4590288"/>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Municipal industrial/commercial zoning</a:t>
            </a:r>
            <a:endParaRPr lang="en-US" sz="800" dirty="0"/>
          </a:p>
        </p:txBody>
      </p:sp>
      <p:sp>
        <p:nvSpPr>
          <p:cNvPr id="69" name="Text 67"/>
          <p:cNvSpPr/>
          <p:nvPr/>
        </p:nvSpPr>
        <p:spPr>
          <a:xfrm>
            <a:off x="3383280" y="4736592"/>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zoningatlas.org/ma</a:t>
            </a:r>
            <a:endParaRPr lang="en-US" sz="700" dirty="0"/>
          </a:p>
        </p:txBody>
      </p:sp>
      <p:sp>
        <p:nvSpPr>
          <p:cNvPr id="70" name="Shape 68"/>
          <p:cNvSpPr/>
          <p:nvPr/>
        </p:nvSpPr>
        <p:spPr>
          <a:xfrm>
            <a:off x="6126480" y="4352544"/>
            <a:ext cx="2834640" cy="502920"/>
          </a:xfrm>
          <a:prstGeom prst="rect">
            <a:avLst/>
          </a:prstGeom>
          <a:solidFill>
            <a:srgbClr val="E5EAF1"/>
          </a:solidFill>
          <a:ln/>
          <a:effectLst>
            <a:outerShdw sx="100000" sy="100000" kx="0" ky="0" algn="bl" rotWithShape="0" blurRad="101600" dist="38100" dir="8100000">
              <a:srgbClr val="000000">
                <a:alpha val="13000"/>
              </a:srgbClr>
            </a:outerShdw>
          </a:effectLst>
        </p:spPr>
      </p:sp>
      <p:sp>
        <p:nvSpPr>
          <p:cNvPr id="71" name="Text 69"/>
          <p:cNvSpPr/>
          <p:nvPr/>
        </p:nvSpPr>
        <p:spPr>
          <a:xfrm>
            <a:off x="6217920" y="4389120"/>
            <a:ext cx="2670048" cy="201168"/>
          </a:xfrm>
          <a:prstGeom prst="rect">
            <a:avLst/>
          </a:prstGeom>
          <a:noFill/>
          <a:ln/>
        </p:spPr>
        <p:txBody>
          <a:bodyPr wrap="square" lIns="0" tIns="0" rIns="0" bIns="0" rtlCol="0" anchor="ctr"/>
          <a:lstStyle/>
          <a:p>
            <a:pPr indent="0" marL="0">
              <a:buNone/>
            </a:pPr>
            <a:r>
              <a:rPr lang="en-US" sz="950" b="1" dirty="0">
                <a:solidFill>
                  <a:srgbClr val="0D7C7B"/>
                </a:solidFill>
                <a:latin typeface="Calibri" pitchFamily="34" charset="0"/>
                <a:ea typeface="Calibri" pitchFamily="34" charset="-122"/>
                <a:cs typeface="Calibri" pitchFamily="34" charset="-120"/>
              </a:rPr>
              <a:t>BESS Financial Models</a:t>
            </a:r>
            <a:endParaRPr lang="en-US" sz="950" dirty="0"/>
          </a:p>
        </p:txBody>
      </p:sp>
      <p:sp>
        <p:nvSpPr>
          <p:cNvPr id="72" name="Text 70"/>
          <p:cNvSpPr/>
          <p:nvPr/>
        </p:nvSpPr>
        <p:spPr>
          <a:xfrm>
            <a:off x="6217920" y="4590288"/>
            <a:ext cx="2670048" cy="164592"/>
          </a:xfrm>
          <a:prstGeom prst="rect">
            <a:avLst/>
          </a:prstGeom>
          <a:noFill/>
          <a:ln/>
        </p:spPr>
        <p:txBody>
          <a:bodyPr wrap="square" lIns="0" tIns="0" rIns="0" bIns="0" rtlCol="0" anchor="ctr"/>
          <a:lstStyle/>
          <a:p>
            <a:pPr indent="0" marL="0">
              <a:buNone/>
            </a:pPr>
            <a:r>
              <a:rPr lang="en-US" sz="800" dirty="0">
                <a:solidFill>
                  <a:srgbClr val="617283"/>
                </a:solidFill>
                <a:latin typeface="Calibri" pitchFamily="34" charset="0"/>
                <a:ea typeface="Calibri" pitchFamily="34" charset="-122"/>
                <a:cs typeface="Calibri" pitchFamily="34" charset="-120"/>
              </a:rPr>
              <a:t>Site-specific screening models — Everett &amp; Chelsea</a:t>
            </a:r>
            <a:endParaRPr lang="en-US" sz="800" dirty="0"/>
          </a:p>
        </p:txBody>
      </p:sp>
      <p:sp>
        <p:nvSpPr>
          <p:cNvPr id="73" name="Text 71"/>
          <p:cNvSpPr/>
          <p:nvPr/>
        </p:nvSpPr>
        <p:spPr>
          <a:xfrm>
            <a:off x="6217920" y="4736592"/>
            <a:ext cx="2670048" cy="128016"/>
          </a:xfrm>
          <a:prstGeom prst="rect">
            <a:avLst/>
          </a:prstGeom>
          <a:noFill/>
          <a:ln/>
        </p:spPr>
        <p:txBody>
          <a:bodyPr wrap="square" lIns="0" tIns="0" rIns="0" bIns="0" rtlCol="0" anchor="ctr"/>
          <a:lstStyle/>
          <a:p>
            <a:pPr indent="0" marL="0">
              <a:buNone/>
            </a:pPr>
            <a:r>
              <a:rPr lang="en-US" sz="700" i="1" dirty="0">
                <a:solidFill>
                  <a:srgbClr val="11988F"/>
                </a:solidFill>
                <a:latin typeface="Calibri" pitchFamily="34" charset="0"/>
                <a:ea typeface="Calibri" pitchFamily="34" charset="-122"/>
                <a:cs typeface="Calibri" pitchFamily="34" charset="-120"/>
              </a:rPr>
              <a:t>Project documents</a:t>
            </a:r>
            <a:endParaRPr lang="en-US" sz="700" dirty="0"/>
          </a:p>
        </p:txBody>
      </p:sp>
      <p:sp>
        <p:nvSpPr>
          <p:cNvPr id="74" name="Shape 72"/>
          <p:cNvSpPr/>
          <p:nvPr/>
        </p:nvSpPr>
        <p:spPr>
          <a:xfrm>
            <a:off x="0" y="4864608"/>
            <a:ext cx="9144000" cy="274320"/>
          </a:xfrm>
          <a:prstGeom prst="rect">
            <a:avLst/>
          </a:prstGeom>
          <a:solidFill>
            <a:srgbClr val="09182B"/>
          </a:solidFill>
          <a:ln/>
        </p:spPr>
      </p:sp>
      <p:sp>
        <p:nvSpPr>
          <p:cNvPr id="75" name="Text 73"/>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Data compiled April 2026 · All sources publicly accessible · BESS financial screening models added as primary source for parcel-specific capacity and CAPEX validation</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LAYER 1: ENVIRONMENTAL JUSTICE SCREENING — MANDATORY MARCH 2026</a:t>
            </a:r>
            <a:endParaRPr lang="en-US" sz="1100" dirty="0"/>
          </a:p>
        </p:txBody>
      </p:sp>
      <p:sp>
        <p:nvSpPr>
          <p:cNvPr id="4" name="Shape 2"/>
          <p:cNvSpPr/>
          <p:nvPr/>
        </p:nvSpPr>
        <p:spPr>
          <a:xfrm>
            <a:off x="320040" y="777240"/>
            <a:ext cx="8503920" cy="658368"/>
          </a:xfrm>
          <a:prstGeom prst="rect">
            <a:avLst/>
          </a:prstGeom>
          <a:solidFill>
            <a:srgbClr val="A83D28">
              <a:alpha val="12000"/>
            </a:srgbClr>
          </a:solidFill>
          <a:ln w="12700">
            <a:solidFill>
              <a:srgbClr val="A83D28"/>
            </a:solidFill>
            <a:prstDash val="solid"/>
          </a:ln>
        </p:spPr>
      </p:sp>
      <p:sp>
        <p:nvSpPr>
          <p:cNvPr id="5" name="Text 3"/>
          <p:cNvSpPr/>
          <p:nvPr/>
        </p:nvSpPr>
        <p:spPr>
          <a:xfrm>
            <a:off x="457200" y="822960"/>
            <a:ext cx="8321040" cy="548640"/>
          </a:xfrm>
          <a:prstGeom prst="rect">
            <a:avLst/>
          </a:prstGeom>
          <a:noFill/>
          <a:ln/>
        </p:spPr>
        <p:txBody>
          <a:bodyPr wrap="square" rtlCol="0" anchor="ctr"/>
          <a:lstStyle/>
          <a:p>
            <a:pPr indent="0" marL="0">
              <a:lnSpc>
                <a:spcPct val="120000"/>
              </a:lnSpc>
              <a:buNone/>
            </a:pPr>
            <a:r>
              <a:rPr lang="en-US" sz="900" dirty="0">
                <a:solidFill>
                  <a:srgbClr val="09182B"/>
                </a:solidFill>
                <a:latin typeface="Calibri" pitchFamily="34" charset="0"/>
                <a:ea typeface="Calibri" pitchFamily="34" charset="-122"/>
                <a:cs typeface="Calibri" pitchFamily="34" charset="-120"/>
              </a:rPr>
              <a:t>⚖️  Massachusetts CIA Requirement (Effective March 2026): All new BESS in EJ communities must complete a 33-indicator Cumulative Impact Analysis covering pollution burden, health outcomes, and socioeconomic factors before state permitting. Massachusetts became the first state to mandate CIA for clean energy infrastructure (Chapter 8, Acts of 2021; OEJE CIA Standards Jan 23, 2026).</a:t>
            </a:r>
            <a:endParaRPr lang="en-US" sz="900" dirty="0"/>
          </a:p>
        </p:txBody>
      </p:sp>
      <p:sp>
        <p:nvSpPr>
          <p:cNvPr id="6" name="Shape 4"/>
          <p:cNvSpPr/>
          <p:nvPr/>
        </p:nvSpPr>
        <p:spPr>
          <a:xfrm>
            <a:off x="320040" y="1536192"/>
            <a:ext cx="4114800" cy="320040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7" name="Shape 5"/>
          <p:cNvSpPr/>
          <p:nvPr/>
        </p:nvSpPr>
        <p:spPr>
          <a:xfrm>
            <a:off x="320040" y="1536192"/>
            <a:ext cx="4114800" cy="329184"/>
          </a:xfrm>
          <a:prstGeom prst="rect">
            <a:avLst/>
          </a:prstGeom>
          <a:solidFill>
            <a:srgbClr val="A83D28"/>
          </a:solidFill>
          <a:ln/>
        </p:spPr>
      </p:sp>
      <p:sp>
        <p:nvSpPr>
          <p:cNvPr id="8" name="Text 6"/>
          <p:cNvSpPr/>
          <p:nvPr/>
        </p:nvSpPr>
        <p:spPr>
          <a:xfrm>
            <a:off x="457200" y="1572768"/>
            <a:ext cx="384048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 EJ Designation Criteria (OEJE)</a:t>
            </a:r>
            <a:endParaRPr lang="en-US" sz="1050" dirty="0"/>
          </a:p>
        </p:txBody>
      </p:sp>
      <p:sp>
        <p:nvSpPr>
          <p:cNvPr id="9" name="Shape 7"/>
          <p:cNvSpPr/>
          <p:nvPr/>
        </p:nvSpPr>
        <p:spPr>
          <a:xfrm>
            <a:off x="384048" y="1956816"/>
            <a:ext cx="3977640" cy="457200"/>
          </a:xfrm>
          <a:prstGeom prst="rect">
            <a:avLst/>
          </a:prstGeom>
          <a:solidFill>
            <a:srgbClr val="F4F1EB"/>
          </a:solidFill>
          <a:ln/>
        </p:spPr>
      </p:sp>
      <p:sp>
        <p:nvSpPr>
          <p:cNvPr id="10" name="Text 8"/>
          <p:cNvSpPr/>
          <p:nvPr/>
        </p:nvSpPr>
        <p:spPr>
          <a:xfrm>
            <a:off x="475488" y="1993392"/>
            <a:ext cx="1051560" cy="384048"/>
          </a:xfrm>
          <a:prstGeom prst="rect">
            <a:avLst/>
          </a:prstGeom>
          <a:noFill/>
          <a:ln/>
        </p:spPr>
        <p:txBody>
          <a:bodyPr wrap="square" lIns="0" tIns="0" rIns="0" bIns="0" rtlCol="0" anchor="ctr"/>
          <a:lstStyle/>
          <a:p>
            <a:pPr indent="0" marL="0">
              <a:buNone/>
            </a:pPr>
            <a:r>
              <a:rPr lang="en-US" sz="900" b="1" dirty="0">
                <a:solidFill>
                  <a:srgbClr val="A83D28"/>
                </a:solidFill>
                <a:latin typeface="Calibri" pitchFamily="34" charset="0"/>
                <a:ea typeface="Calibri" pitchFamily="34" charset="-122"/>
                <a:cs typeface="Calibri" pitchFamily="34" charset="-120"/>
              </a:rPr>
              <a:t>Criterion 1:</a:t>
            </a:r>
            <a:endParaRPr lang="en-US" sz="900" dirty="0"/>
          </a:p>
        </p:txBody>
      </p:sp>
      <p:sp>
        <p:nvSpPr>
          <p:cNvPr id="11" name="Text 9"/>
          <p:cNvSpPr/>
          <p:nvPr/>
        </p:nvSpPr>
        <p:spPr>
          <a:xfrm>
            <a:off x="1554480" y="1993392"/>
            <a:ext cx="2697480" cy="384048"/>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Minority population ≥ 40% of census block group</a:t>
            </a:r>
            <a:endParaRPr lang="en-US" sz="900" dirty="0"/>
          </a:p>
        </p:txBody>
      </p:sp>
      <p:sp>
        <p:nvSpPr>
          <p:cNvPr id="12" name="Shape 10"/>
          <p:cNvSpPr/>
          <p:nvPr/>
        </p:nvSpPr>
        <p:spPr>
          <a:xfrm>
            <a:off x="384048" y="2478024"/>
            <a:ext cx="3977640" cy="457200"/>
          </a:xfrm>
          <a:prstGeom prst="rect">
            <a:avLst/>
          </a:prstGeom>
          <a:solidFill>
            <a:srgbClr val="FFFFFF"/>
          </a:solidFill>
          <a:ln/>
        </p:spPr>
      </p:sp>
      <p:sp>
        <p:nvSpPr>
          <p:cNvPr id="13" name="Text 11"/>
          <p:cNvSpPr/>
          <p:nvPr/>
        </p:nvSpPr>
        <p:spPr>
          <a:xfrm>
            <a:off x="475488" y="2514600"/>
            <a:ext cx="1051560" cy="384048"/>
          </a:xfrm>
          <a:prstGeom prst="rect">
            <a:avLst/>
          </a:prstGeom>
          <a:noFill/>
          <a:ln/>
        </p:spPr>
        <p:txBody>
          <a:bodyPr wrap="square" lIns="0" tIns="0" rIns="0" bIns="0" rtlCol="0" anchor="ctr"/>
          <a:lstStyle/>
          <a:p>
            <a:pPr indent="0" marL="0">
              <a:buNone/>
            </a:pPr>
            <a:r>
              <a:rPr lang="en-US" sz="900" b="1" dirty="0">
                <a:solidFill>
                  <a:srgbClr val="A83D28"/>
                </a:solidFill>
                <a:latin typeface="Calibri" pitchFamily="34" charset="0"/>
                <a:ea typeface="Calibri" pitchFamily="34" charset="-122"/>
                <a:cs typeface="Calibri" pitchFamily="34" charset="-120"/>
              </a:rPr>
              <a:t>Criterion 2:</a:t>
            </a:r>
            <a:endParaRPr lang="en-US" sz="900" dirty="0"/>
          </a:p>
        </p:txBody>
      </p:sp>
      <p:sp>
        <p:nvSpPr>
          <p:cNvPr id="14" name="Text 12"/>
          <p:cNvSpPr/>
          <p:nvPr/>
        </p:nvSpPr>
        <p:spPr>
          <a:xfrm>
            <a:off x="1554480" y="2514600"/>
            <a:ext cx="2697480" cy="384048"/>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Median HH income ≤ 65% of statewide median (~$54,850)</a:t>
            </a:r>
            <a:endParaRPr lang="en-US" sz="900" dirty="0"/>
          </a:p>
        </p:txBody>
      </p:sp>
      <p:sp>
        <p:nvSpPr>
          <p:cNvPr id="15" name="Shape 13"/>
          <p:cNvSpPr/>
          <p:nvPr/>
        </p:nvSpPr>
        <p:spPr>
          <a:xfrm>
            <a:off x="384048" y="2999232"/>
            <a:ext cx="3977640" cy="457200"/>
          </a:xfrm>
          <a:prstGeom prst="rect">
            <a:avLst/>
          </a:prstGeom>
          <a:solidFill>
            <a:srgbClr val="F4F1EB"/>
          </a:solidFill>
          <a:ln/>
        </p:spPr>
      </p:sp>
      <p:sp>
        <p:nvSpPr>
          <p:cNvPr id="16" name="Text 14"/>
          <p:cNvSpPr/>
          <p:nvPr/>
        </p:nvSpPr>
        <p:spPr>
          <a:xfrm>
            <a:off x="475488" y="3035808"/>
            <a:ext cx="1051560" cy="384048"/>
          </a:xfrm>
          <a:prstGeom prst="rect">
            <a:avLst/>
          </a:prstGeom>
          <a:noFill/>
          <a:ln/>
        </p:spPr>
        <p:txBody>
          <a:bodyPr wrap="square" lIns="0" tIns="0" rIns="0" bIns="0" rtlCol="0" anchor="ctr"/>
          <a:lstStyle/>
          <a:p>
            <a:pPr indent="0" marL="0">
              <a:buNone/>
            </a:pPr>
            <a:r>
              <a:rPr lang="en-US" sz="900" b="1" dirty="0">
                <a:solidFill>
                  <a:srgbClr val="A83D28"/>
                </a:solidFill>
                <a:latin typeface="Calibri" pitchFamily="34" charset="0"/>
                <a:ea typeface="Calibri" pitchFamily="34" charset="-122"/>
                <a:cs typeface="Calibri" pitchFamily="34" charset="-120"/>
              </a:rPr>
              <a:t>Criterion 3:</a:t>
            </a:r>
            <a:endParaRPr lang="en-US" sz="900" dirty="0"/>
          </a:p>
        </p:txBody>
      </p:sp>
      <p:sp>
        <p:nvSpPr>
          <p:cNvPr id="17" name="Text 15"/>
          <p:cNvSpPr/>
          <p:nvPr/>
        </p:nvSpPr>
        <p:spPr>
          <a:xfrm>
            <a:off x="1554480" y="3035808"/>
            <a:ext cx="2697480" cy="384048"/>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 25% of households lack English proficiency</a:t>
            </a:r>
            <a:endParaRPr lang="en-US" sz="900" dirty="0"/>
          </a:p>
        </p:txBody>
      </p:sp>
      <p:sp>
        <p:nvSpPr>
          <p:cNvPr id="18" name="Shape 16"/>
          <p:cNvSpPr/>
          <p:nvPr/>
        </p:nvSpPr>
        <p:spPr>
          <a:xfrm>
            <a:off x="384048" y="3520440"/>
            <a:ext cx="3977640" cy="457200"/>
          </a:xfrm>
          <a:prstGeom prst="rect">
            <a:avLst/>
          </a:prstGeom>
          <a:solidFill>
            <a:srgbClr val="FFFFFF"/>
          </a:solidFill>
          <a:ln/>
        </p:spPr>
      </p:sp>
      <p:sp>
        <p:nvSpPr>
          <p:cNvPr id="19" name="Text 17"/>
          <p:cNvSpPr/>
          <p:nvPr/>
        </p:nvSpPr>
        <p:spPr>
          <a:xfrm>
            <a:off x="475488" y="3557016"/>
            <a:ext cx="1051560" cy="384048"/>
          </a:xfrm>
          <a:prstGeom prst="rect">
            <a:avLst/>
          </a:prstGeom>
          <a:noFill/>
          <a:ln/>
        </p:spPr>
        <p:txBody>
          <a:bodyPr wrap="square" lIns="0" tIns="0" rIns="0" bIns="0" rtlCol="0" anchor="ctr"/>
          <a:lstStyle/>
          <a:p>
            <a:pPr indent="0" marL="0">
              <a:buNone/>
            </a:pPr>
            <a:r>
              <a:rPr lang="en-US" sz="900" b="1" dirty="0">
                <a:solidFill>
                  <a:srgbClr val="A83D28"/>
                </a:solidFill>
                <a:latin typeface="Calibri" pitchFamily="34" charset="0"/>
                <a:ea typeface="Calibri" pitchFamily="34" charset="-122"/>
                <a:cs typeface="Calibri" pitchFamily="34" charset="-120"/>
              </a:rPr>
              <a:t>Criterion 4:</a:t>
            </a:r>
            <a:endParaRPr lang="en-US" sz="900" dirty="0"/>
          </a:p>
        </p:txBody>
      </p:sp>
      <p:sp>
        <p:nvSpPr>
          <p:cNvPr id="20" name="Text 18"/>
          <p:cNvSpPr/>
          <p:nvPr/>
        </p:nvSpPr>
        <p:spPr>
          <a:xfrm>
            <a:off x="1554480" y="3557016"/>
            <a:ext cx="2697480" cy="384048"/>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Minorities ≥ 25% AND municipal median income ≤ 150% statewide</a:t>
            </a:r>
            <a:endParaRPr lang="en-US" sz="900" dirty="0"/>
          </a:p>
        </p:txBody>
      </p:sp>
      <p:sp>
        <p:nvSpPr>
          <p:cNvPr id="21" name="Shape 19"/>
          <p:cNvSpPr/>
          <p:nvPr/>
        </p:nvSpPr>
        <p:spPr>
          <a:xfrm>
            <a:off x="384048" y="4041648"/>
            <a:ext cx="3977640" cy="457200"/>
          </a:xfrm>
          <a:prstGeom prst="rect">
            <a:avLst/>
          </a:prstGeom>
          <a:solidFill>
            <a:srgbClr val="F4F1EB"/>
          </a:solidFill>
          <a:ln/>
        </p:spPr>
      </p:sp>
      <p:sp>
        <p:nvSpPr>
          <p:cNvPr id="22" name="Text 20"/>
          <p:cNvSpPr/>
          <p:nvPr/>
        </p:nvSpPr>
        <p:spPr>
          <a:xfrm>
            <a:off x="475488" y="4078224"/>
            <a:ext cx="1051560" cy="384048"/>
          </a:xfrm>
          <a:prstGeom prst="rect">
            <a:avLst/>
          </a:prstGeom>
          <a:noFill/>
          <a:ln/>
        </p:spPr>
        <p:txBody>
          <a:bodyPr wrap="square" lIns="0" tIns="0" rIns="0" bIns="0" rtlCol="0" anchor="ctr"/>
          <a:lstStyle/>
          <a:p>
            <a:pPr indent="0" marL="0">
              <a:buNone/>
            </a:pPr>
            <a:r>
              <a:rPr lang="en-US" sz="900" b="1" dirty="0">
                <a:solidFill>
                  <a:srgbClr val="A83D28"/>
                </a:solidFill>
                <a:latin typeface="Calibri" pitchFamily="34" charset="0"/>
                <a:ea typeface="Calibri" pitchFamily="34" charset="-122"/>
                <a:cs typeface="Calibri" pitchFamily="34" charset="-120"/>
              </a:rPr>
              <a:t>Data source:</a:t>
            </a:r>
            <a:endParaRPr lang="en-US" sz="900" dirty="0"/>
          </a:p>
        </p:txBody>
      </p:sp>
      <p:sp>
        <p:nvSpPr>
          <p:cNvPr id="23" name="Text 21"/>
          <p:cNvSpPr/>
          <p:nvPr/>
        </p:nvSpPr>
        <p:spPr>
          <a:xfrm>
            <a:off x="1554480" y="4078224"/>
            <a:ext cx="2697480" cy="384048"/>
          </a:xfrm>
          <a:prstGeom prst="rect">
            <a:avLst/>
          </a:prstGeom>
          <a:noFill/>
          <a:ln/>
        </p:spPr>
        <p:txBody>
          <a:bodyPr wrap="square" lIns="0" tIns="0" rIns="0" bIns="0" rtlCol="0" anchor="ctr"/>
          <a:lstStyle/>
          <a:p>
            <a:pPr indent="0" marL="0">
              <a:buNone/>
            </a:pPr>
            <a:r>
              <a:rPr lang="en-US" sz="900" dirty="0">
                <a:solidFill>
                  <a:srgbClr val="09182B"/>
                </a:solidFill>
                <a:latin typeface="Calibri" pitchFamily="34" charset="0"/>
                <a:ea typeface="Calibri" pitchFamily="34" charset="-122"/>
                <a:cs typeface="Calibri" pitchFamily="34" charset="-120"/>
              </a:rPr>
              <a:t>MassGIS 2020 EJ Population Layer (Census 2020 + ACS 5-yr)</a:t>
            </a:r>
            <a:endParaRPr lang="en-US" sz="900" dirty="0"/>
          </a:p>
        </p:txBody>
      </p:sp>
      <p:sp>
        <p:nvSpPr>
          <p:cNvPr id="24" name="Shape 22"/>
          <p:cNvSpPr/>
          <p:nvPr/>
        </p:nvSpPr>
        <p:spPr>
          <a:xfrm>
            <a:off x="4572000" y="1536192"/>
            <a:ext cx="4279392" cy="320040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5" name="Shape 23"/>
          <p:cNvSpPr/>
          <p:nvPr/>
        </p:nvSpPr>
        <p:spPr>
          <a:xfrm>
            <a:off x="4572000" y="1536192"/>
            <a:ext cx="4279392" cy="329184"/>
          </a:xfrm>
          <a:prstGeom prst="rect">
            <a:avLst/>
          </a:prstGeom>
          <a:solidFill>
            <a:srgbClr val="0E2040"/>
          </a:solidFill>
          <a:ln/>
        </p:spPr>
      </p:sp>
      <p:sp>
        <p:nvSpPr>
          <p:cNvPr id="26" name="Text 24"/>
          <p:cNvSpPr/>
          <p:nvPr/>
        </p:nvSpPr>
        <p:spPr>
          <a:xfrm>
            <a:off x="4709160" y="1572768"/>
            <a:ext cx="4023360" cy="23774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EJ Coverage — Key Study Municipalities</a:t>
            </a:r>
            <a:endParaRPr lang="en-US" sz="1050" dirty="0"/>
          </a:p>
        </p:txBody>
      </p:sp>
      <p:sp>
        <p:nvSpPr>
          <p:cNvPr id="27" name="Shape 25"/>
          <p:cNvSpPr/>
          <p:nvPr/>
        </p:nvSpPr>
        <p:spPr>
          <a:xfrm>
            <a:off x="4608576" y="2231136"/>
            <a:ext cx="4169664" cy="310896"/>
          </a:xfrm>
          <a:prstGeom prst="rect">
            <a:avLst/>
          </a:prstGeom>
          <a:solidFill>
            <a:srgbClr val="F4F1EB"/>
          </a:solidFill>
          <a:ln/>
        </p:spPr>
      </p:sp>
      <p:sp>
        <p:nvSpPr>
          <p:cNvPr id="28" name="Text 26"/>
          <p:cNvSpPr/>
          <p:nvPr/>
        </p:nvSpPr>
        <p:spPr>
          <a:xfrm>
            <a:off x="4645152" y="2267712"/>
            <a:ext cx="1060704" cy="237744"/>
          </a:xfrm>
          <a:prstGeom prst="rect">
            <a:avLst/>
          </a:prstGeom>
          <a:noFill/>
          <a:ln/>
        </p:spPr>
        <p:txBody>
          <a:bodyPr wrap="square" lIns="0" tIns="0" rIns="0" bIns="0" rtlCol="0" anchor="ctr"/>
          <a:lstStyle/>
          <a:p>
            <a:pPr indent="0" marL="0">
              <a:buNone/>
            </a:pPr>
            <a:r>
              <a:rPr lang="en-US" sz="900" b="1" dirty="0">
                <a:solidFill>
                  <a:srgbClr val="09182B"/>
                </a:solidFill>
                <a:latin typeface="Calibri" pitchFamily="34" charset="0"/>
                <a:ea typeface="Calibri" pitchFamily="34" charset="-122"/>
                <a:cs typeface="Calibri" pitchFamily="34" charset="-120"/>
              </a:rPr>
              <a:t>Chelsea</a:t>
            </a:r>
            <a:endParaRPr lang="en-US" sz="900" dirty="0"/>
          </a:p>
        </p:txBody>
      </p:sp>
      <p:sp>
        <p:nvSpPr>
          <p:cNvPr id="29" name="Text 27"/>
          <p:cNvSpPr/>
          <p:nvPr/>
        </p:nvSpPr>
        <p:spPr>
          <a:xfrm>
            <a:off x="5742432" y="2267712"/>
            <a:ext cx="713232"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Suffolk</a:t>
            </a:r>
            <a:endParaRPr lang="en-US" sz="850" dirty="0"/>
          </a:p>
        </p:txBody>
      </p:sp>
      <p:sp>
        <p:nvSpPr>
          <p:cNvPr id="30" name="Text 28"/>
          <p:cNvSpPr/>
          <p:nvPr/>
        </p:nvSpPr>
        <p:spPr>
          <a:xfrm>
            <a:off x="6473952" y="2267712"/>
            <a:ext cx="548640" cy="237744"/>
          </a:xfrm>
          <a:prstGeom prst="rect">
            <a:avLst/>
          </a:prstGeom>
          <a:noFill/>
          <a:ln/>
        </p:spPr>
        <p:txBody>
          <a:bodyPr wrap="square" lIns="0" tIns="0" rIns="0" bIns="0" rtlCol="0" anchor="ctr"/>
          <a:lstStyle/>
          <a:p>
            <a:pPr algn="ctr" indent="0" marL="0">
              <a:buNone/>
            </a:pPr>
            <a:r>
              <a:rPr lang="en-US" sz="950" b="1" dirty="0">
                <a:solidFill>
                  <a:srgbClr val="A83D28"/>
                </a:solidFill>
                <a:latin typeface="Calibri" pitchFamily="34" charset="0"/>
                <a:ea typeface="Calibri" pitchFamily="34" charset="-122"/>
                <a:cs typeface="Calibri" pitchFamily="34" charset="-120"/>
              </a:rPr>
              <a:t>100%</a:t>
            </a:r>
            <a:endParaRPr lang="en-US" sz="950" dirty="0"/>
          </a:p>
        </p:txBody>
      </p:sp>
      <p:sp>
        <p:nvSpPr>
          <p:cNvPr id="31" name="Text 29"/>
          <p:cNvSpPr/>
          <p:nvPr/>
        </p:nvSpPr>
        <p:spPr>
          <a:xfrm>
            <a:off x="7059168" y="2267712"/>
            <a:ext cx="658368" cy="237744"/>
          </a:xfrm>
          <a:prstGeom prst="rect">
            <a:avLst/>
          </a:prstGeom>
          <a:noFill/>
          <a:ln/>
        </p:spPr>
        <p:txBody>
          <a:bodyPr wrap="square" lIns="0" tIns="0" rIns="0" bIns="0" rtlCol="0" anchor="ctr"/>
          <a:lstStyle/>
          <a:p>
            <a:pPr algn="ctr" indent="0" marL="0">
              <a:buNone/>
            </a:pPr>
            <a:r>
              <a:rPr lang="en-US" sz="900" b="1" dirty="0">
                <a:solidFill>
                  <a:srgbClr val="B84A2F"/>
                </a:solidFill>
                <a:latin typeface="Calibri" pitchFamily="34" charset="0"/>
                <a:ea typeface="Calibri" pitchFamily="34" charset="-122"/>
                <a:cs typeface="Calibri" pitchFamily="34" charset="-120"/>
              </a:rPr>
              <a:t>8.1%</a:t>
            </a:r>
            <a:endParaRPr lang="en-US" sz="900" dirty="0"/>
          </a:p>
        </p:txBody>
      </p:sp>
      <p:sp>
        <p:nvSpPr>
          <p:cNvPr id="32" name="Text 30"/>
          <p:cNvSpPr/>
          <p:nvPr/>
        </p:nvSpPr>
        <p:spPr>
          <a:xfrm>
            <a:off x="7754112" y="2267712"/>
            <a:ext cx="1051560"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2× state avg</a:t>
            </a:r>
            <a:endParaRPr lang="en-US" sz="850" dirty="0"/>
          </a:p>
        </p:txBody>
      </p:sp>
      <p:sp>
        <p:nvSpPr>
          <p:cNvPr id="33" name="Shape 31"/>
          <p:cNvSpPr/>
          <p:nvPr/>
        </p:nvSpPr>
        <p:spPr>
          <a:xfrm>
            <a:off x="4608576" y="2578608"/>
            <a:ext cx="4169664" cy="310896"/>
          </a:xfrm>
          <a:prstGeom prst="rect">
            <a:avLst/>
          </a:prstGeom>
          <a:solidFill>
            <a:srgbClr val="FFFFFF"/>
          </a:solidFill>
          <a:ln/>
        </p:spPr>
      </p:sp>
      <p:sp>
        <p:nvSpPr>
          <p:cNvPr id="34" name="Text 32"/>
          <p:cNvSpPr/>
          <p:nvPr/>
        </p:nvSpPr>
        <p:spPr>
          <a:xfrm>
            <a:off x="4645152" y="2615184"/>
            <a:ext cx="1060704" cy="237744"/>
          </a:xfrm>
          <a:prstGeom prst="rect">
            <a:avLst/>
          </a:prstGeom>
          <a:noFill/>
          <a:ln/>
        </p:spPr>
        <p:txBody>
          <a:bodyPr wrap="square" lIns="0" tIns="0" rIns="0" bIns="0" rtlCol="0" anchor="ctr"/>
          <a:lstStyle/>
          <a:p>
            <a:pPr indent="0" marL="0">
              <a:buNone/>
            </a:pPr>
            <a:r>
              <a:rPr lang="en-US" sz="900" b="1" dirty="0">
                <a:solidFill>
                  <a:srgbClr val="09182B"/>
                </a:solidFill>
                <a:latin typeface="Calibri" pitchFamily="34" charset="0"/>
                <a:ea typeface="Calibri" pitchFamily="34" charset="-122"/>
                <a:cs typeface="Calibri" pitchFamily="34" charset="-120"/>
              </a:rPr>
              <a:t>East Boston</a:t>
            </a:r>
            <a:endParaRPr lang="en-US" sz="900" dirty="0"/>
          </a:p>
        </p:txBody>
      </p:sp>
      <p:sp>
        <p:nvSpPr>
          <p:cNvPr id="35" name="Text 33"/>
          <p:cNvSpPr/>
          <p:nvPr/>
        </p:nvSpPr>
        <p:spPr>
          <a:xfrm>
            <a:off x="5742432" y="2615184"/>
            <a:ext cx="713232"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Suffolk</a:t>
            </a:r>
            <a:endParaRPr lang="en-US" sz="850" dirty="0"/>
          </a:p>
        </p:txBody>
      </p:sp>
      <p:sp>
        <p:nvSpPr>
          <p:cNvPr id="36" name="Text 34"/>
          <p:cNvSpPr/>
          <p:nvPr/>
        </p:nvSpPr>
        <p:spPr>
          <a:xfrm>
            <a:off x="6473952" y="2615184"/>
            <a:ext cx="548640" cy="237744"/>
          </a:xfrm>
          <a:prstGeom prst="rect">
            <a:avLst/>
          </a:prstGeom>
          <a:noFill/>
          <a:ln/>
        </p:spPr>
        <p:txBody>
          <a:bodyPr wrap="square" lIns="0" tIns="0" rIns="0" bIns="0" rtlCol="0" anchor="ctr"/>
          <a:lstStyle/>
          <a:p>
            <a:pPr algn="ctr" indent="0" marL="0">
              <a:buNone/>
            </a:pPr>
            <a:r>
              <a:rPr lang="en-US" sz="950" b="1" dirty="0">
                <a:solidFill>
                  <a:srgbClr val="A83D28"/>
                </a:solidFill>
                <a:latin typeface="Calibri" pitchFamily="34" charset="0"/>
                <a:ea typeface="Calibri" pitchFamily="34" charset="-122"/>
                <a:cs typeface="Calibri" pitchFamily="34" charset="-120"/>
              </a:rPr>
              <a:t>100%</a:t>
            </a:r>
            <a:endParaRPr lang="en-US" sz="950" dirty="0"/>
          </a:p>
        </p:txBody>
      </p:sp>
      <p:sp>
        <p:nvSpPr>
          <p:cNvPr id="37" name="Text 35"/>
          <p:cNvSpPr/>
          <p:nvPr/>
        </p:nvSpPr>
        <p:spPr>
          <a:xfrm>
            <a:off x="7059168" y="2615184"/>
            <a:ext cx="658368" cy="237744"/>
          </a:xfrm>
          <a:prstGeom prst="rect">
            <a:avLst/>
          </a:prstGeom>
          <a:noFill/>
          <a:ln/>
        </p:spPr>
        <p:txBody>
          <a:bodyPr wrap="square" lIns="0" tIns="0" rIns="0" bIns="0" rtlCol="0" anchor="ctr"/>
          <a:lstStyle/>
          <a:p>
            <a:pPr algn="ctr" indent="0" marL="0">
              <a:buNone/>
            </a:pPr>
            <a:r>
              <a:rPr lang="en-US" sz="900" b="1" dirty="0">
                <a:solidFill>
                  <a:srgbClr val="B84A2F"/>
                </a:solidFill>
                <a:latin typeface="Calibri" pitchFamily="34" charset="0"/>
                <a:ea typeface="Calibri" pitchFamily="34" charset="-122"/>
                <a:cs typeface="Calibri" pitchFamily="34" charset="-120"/>
              </a:rPr>
              <a:t>9.2%</a:t>
            </a:r>
            <a:endParaRPr lang="en-US" sz="900" dirty="0"/>
          </a:p>
        </p:txBody>
      </p:sp>
      <p:sp>
        <p:nvSpPr>
          <p:cNvPr id="38" name="Text 36"/>
          <p:cNvSpPr/>
          <p:nvPr/>
        </p:nvSpPr>
        <p:spPr>
          <a:xfrm>
            <a:off x="7754112" y="2615184"/>
            <a:ext cx="1051560"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2× state avg</a:t>
            </a:r>
            <a:endParaRPr lang="en-US" sz="850" dirty="0"/>
          </a:p>
        </p:txBody>
      </p:sp>
      <p:sp>
        <p:nvSpPr>
          <p:cNvPr id="39" name="Shape 37"/>
          <p:cNvSpPr/>
          <p:nvPr/>
        </p:nvSpPr>
        <p:spPr>
          <a:xfrm>
            <a:off x="4608576" y="2926080"/>
            <a:ext cx="4169664" cy="310896"/>
          </a:xfrm>
          <a:prstGeom prst="rect">
            <a:avLst/>
          </a:prstGeom>
          <a:solidFill>
            <a:srgbClr val="F4F1EB"/>
          </a:solidFill>
          <a:ln/>
        </p:spPr>
      </p:sp>
      <p:sp>
        <p:nvSpPr>
          <p:cNvPr id="40" name="Text 38"/>
          <p:cNvSpPr/>
          <p:nvPr/>
        </p:nvSpPr>
        <p:spPr>
          <a:xfrm>
            <a:off x="4645152" y="2962656"/>
            <a:ext cx="1060704" cy="237744"/>
          </a:xfrm>
          <a:prstGeom prst="rect">
            <a:avLst/>
          </a:prstGeom>
          <a:noFill/>
          <a:ln/>
        </p:spPr>
        <p:txBody>
          <a:bodyPr wrap="square" lIns="0" tIns="0" rIns="0" bIns="0" rtlCol="0" anchor="ctr"/>
          <a:lstStyle/>
          <a:p>
            <a:pPr indent="0" marL="0">
              <a:buNone/>
            </a:pPr>
            <a:r>
              <a:rPr lang="en-US" sz="900" b="1" dirty="0">
                <a:solidFill>
                  <a:srgbClr val="09182B"/>
                </a:solidFill>
                <a:latin typeface="Calibri" pitchFamily="34" charset="0"/>
                <a:ea typeface="Calibri" pitchFamily="34" charset="-122"/>
                <a:cs typeface="Calibri" pitchFamily="34" charset="-120"/>
              </a:rPr>
              <a:t>Everett</a:t>
            </a:r>
            <a:endParaRPr lang="en-US" sz="900" dirty="0"/>
          </a:p>
        </p:txBody>
      </p:sp>
      <p:sp>
        <p:nvSpPr>
          <p:cNvPr id="41" name="Text 39"/>
          <p:cNvSpPr/>
          <p:nvPr/>
        </p:nvSpPr>
        <p:spPr>
          <a:xfrm>
            <a:off x="5742432" y="2962656"/>
            <a:ext cx="713232"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Middlesex</a:t>
            </a:r>
            <a:endParaRPr lang="en-US" sz="850" dirty="0"/>
          </a:p>
        </p:txBody>
      </p:sp>
      <p:sp>
        <p:nvSpPr>
          <p:cNvPr id="42" name="Text 40"/>
          <p:cNvSpPr/>
          <p:nvPr/>
        </p:nvSpPr>
        <p:spPr>
          <a:xfrm>
            <a:off x="6473952" y="2962656"/>
            <a:ext cx="548640" cy="237744"/>
          </a:xfrm>
          <a:prstGeom prst="rect">
            <a:avLst/>
          </a:prstGeom>
          <a:noFill/>
          <a:ln/>
        </p:spPr>
        <p:txBody>
          <a:bodyPr wrap="square" lIns="0" tIns="0" rIns="0" bIns="0" rtlCol="0" anchor="ctr"/>
          <a:lstStyle/>
          <a:p>
            <a:pPr algn="ctr" indent="0" marL="0">
              <a:buNone/>
            </a:pPr>
            <a:r>
              <a:rPr lang="en-US" sz="950" b="1" dirty="0">
                <a:solidFill>
                  <a:srgbClr val="A83D28"/>
                </a:solidFill>
                <a:latin typeface="Calibri" pitchFamily="34" charset="0"/>
                <a:ea typeface="Calibri" pitchFamily="34" charset="-122"/>
                <a:cs typeface="Calibri" pitchFamily="34" charset="-120"/>
              </a:rPr>
              <a:t>100%</a:t>
            </a:r>
            <a:endParaRPr lang="en-US" sz="950" dirty="0"/>
          </a:p>
        </p:txBody>
      </p:sp>
      <p:sp>
        <p:nvSpPr>
          <p:cNvPr id="43" name="Text 41"/>
          <p:cNvSpPr/>
          <p:nvPr/>
        </p:nvSpPr>
        <p:spPr>
          <a:xfrm>
            <a:off x="7059168" y="2962656"/>
            <a:ext cx="658368" cy="237744"/>
          </a:xfrm>
          <a:prstGeom prst="rect">
            <a:avLst/>
          </a:prstGeom>
          <a:noFill/>
          <a:ln/>
        </p:spPr>
        <p:txBody>
          <a:bodyPr wrap="square" lIns="0" tIns="0" rIns="0" bIns="0" rtlCol="0" anchor="ctr"/>
          <a:lstStyle/>
          <a:p>
            <a:pPr algn="ctr" indent="0" marL="0">
              <a:buNone/>
            </a:pPr>
            <a:r>
              <a:rPr lang="en-US" sz="900" b="1" dirty="0">
                <a:solidFill>
                  <a:srgbClr val="4A7A5A"/>
                </a:solidFill>
                <a:latin typeface="Calibri" pitchFamily="34" charset="0"/>
                <a:ea typeface="Calibri" pitchFamily="34" charset="-122"/>
                <a:cs typeface="Calibri" pitchFamily="34" charset="-120"/>
              </a:rPr>
              <a:t>7.8%</a:t>
            </a:r>
            <a:endParaRPr lang="en-US" sz="900" dirty="0"/>
          </a:p>
        </p:txBody>
      </p:sp>
      <p:sp>
        <p:nvSpPr>
          <p:cNvPr id="44" name="Text 42"/>
          <p:cNvSpPr/>
          <p:nvPr/>
        </p:nvSpPr>
        <p:spPr>
          <a:xfrm>
            <a:off x="7754112" y="2962656"/>
            <a:ext cx="1051560"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High</a:t>
            </a:r>
            <a:endParaRPr lang="en-US" sz="850" dirty="0"/>
          </a:p>
        </p:txBody>
      </p:sp>
      <p:sp>
        <p:nvSpPr>
          <p:cNvPr id="45" name="Shape 43"/>
          <p:cNvSpPr/>
          <p:nvPr/>
        </p:nvSpPr>
        <p:spPr>
          <a:xfrm>
            <a:off x="4608576" y="3273552"/>
            <a:ext cx="4169664" cy="310896"/>
          </a:xfrm>
          <a:prstGeom prst="rect">
            <a:avLst/>
          </a:prstGeom>
          <a:solidFill>
            <a:srgbClr val="FFFFFF"/>
          </a:solidFill>
          <a:ln/>
        </p:spPr>
      </p:sp>
      <p:sp>
        <p:nvSpPr>
          <p:cNvPr id="46" name="Text 44"/>
          <p:cNvSpPr/>
          <p:nvPr/>
        </p:nvSpPr>
        <p:spPr>
          <a:xfrm>
            <a:off x="4645152" y="3310128"/>
            <a:ext cx="1060704" cy="237744"/>
          </a:xfrm>
          <a:prstGeom prst="rect">
            <a:avLst/>
          </a:prstGeom>
          <a:noFill/>
          <a:ln/>
        </p:spPr>
        <p:txBody>
          <a:bodyPr wrap="square" lIns="0" tIns="0" rIns="0" bIns="0" rtlCol="0" anchor="ctr"/>
          <a:lstStyle/>
          <a:p>
            <a:pPr indent="0" marL="0">
              <a:buNone/>
            </a:pPr>
            <a:r>
              <a:rPr lang="en-US" sz="900" b="1" dirty="0">
                <a:solidFill>
                  <a:srgbClr val="09182B"/>
                </a:solidFill>
                <a:latin typeface="Calibri" pitchFamily="34" charset="0"/>
                <a:ea typeface="Calibri" pitchFamily="34" charset="-122"/>
                <a:cs typeface="Calibri" pitchFamily="34" charset="-120"/>
              </a:rPr>
              <a:t>Malden</a:t>
            </a:r>
            <a:endParaRPr lang="en-US" sz="900" dirty="0"/>
          </a:p>
        </p:txBody>
      </p:sp>
      <p:sp>
        <p:nvSpPr>
          <p:cNvPr id="47" name="Text 45"/>
          <p:cNvSpPr/>
          <p:nvPr/>
        </p:nvSpPr>
        <p:spPr>
          <a:xfrm>
            <a:off x="5742432" y="3310128"/>
            <a:ext cx="713232"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Middlesex</a:t>
            </a:r>
            <a:endParaRPr lang="en-US" sz="850" dirty="0"/>
          </a:p>
        </p:txBody>
      </p:sp>
      <p:sp>
        <p:nvSpPr>
          <p:cNvPr id="48" name="Text 46"/>
          <p:cNvSpPr/>
          <p:nvPr/>
        </p:nvSpPr>
        <p:spPr>
          <a:xfrm>
            <a:off x="6473952" y="3310128"/>
            <a:ext cx="548640" cy="237744"/>
          </a:xfrm>
          <a:prstGeom prst="rect">
            <a:avLst/>
          </a:prstGeom>
          <a:noFill/>
          <a:ln/>
        </p:spPr>
        <p:txBody>
          <a:bodyPr wrap="square" lIns="0" tIns="0" rIns="0" bIns="0" rtlCol="0" anchor="ctr"/>
          <a:lstStyle/>
          <a:p>
            <a:pPr algn="ctr" indent="0" marL="0">
              <a:buNone/>
            </a:pPr>
            <a:r>
              <a:rPr lang="en-US" sz="950" b="1" dirty="0">
                <a:solidFill>
                  <a:srgbClr val="C68A17"/>
                </a:solidFill>
                <a:latin typeface="Calibri" pitchFamily="34" charset="0"/>
                <a:ea typeface="Calibri" pitchFamily="34" charset="-122"/>
                <a:cs typeface="Calibri" pitchFamily="34" charset="-120"/>
              </a:rPr>
              <a:t>100%</a:t>
            </a:r>
            <a:endParaRPr lang="en-US" sz="950" dirty="0"/>
          </a:p>
        </p:txBody>
      </p:sp>
      <p:sp>
        <p:nvSpPr>
          <p:cNvPr id="49" name="Text 47"/>
          <p:cNvSpPr/>
          <p:nvPr/>
        </p:nvSpPr>
        <p:spPr>
          <a:xfrm>
            <a:off x="7059168" y="3310128"/>
            <a:ext cx="658368" cy="237744"/>
          </a:xfrm>
          <a:prstGeom prst="rect">
            <a:avLst/>
          </a:prstGeom>
          <a:noFill/>
          <a:ln/>
        </p:spPr>
        <p:txBody>
          <a:bodyPr wrap="square" lIns="0" tIns="0" rIns="0" bIns="0" rtlCol="0" anchor="ctr"/>
          <a:lstStyle/>
          <a:p>
            <a:pPr algn="ctr" indent="0" marL="0">
              <a:buNone/>
            </a:pPr>
            <a:r>
              <a:rPr lang="en-US" sz="900" dirty="0">
                <a:solidFill>
                  <a:srgbClr val="4A7A5A"/>
                </a:solidFill>
                <a:latin typeface="Calibri" pitchFamily="34" charset="0"/>
                <a:ea typeface="Calibri" pitchFamily="34" charset="-122"/>
                <a:cs typeface="Calibri" pitchFamily="34" charset="-120"/>
              </a:rPr>
              <a:t>6.1%</a:t>
            </a:r>
            <a:endParaRPr lang="en-US" sz="900" dirty="0"/>
          </a:p>
        </p:txBody>
      </p:sp>
      <p:sp>
        <p:nvSpPr>
          <p:cNvPr id="50" name="Text 48"/>
          <p:cNvSpPr/>
          <p:nvPr/>
        </p:nvSpPr>
        <p:spPr>
          <a:xfrm>
            <a:off x="7754112" y="3310128"/>
            <a:ext cx="1051560"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Elevated</a:t>
            </a:r>
            <a:endParaRPr lang="en-US" sz="850" dirty="0"/>
          </a:p>
        </p:txBody>
      </p:sp>
      <p:sp>
        <p:nvSpPr>
          <p:cNvPr id="51" name="Shape 49"/>
          <p:cNvSpPr/>
          <p:nvPr/>
        </p:nvSpPr>
        <p:spPr>
          <a:xfrm>
            <a:off x="4608576" y="3621024"/>
            <a:ext cx="4169664" cy="310896"/>
          </a:xfrm>
          <a:prstGeom prst="rect">
            <a:avLst/>
          </a:prstGeom>
          <a:solidFill>
            <a:srgbClr val="F4F1EB"/>
          </a:solidFill>
          <a:ln/>
        </p:spPr>
      </p:sp>
      <p:sp>
        <p:nvSpPr>
          <p:cNvPr id="52" name="Text 50"/>
          <p:cNvSpPr/>
          <p:nvPr/>
        </p:nvSpPr>
        <p:spPr>
          <a:xfrm>
            <a:off x="4645152" y="3657600"/>
            <a:ext cx="1060704" cy="237744"/>
          </a:xfrm>
          <a:prstGeom prst="rect">
            <a:avLst/>
          </a:prstGeom>
          <a:noFill/>
          <a:ln/>
        </p:spPr>
        <p:txBody>
          <a:bodyPr wrap="square" lIns="0" tIns="0" rIns="0" bIns="0" rtlCol="0" anchor="ctr"/>
          <a:lstStyle/>
          <a:p>
            <a:pPr indent="0" marL="0">
              <a:buNone/>
            </a:pPr>
            <a:r>
              <a:rPr lang="en-US" sz="900" b="1" dirty="0">
                <a:solidFill>
                  <a:srgbClr val="09182B"/>
                </a:solidFill>
                <a:latin typeface="Calibri" pitchFamily="34" charset="0"/>
                <a:ea typeface="Calibri" pitchFamily="34" charset="-122"/>
                <a:cs typeface="Calibri" pitchFamily="34" charset="-120"/>
              </a:rPr>
              <a:t>Lowell</a:t>
            </a:r>
            <a:endParaRPr lang="en-US" sz="900" dirty="0"/>
          </a:p>
        </p:txBody>
      </p:sp>
      <p:sp>
        <p:nvSpPr>
          <p:cNvPr id="53" name="Text 51"/>
          <p:cNvSpPr/>
          <p:nvPr/>
        </p:nvSpPr>
        <p:spPr>
          <a:xfrm>
            <a:off x="5742432" y="3657600"/>
            <a:ext cx="713232"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Middlesex</a:t>
            </a:r>
            <a:endParaRPr lang="en-US" sz="850" dirty="0"/>
          </a:p>
        </p:txBody>
      </p:sp>
      <p:sp>
        <p:nvSpPr>
          <p:cNvPr id="54" name="Text 52"/>
          <p:cNvSpPr/>
          <p:nvPr/>
        </p:nvSpPr>
        <p:spPr>
          <a:xfrm>
            <a:off x="6473952" y="3657600"/>
            <a:ext cx="548640" cy="237744"/>
          </a:xfrm>
          <a:prstGeom prst="rect">
            <a:avLst/>
          </a:prstGeom>
          <a:noFill/>
          <a:ln/>
        </p:spPr>
        <p:txBody>
          <a:bodyPr wrap="square" lIns="0" tIns="0" rIns="0" bIns="0" rtlCol="0" anchor="ctr"/>
          <a:lstStyle/>
          <a:p>
            <a:pPr algn="ctr" indent="0" marL="0">
              <a:buNone/>
            </a:pPr>
            <a:r>
              <a:rPr lang="en-US" sz="950" b="1" dirty="0">
                <a:solidFill>
                  <a:srgbClr val="C68A17"/>
                </a:solidFill>
                <a:latin typeface="Calibri" pitchFamily="34" charset="0"/>
                <a:ea typeface="Calibri" pitchFamily="34" charset="-122"/>
                <a:cs typeface="Calibri" pitchFamily="34" charset="-120"/>
              </a:rPr>
              <a:t>96%</a:t>
            </a:r>
            <a:endParaRPr lang="en-US" sz="950" dirty="0"/>
          </a:p>
        </p:txBody>
      </p:sp>
      <p:sp>
        <p:nvSpPr>
          <p:cNvPr id="55" name="Text 53"/>
          <p:cNvSpPr/>
          <p:nvPr/>
        </p:nvSpPr>
        <p:spPr>
          <a:xfrm>
            <a:off x="7059168" y="3657600"/>
            <a:ext cx="658368" cy="237744"/>
          </a:xfrm>
          <a:prstGeom prst="rect">
            <a:avLst/>
          </a:prstGeom>
          <a:noFill/>
          <a:ln/>
        </p:spPr>
        <p:txBody>
          <a:bodyPr wrap="square" lIns="0" tIns="0" rIns="0" bIns="0" rtlCol="0" anchor="ctr"/>
          <a:lstStyle/>
          <a:p>
            <a:pPr algn="ctr" indent="0" marL="0">
              <a:buNone/>
            </a:pPr>
            <a:r>
              <a:rPr lang="en-US" sz="900" b="1" dirty="0">
                <a:solidFill>
                  <a:srgbClr val="4A7A5A"/>
                </a:solidFill>
                <a:latin typeface="Calibri" pitchFamily="34" charset="0"/>
                <a:ea typeface="Calibri" pitchFamily="34" charset="-122"/>
                <a:cs typeface="Calibri" pitchFamily="34" charset="-120"/>
              </a:rPr>
              <a:t>7.4%</a:t>
            </a:r>
            <a:endParaRPr lang="en-US" sz="900" dirty="0"/>
          </a:p>
        </p:txBody>
      </p:sp>
      <p:sp>
        <p:nvSpPr>
          <p:cNvPr id="56" name="Text 54"/>
          <p:cNvSpPr/>
          <p:nvPr/>
        </p:nvSpPr>
        <p:spPr>
          <a:xfrm>
            <a:off x="7754112" y="3657600"/>
            <a:ext cx="1051560"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High</a:t>
            </a:r>
            <a:endParaRPr lang="en-US" sz="850" dirty="0"/>
          </a:p>
        </p:txBody>
      </p:sp>
      <p:sp>
        <p:nvSpPr>
          <p:cNvPr id="57" name="Shape 55"/>
          <p:cNvSpPr/>
          <p:nvPr/>
        </p:nvSpPr>
        <p:spPr>
          <a:xfrm>
            <a:off x="4608576" y="3968496"/>
            <a:ext cx="4169664" cy="310896"/>
          </a:xfrm>
          <a:prstGeom prst="rect">
            <a:avLst/>
          </a:prstGeom>
          <a:solidFill>
            <a:srgbClr val="FFFFFF"/>
          </a:solidFill>
          <a:ln/>
        </p:spPr>
      </p:sp>
      <p:sp>
        <p:nvSpPr>
          <p:cNvPr id="58" name="Text 56"/>
          <p:cNvSpPr/>
          <p:nvPr/>
        </p:nvSpPr>
        <p:spPr>
          <a:xfrm>
            <a:off x="4645152" y="4005072"/>
            <a:ext cx="1060704" cy="237744"/>
          </a:xfrm>
          <a:prstGeom prst="rect">
            <a:avLst/>
          </a:prstGeom>
          <a:noFill/>
          <a:ln/>
        </p:spPr>
        <p:txBody>
          <a:bodyPr wrap="square" lIns="0" tIns="0" rIns="0" bIns="0" rtlCol="0" anchor="ctr"/>
          <a:lstStyle/>
          <a:p>
            <a:pPr indent="0" marL="0">
              <a:buNone/>
            </a:pPr>
            <a:r>
              <a:rPr lang="en-US" sz="900" b="1" dirty="0">
                <a:solidFill>
                  <a:srgbClr val="09182B"/>
                </a:solidFill>
                <a:latin typeface="Calibri" pitchFamily="34" charset="0"/>
                <a:ea typeface="Calibri" pitchFamily="34" charset="-122"/>
                <a:cs typeface="Calibri" pitchFamily="34" charset="-120"/>
              </a:rPr>
              <a:t>Cambridge</a:t>
            </a:r>
            <a:endParaRPr lang="en-US" sz="900" dirty="0"/>
          </a:p>
        </p:txBody>
      </p:sp>
      <p:sp>
        <p:nvSpPr>
          <p:cNvPr id="59" name="Text 57"/>
          <p:cNvSpPr/>
          <p:nvPr/>
        </p:nvSpPr>
        <p:spPr>
          <a:xfrm>
            <a:off x="5742432" y="4005072"/>
            <a:ext cx="713232"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Middlesex</a:t>
            </a:r>
            <a:endParaRPr lang="en-US" sz="850" dirty="0"/>
          </a:p>
        </p:txBody>
      </p:sp>
      <p:sp>
        <p:nvSpPr>
          <p:cNvPr id="60" name="Text 58"/>
          <p:cNvSpPr/>
          <p:nvPr/>
        </p:nvSpPr>
        <p:spPr>
          <a:xfrm>
            <a:off x="6473952" y="4005072"/>
            <a:ext cx="548640" cy="237744"/>
          </a:xfrm>
          <a:prstGeom prst="rect">
            <a:avLst/>
          </a:prstGeom>
          <a:noFill/>
          <a:ln/>
        </p:spPr>
        <p:txBody>
          <a:bodyPr wrap="square" lIns="0" tIns="0" rIns="0" bIns="0" rtlCol="0" anchor="ctr"/>
          <a:lstStyle/>
          <a:p>
            <a:pPr algn="ctr" indent="0" marL="0">
              <a:buNone/>
            </a:pPr>
            <a:r>
              <a:rPr lang="en-US" sz="950" b="1" dirty="0">
                <a:solidFill>
                  <a:srgbClr val="0D7C7B"/>
                </a:solidFill>
                <a:latin typeface="Calibri" pitchFamily="34" charset="0"/>
                <a:ea typeface="Calibri" pitchFamily="34" charset="-122"/>
                <a:cs typeface="Calibri" pitchFamily="34" charset="-120"/>
              </a:rPr>
              <a:t>95%</a:t>
            </a:r>
            <a:endParaRPr lang="en-US" sz="950" dirty="0"/>
          </a:p>
        </p:txBody>
      </p:sp>
      <p:sp>
        <p:nvSpPr>
          <p:cNvPr id="61" name="Text 59"/>
          <p:cNvSpPr/>
          <p:nvPr/>
        </p:nvSpPr>
        <p:spPr>
          <a:xfrm>
            <a:off x="7059168" y="4005072"/>
            <a:ext cx="658368" cy="237744"/>
          </a:xfrm>
          <a:prstGeom prst="rect">
            <a:avLst/>
          </a:prstGeom>
          <a:noFill/>
          <a:ln/>
        </p:spPr>
        <p:txBody>
          <a:bodyPr wrap="square" lIns="0" tIns="0" rIns="0" bIns="0" rtlCol="0" anchor="ctr"/>
          <a:lstStyle/>
          <a:p>
            <a:pPr algn="ctr" indent="0" marL="0">
              <a:buNone/>
            </a:pPr>
            <a:r>
              <a:rPr lang="en-US" sz="900" dirty="0">
                <a:solidFill>
                  <a:srgbClr val="4A7A5A"/>
                </a:solidFill>
                <a:latin typeface="Calibri" pitchFamily="34" charset="0"/>
                <a:ea typeface="Calibri" pitchFamily="34" charset="-122"/>
                <a:cs typeface="Calibri" pitchFamily="34" charset="-120"/>
              </a:rPr>
              <a:t>4.8%</a:t>
            </a:r>
            <a:endParaRPr lang="en-US" sz="900" dirty="0"/>
          </a:p>
        </p:txBody>
      </p:sp>
      <p:sp>
        <p:nvSpPr>
          <p:cNvPr id="62" name="Text 60"/>
          <p:cNvSpPr/>
          <p:nvPr/>
        </p:nvSpPr>
        <p:spPr>
          <a:xfrm>
            <a:off x="7754112" y="4005072"/>
            <a:ext cx="1051560"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Average</a:t>
            </a:r>
            <a:endParaRPr lang="en-US" sz="850" dirty="0"/>
          </a:p>
        </p:txBody>
      </p:sp>
      <p:sp>
        <p:nvSpPr>
          <p:cNvPr id="63" name="Shape 61"/>
          <p:cNvSpPr/>
          <p:nvPr/>
        </p:nvSpPr>
        <p:spPr>
          <a:xfrm>
            <a:off x="4608576" y="4315968"/>
            <a:ext cx="4169664" cy="310896"/>
          </a:xfrm>
          <a:prstGeom prst="rect">
            <a:avLst/>
          </a:prstGeom>
          <a:solidFill>
            <a:srgbClr val="F4F1EB"/>
          </a:solidFill>
          <a:ln/>
        </p:spPr>
      </p:sp>
      <p:sp>
        <p:nvSpPr>
          <p:cNvPr id="64" name="Text 62"/>
          <p:cNvSpPr/>
          <p:nvPr/>
        </p:nvSpPr>
        <p:spPr>
          <a:xfrm>
            <a:off x="4645152" y="4352544"/>
            <a:ext cx="1060704" cy="237744"/>
          </a:xfrm>
          <a:prstGeom prst="rect">
            <a:avLst/>
          </a:prstGeom>
          <a:noFill/>
          <a:ln/>
        </p:spPr>
        <p:txBody>
          <a:bodyPr wrap="square" lIns="0" tIns="0" rIns="0" bIns="0" rtlCol="0" anchor="ctr"/>
          <a:lstStyle/>
          <a:p>
            <a:pPr indent="0" marL="0">
              <a:buNone/>
            </a:pPr>
            <a:r>
              <a:rPr lang="en-US" sz="900" b="1" dirty="0">
                <a:solidFill>
                  <a:srgbClr val="09182B"/>
                </a:solidFill>
                <a:latin typeface="Calibri" pitchFamily="34" charset="0"/>
                <a:ea typeface="Calibri" pitchFamily="34" charset="-122"/>
                <a:cs typeface="Calibri" pitchFamily="34" charset="-120"/>
              </a:rPr>
              <a:t>Framingham</a:t>
            </a:r>
            <a:endParaRPr lang="en-US" sz="900" dirty="0"/>
          </a:p>
        </p:txBody>
      </p:sp>
      <p:sp>
        <p:nvSpPr>
          <p:cNvPr id="65" name="Text 63"/>
          <p:cNvSpPr/>
          <p:nvPr/>
        </p:nvSpPr>
        <p:spPr>
          <a:xfrm>
            <a:off x="5742432" y="4352544"/>
            <a:ext cx="713232"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Middlesex</a:t>
            </a:r>
            <a:endParaRPr lang="en-US" sz="850" dirty="0"/>
          </a:p>
        </p:txBody>
      </p:sp>
      <p:sp>
        <p:nvSpPr>
          <p:cNvPr id="66" name="Text 64"/>
          <p:cNvSpPr/>
          <p:nvPr/>
        </p:nvSpPr>
        <p:spPr>
          <a:xfrm>
            <a:off x="6473952" y="4352544"/>
            <a:ext cx="548640" cy="237744"/>
          </a:xfrm>
          <a:prstGeom prst="rect">
            <a:avLst/>
          </a:prstGeom>
          <a:noFill/>
          <a:ln/>
        </p:spPr>
        <p:txBody>
          <a:bodyPr wrap="square" lIns="0" tIns="0" rIns="0" bIns="0" rtlCol="0" anchor="ctr"/>
          <a:lstStyle/>
          <a:p>
            <a:pPr algn="ctr" indent="0" marL="0">
              <a:buNone/>
            </a:pPr>
            <a:r>
              <a:rPr lang="en-US" sz="950" b="1" dirty="0">
                <a:solidFill>
                  <a:srgbClr val="0D7C7B"/>
                </a:solidFill>
                <a:latin typeface="Calibri" pitchFamily="34" charset="0"/>
                <a:ea typeface="Calibri" pitchFamily="34" charset="-122"/>
                <a:cs typeface="Calibri" pitchFamily="34" charset="-120"/>
              </a:rPr>
              <a:t>87%</a:t>
            </a:r>
            <a:endParaRPr lang="en-US" sz="950" dirty="0"/>
          </a:p>
        </p:txBody>
      </p:sp>
      <p:sp>
        <p:nvSpPr>
          <p:cNvPr id="67" name="Text 65"/>
          <p:cNvSpPr/>
          <p:nvPr/>
        </p:nvSpPr>
        <p:spPr>
          <a:xfrm>
            <a:off x="7059168" y="4352544"/>
            <a:ext cx="658368" cy="237744"/>
          </a:xfrm>
          <a:prstGeom prst="rect">
            <a:avLst/>
          </a:prstGeom>
          <a:noFill/>
          <a:ln/>
        </p:spPr>
        <p:txBody>
          <a:bodyPr wrap="square" lIns="0" tIns="0" rIns="0" bIns="0" rtlCol="0" anchor="ctr"/>
          <a:lstStyle/>
          <a:p>
            <a:pPr algn="ctr" indent="0" marL="0">
              <a:buNone/>
            </a:pPr>
            <a:r>
              <a:rPr lang="en-US" sz="900" dirty="0">
                <a:solidFill>
                  <a:srgbClr val="4A7A5A"/>
                </a:solidFill>
                <a:latin typeface="Calibri" pitchFamily="34" charset="0"/>
                <a:ea typeface="Calibri" pitchFamily="34" charset="-122"/>
                <a:cs typeface="Calibri" pitchFamily="34" charset="-120"/>
              </a:rPr>
              <a:t>5.6%</a:t>
            </a:r>
            <a:endParaRPr lang="en-US" sz="900" dirty="0"/>
          </a:p>
        </p:txBody>
      </p:sp>
      <p:sp>
        <p:nvSpPr>
          <p:cNvPr id="68" name="Text 66"/>
          <p:cNvSpPr/>
          <p:nvPr/>
        </p:nvSpPr>
        <p:spPr>
          <a:xfrm>
            <a:off x="7754112" y="4352544"/>
            <a:ext cx="1051560" cy="237744"/>
          </a:xfrm>
          <a:prstGeom prst="rect">
            <a:avLst/>
          </a:prstGeom>
          <a:noFill/>
          <a:ln/>
        </p:spPr>
        <p:txBody>
          <a:bodyPr wrap="square" lIns="0" tIns="0" rIns="0" bIns="0"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Elevated</a:t>
            </a:r>
            <a:endParaRPr lang="en-US" sz="850" dirty="0"/>
          </a:p>
        </p:txBody>
      </p:sp>
      <p:sp>
        <p:nvSpPr>
          <p:cNvPr id="69" name="Text 67"/>
          <p:cNvSpPr/>
          <p:nvPr/>
        </p:nvSpPr>
        <p:spPr>
          <a:xfrm>
            <a:off x="4645152" y="1920240"/>
            <a:ext cx="1060704" cy="237744"/>
          </a:xfrm>
          <a:prstGeom prst="rect">
            <a:avLst/>
          </a:prstGeom>
          <a:noFill/>
          <a:ln/>
        </p:spPr>
        <p:txBody>
          <a:bodyPr wrap="square" lIns="0" tIns="0" rIns="0" bIns="0" rtlCol="0" anchor="ctr"/>
          <a:lstStyle/>
          <a:p>
            <a:pPr algn="ctr" indent="0" marL="0">
              <a:buNone/>
            </a:pPr>
            <a:r>
              <a:rPr lang="en-US" sz="800" b="1" dirty="0">
                <a:solidFill>
                  <a:srgbClr val="A9BAC9"/>
                </a:solidFill>
                <a:latin typeface="Calibri" pitchFamily="34" charset="0"/>
                <a:ea typeface="Calibri" pitchFamily="34" charset="-122"/>
                <a:cs typeface="Calibri" pitchFamily="34" charset="-120"/>
              </a:rPr>
              <a:t>Municipality</a:t>
            </a:r>
            <a:endParaRPr lang="en-US" sz="800" dirty="0"/>
          </a:p>
        </p:txBody>
      </p:sp>
      <p:sp>
        <p:nvSpPr>
          <p:cNvPr id="70" name="Text 68"/>
          <p:cNvSpPr/>
          <p:nvPr/>
        </p:nvSpPr>
        <p:spPr>
          <a:xfrm>
            <a:off x="5742432" y="1920240"/>
            <a:ext cx="713232" cy="237744"/>
          </a:xfrm>
          <a:prstGeom prst="rect">
            <a:avLst/>
          </a:prstGeom>
          <a:noFill/>
          <a:ln/>
        </p:spPr>
        <p:txBody>
          <a:bodyPr wrap="square" lIns="0" tIns="0" rIns="0" bIns="0" rtlCol="0" anchor="ctr"/>
          <a:lstStyle/>
          <a:p>
            <a:pPr algn="ctr" indent="0" marL="0">
              <a:buNone/>
            </a:pPr>
            <a:r>
              <a:rPr lang="en-US" sz="800" b="1" dirty="0">
                <a:solidFill>
                  <a:srgbClr val="A9BAC9"/>
                </a:solidFill>
                <a:latin typeface="Calibri" pitchFamily="34" charset="0"/>
                <a:ea typeface="Calibri" pitchFamily="34" charset="-122"/>
                <a:cs typeface="Calibri" pitchFamily="34" charset="-120"/>
              </a:rPr>
              <a:t>County</a:t>
            </a:r>
            <a:endParaRPr lang="en-US" sz="800" dirty="0"/>
          </a:p>
        </p:txBody>
      </p:sp>
      <p:sp>
        <p:nvSpPr>
          <p:cNvPr id="71" name="Text 69"/>
          <p:cNvSpPr/>
          <p:nvPr/>
        </p:nvSpPr>
        <p:spPr>
          <a:xfrm>
            <a:off x="6473952" y="1920240"/>
            <a:ext cx="548640" cy="237744"/>
          </a:xfrm>
          <a:prstGeom prst="rect">
            <a:avLst/>
          </a:prstGeom>
          <a:noFill/>
          <a:ln/>
        </p:spPr>
        <p:txBody>
          <a:bodyPr wrap="square" lIns="0" tIns="0" rIns="0" bIns="0" rtlCol="0" anchor="ctr"/>
          <a:lstStyle/>
          <a:p>
            <a:pPr algn="ctr" indent="0" marL="0">
              <a:buNone/>
            </a:pPr>
            <a:r>
              <a:rPr lang="en-US" sz="800" b="1" dirty="0">
                <a:solidFill>
                  <a:srgbClr val="A9BAC9"/>
                </a:solidFill>
                <a:latin typeface="Calibri" pitchFamily="34" charset="0"/>
                <a:ea typeface="Calibri" pitchFamily="34" charset="-122"/>
                <a:cs typeface="Calibri" pitchFamily="34" charset="-120"/>
              </a:rPr>
              <a:t>% EJ</a:t>
            </a:r>
            <a:endParaRPr lang="en-US" sz="800" dirty="0"/>
          </a:p>
        </p:txBody>
      </p:sp>
      <p:sp>
        <p:nvSpPr>
          <p:cNvPr id="72" name="Text 70"/>
          <p:cNvSpPr/>
          <p:nvPr/>
        </p:nvSpPr>
        <p:spPr>
          <a:xfrm>
            <a:off x="7059168" y="1920240"/>
            <a:ext cx="658368" cy="237744"/>
          </a:xfrm>
          <a:prstGeom prst="rect">
            <a:avLst/>
          </a:prstGeom>
          <a:noFill/>
          <a:ln/>
        </p:spPr>
        <p:txBody>
          <a:bodyPr wrap="square" lIns="0" tIns="0" rIns="0" bIns="0" rtlCol="0" anchor="ctr"/>
          <a:lstStyle/>
          <a:p>
            <a:pPr algn="ctr" indent="0" marL="0">
              <a:buNone/>
            </a:pPr>
            <a:r>
              <a:rPr lang="en-US" sz="800" b="1" dirty="0">
                <a:solidFill>
                  <a:srgbClr val="A9BAC9"/>
                </a:solidFill>
                <a:latin typeface="Calibri" pitchFamily="34" charset="0"/>
                <a:ea typeface="Calibri" pitchFamily="34" charset="-122"/>
                <a:cs typeface="Calibri" pitchFamily="34" charset="-120"/>
              </a:rPr>
              <a:t>E. Burden</a:t>
            </a:r>
            <a:endParaRPr lang="en-US" sz="800" dirty="0"/>
          </a:p>
        </p:txBody>
      </p:sp>
      <p:sp>
        <p:nvSpPr>
          <p:cNvPr id="73" name="Text 71"/>
          <p:cNvSpPr/>
          <p:nvPr/>
        </p:nvSpPr>
        <p:spPr>
          <a:xfrm>
            <a:off x="7754112" y="1920240"/>
            <a:ext cx="1051560" cy="237744"/>
          </a:xfrm>
          <a:prstGeom prst="rect">
            <a:avLst/>
          </a:prstGeom>
          <a:noFill/>
          <a:ln/>
        </p:spPr>
        <p:txBody>
          <a:bodyPr wrap="square" lIns="0" tIns="0" rIns="0" bIns="0" rtlCol="0" anchor="ctr"/>
          <a:lstStyle/>
          <a:p>
            <a:pPr algn="ctr" indent="0" marL="0">
              <a:buNone/>
            </a:pPr>
            <a:r>
              <a:rPr lang="en-US" sz="800" b="1" dirty="0">
                <a:solidFill>
                  <a:srgbClr val="A9BAC9"/>
                </a:solidFill>
                <a:latin typeface="Calibri" pitchFamily="34" charset="0"/>
                <a:ea typeface="Calibri" pitchFamily="34" charset="-122"/>
                <a:cs typeface="Calibri" pitchFamily="34" charset="-120"/>
              </a:rPr>
              <a:t>Asthma</a:t>
            </a:r>
            <a:endParaRPr lang="en-US" sz="800" dirty="0"/>
          </a:p>
        </p:txBody>
      </p:sp>
      <p:sp>
        <p:nvSpPr>
          <p:cNvPr id="74" name="Shape 72"/>
          <p:cNvSpPr/>
          <p:nvPr/>
        </p:nvSpPr>
        <p:spPr>
          <a:xfrm>
            <a:off x="0" y="4864608"/>
            <a:ext cx="9144000" cy="274320"/>
          </a:xfrm>
          <a:prstGeom prst="rect">
            <a:avLst/>
          </a:prstGeom>
          <a:solidFill>
            <a:srgbClr val="09182B"/>
          </a:solidFill>
          <a:ln/>
        </p:spPr>
      </p:sp>
      <p:sp>
        <p:nvSpPr>
          <p:cNvPr id="75" name="Text 73"/>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MassGIS 2020 EJ Population Layer · Mass.gov CIA · OEJE CIA Standards (Jan 2026) · MA Household Economic Burden Index (Dec 2022) · MA DPH Health Data</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LAYERS 2 &amp; 3: GRID FEASIBILITY, HOSTING CAPACITY &amp; ZONING FRAMEWORK</a:t>
            </a:r>
            <a:endParaRPr lang="en-US" sz="1100" dirty="0"/>
          </a:p>
        </p:txBody>
      </p:sp>
      <p:sp>
        <p:nvSpPr>
          <p:cNvPr id="4" name="Shape 2"/>
          <p:cNvSpPr/>
          <p:nvPr/>
        </p:nvSpPr>
        <p:spPr>
          <a:xfrm>
            <a:off x="320040" y="777240"/>
            <a:ext cx="4206240" cy="4133088"/>
          </a:xfrm>
          <a:prstGeom prst="rect">
            <a:avLst/>
          </a:prstGeom>
          <a:solidFill>
            <a:srgbClr val="0D7C7B">
              <a:alpha val="7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777240"/>
            <a:ext cx="4206240" cy="347472"/>
          </a:xfrm>
          <a:prstGeom prst="rect">
            <a:avLst/>
          </a:prstGeom>
          <a:solidFill>
            <a:srgbClr val="0D7C7B"/>
          </a:solidFill>
          <a:ln/>
        </p:spPr>
      </p:sp>
      <p:sp>
        <p:nvSpPr>
          <p:cNvPr id="6" name="Text 4"/>
          <p:cNvSpPr/>
          <p:nvPr/>
        </p:nvSpPr>
        <p:spPr>
          <a:xfrm>
            <a:off x="457200" y="813816"/>
            <a:ext cx="39776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Grid Feasibility &amp; Hosting Capacity</a:t>
            </a:r>
            <a:endParaRPr lang="en-US" sz="1100" dirty="0"/>
          </a:p>
        </p:txBody>
      </p:sp>
      <p:sp>
        <p:nvSpPr>
          <p:cNvPr id="7" name="Shape 5"/>
          <p:cNvSpPr/>
          <p:nvPr/>
        </p:nvSpPr>
        <p:spPr>
          <a:xfrm>
            <a:off x="384048" y="1207008"/>
            <a:ext cx="4059936" cy="438912"/>
          </a:xfrm>
          <a:prstGeom prst="rect">
            <a:avLst/>
          </a:prstGeom>
          <a:solidFill>
            <a:srgbClr val="FFFFFF">
              <a:alpha val="8000"/>
            </a:srgbClr>
          </a:solidFill>
          <a:ln/>
        </p:spPr>
      </p:sp>
      <p:sp>
        <p:nvSpPr>
          <p:cNvPr id="8" name="Text 6"/>
          <p:cNvSpPr/>
          <p:nvPr/>
        </p:nvSpPr>
        <p:spPr>
          <a:xfrm>
            <a:off x="475488" y="1234440"/>
            <a:ext cx="3877056" cy="182880"/>
          </a:xfrm>
          <a:prstGeom prst="rect">
            <a:avLst/>
          </a:prstGeom>
          <a:noFill/>
          <a:ln/>
        </p:spPr>
        <p:txBody>
          <a:bodyPr wrap="square" lIns="0" tIns="0" rIns="0" bIns="0" rtlCol="0" anchor="ctr"/>
          <a:lstStyle/>
          <a:p>
            <a:pPr indent="0" marL="0">
              <a:buNone/>
            </a:pPr>
            <a:r>
              <a:rPr lang="en-US" sz="850" b="1" dirty="0">
                <a:solidFill>
                  <a:srgbClr val="0D7C7B"/>
                </a:solidFill>
                <a:latin typeface="Calibri" pitchFamily="34" charset="0"/>
                <a:ea typeface="Calibri" pitchFamily="34" charset="-122"/>
                <a:cs typeface="Calibri" pitchFamily="34" charset="-120"/>
              </a:rPr>
              <a:t>Eversource (Suffolk + most Middlesex)</a:t>
            </a:r>
            <a:endParaRPr lang="en-US" sz="850" dirty="0"/>
          </a:p>
        </p:txBody>
      </p:sp>
      <p:sp>
        <p:nvSpPr>
          <p:cNvPr id="9" name="Text 7"/>
          <p:cNvSpPr/>
          <p:nvPr/>
        </p:nvSpPr>
        <p:spPr>
          <a:xfrm>
            <a:off x="475488" y="1408176"/>
            <a:ext cx="3877056" cy="219456"/>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envelio Grid Connection Navigator — parcel-level hosting capacity, seasonal data. Circuit-level limits are the binding MW constraint at urban BESS sites.</a:t>
            </a:r>
            <a:endParaRPr lang="en-US" sz="800" dirty="0"/>
          </a:p>
        </p:txBody>
      </p:sp>
      <p:sp>
        <p:nvSpPr>
          <p:cNvPr id="10" name="Shape 8"/>
          <p:cNvSpPr/>
          <p:nvPr/>
        </p:nvSpPr>
        <p:spPr>
          <a:xfrm>
            <a:off x="384048" y="1709928"/>
            <a:ext cx="4059936" cy="438912"/>
          </a:xfrm>
          <a:prstGeom prst="rect">
            <a:avLst/>
          </a:prstGeom>
          <a:solidFill>
            <a:srgbClr val="FFFFFF">
              <a:alpha val="15000"/>
            </a:srgbClr>
          </a:solidFill>
          <a:ln/>
        </p:spPr>
      </p:sp>
      <p:sp>
        <p:nvSpPr>
          <p:cNvPr id="11" name="Text 9"/>
          <p:cNvSpPr/>
          <p:nvPr/>
        </p:nvSpPr>
        <p:spPr>
          <a:xfrm>
            <a:off x="475488" y="1737360"/>
            <a:ext cx="3877056" cy="182880"/>
          </a:xfrm>
          <a:prstGeom prst="rect">
            <a:avLst/>
          </a:prstGeom>
          <a:noFill/>
          <a:ln/>
        </p:spPr>
        <p:txBody>
          <a:bodyPr wrap="square" lIns="0" tIns="0" rIns="0" bIns="0" rtlCol="0" anchor="ctr"/>
          <a:lstStyle/>
          <a:p>
            <a:pPr indent="0" marL="0">
              <a:buNone/>
            </a:pPr>
            <a:r>
              <a:rPr lang="en-US" sz="850" b="1" dirty="0">
                <a:solidFill>
                  <a:srgbClr val="0D7C7B"/>
                </a:solidFill>
                <a:latin typeface="Calibri" pitchFamily="34" charset="0"/>
                <a:ea typeface="Calibri" pitchFamily="34" charset="-122"/>
                <a:cs typeface="Calibri" pitchFamily="34" charset="-120"/>
              </a:rPr>
              <a:t>National Grid SDP (Lowell, Framingham)</a:t>
            </a:r>
            <a:endParaRPr lang="en-US" sz="850" dirty="0"/>
          </a:p>
        </p:txBody>
      </p:sp>
      <p:sp>
        <p:nvSpPr>
          <p:cNvPr id="12" name="Text 10"/>
          <p:cNvSpPr/>
          <p:nvPr/>
        </p:nvSpPr>
        <p:spPr>
          <a:xfrm>
            <a:off x="475488" y="1911096"/>
            <a:ext cx="3877056" cy="219456"/>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CymeDist/EPRI DRIVE feeder-level analysis. FERC-approved Wholesale Distribution Tariff (Mar 2024): $20.94/mo + $0.51/kW demand.</a:t>
            </a:r>
            <a:endParaRPr lang="en-US" sz="800" dirty="0"/>
          </a:p>
        </p:txBody>
      </p:sp>
      <p:sp>
        <p:nvSpPr>
          <p:cNvPr id="13" name="Shape 11"/>
          <p:cNvSpPr/>
          <p:nvPr/>
        </p:nvSpPr>
        <p:spPr>
          <a:xfrm>
            <a:off x="384048" y="2212848"/>
            <a:ext cx="4059936" cy="438912"/>
          </a:xfrm>
          <a:prstGeom prst="rect">
            <a:avLst/>
          </a:prstGeom>
          <a:solidFill>
            <a:srgbClr val="FFFFFF">
              <a:alpha val="8000"/>
            </a:srgbClr>
          </a:solidFill>
          <a:ln/>
        </p:spPr>
      </p:sp>
      <p:sp>
        <p:nvSpPr>
          <p:cNvPr id="14" name="Text 12"/>
          <p:cNvSpPr/>
          <p:nvPr/>
        </p:nvSpPr>
        <p:spPr>
          <a:xfrm>
            <a:off x="475488" y="2240280"/>
            <a:ext cx="3877056" cy="182880"/>
          </a:xfrm>
          <a:prstGeom prst="rect">
            <a:avLst/>
          </a:prstGeom>
          <a:noFill/>
          <a:ln/>
        </p:spPr>
        <p:txBody>
          <a:bodyPr wrap="square" lIns="0" tIns="0" rIns="0" bIns="0" rtlCol="0" anchor="ctr"/>
          <a:lstStyle/>
          <a:p>
            <a:pPr indent="0" marL="0">
              <a:buNone/>
            </a:pPr>
            <a:r>
              <a:rPr lang="en-US" sz="850" b="1" dirty="0">
                <a:solidFill>
                  <a:srgbClr val="0D7C7B"/>
                </a:solidFill>
                <a:latin typeface="Calibri" pitchFamily="34" charset="0"/>
                <a:ea typeface="Calibri" pitchFamily="34" charset="-122"/>
                <a:cs typeface="Calibri" pitchFamily="34" charset="-120"/>
              </a:rPr>
              <a:t>DOE Atlas (national benchmark)</a:t>
            </a:r>
            <a:endParaRPr lang="en-US" sz="850" dirty="0"/>
          </a:p>
        </p:txBody>
      </p:sp>
      <p:sp>
        <p:nvSpPr>
          <p:cNvPr id="15" name="Text 13"/>
          <p:cNvSpPr/>
          <p:nvPr/>
        </p:nvSpPr>
        <p:spPr>
          <a:xfrm>
            <a:off x="475488" y="2414016"/>
            <a:ext cx="3877056" cy="219456"/>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U.S. distribution hosting capacity atlas — 58 utilities, 26 states. MA required hosting maps since Nov 2019.</a:t>
            </a:r>
            <a:endParaRPr lang="en-US" sz="800" dirty="0"/>
          </a:p>
        </p:txBody>
      </p:sp>
      <p:sp>
        <p:nvSpPr>
          <p:cNvPr id="16" name="Shape 14"/>
          <p:cNvSpPr/>
          <p:nvPr/>
        </p:nvSpPr>
        <p:spPr>
          <a:xfrm>
            <a:off x="384048" y="2715768"/>
            <a:ext cx="4059936" cy="438912"/>
          </a:xfrm>
          <a:prstGeom prst="rect">
            <a:avLst/>
          </a:prstGeom>
          <a:solidFill>
            <a:srgbClr val="FFFFFF">
              <a:alpha val="15000"/>
            </a:srgbClr>
          </a:solidFill>
          <a:ln/>
        </p:spPr>
      </p:sp>
      <p:sp>
        <p:nvSpPr>
          <p:cNvPr id="17" name="Text 15"/>
          <p:cNvSpPr/>
          <p:nvPr/>
        </p:nvSpPr>
        <p:spPr>
          <a:xfrm>
            <a:off x="475488" y="2743200"/>
            <a:ext cx="3877056" cy="182880"/>
          </a:xfrm>
          <a:prstGeom prst="rect">
            <a:avLst/>
          </a:prstGeom>
          <a:noFill/>
          <a:ln/>
        </p:spPr>
        <p:txBody>
          <a:bodyPr wrap="square" lIns="0" tIns="0" rIns="0" bIns="0" rtlCol="0" anchor="ctr"/>
          <a:lstStyle/>
          <a:p>
            <a:pPr indent="0" marL="0">
              <a:buNone/>
            </a:pPr>
            <a:r>
              <a:rPr lang="en-US" sz="850" b="1" dirty="0">
                <a:solidFill>
                  <a:srgbClr val="0D7C7B"/>
                </a:solidFill>
                <a:latin typeface="Calibri" pitchFamily="34" charset="0"/>
                <a:ea typeface="Calibri" pitchFamily="34" charset="-122"/>
                <a:cs typeface="Calibri" pitchFamily="34" charset="-120"/>
              </a:rPr>
              <a:t>ORNL OpenEnergyHub</a:t>
            </a:r>
            <a:endParaRPr lang="en-US" sz="850" dirty="0"/>
          </a:p>
        </p:txBody>
      </p:sp>
      <p:sp>
        <p:nvSpPr>
          <p:cNvPr id="18" name="Text 16"/>
          <p:cNvSpPr/>
          <p:nvPr/>
        </p:nvSpPr>
        <p:spPr>
          <a:xfrm>
            <a:off x="475488" y="2916936"/>
            <a:ext cx="3877056" cy="219456"/>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Bulk downloadable Eversource Eastern MA DG hosting capacity — enables programmatic analysis.</a:t>
            </a:r>
            <a:endParaRPr lang="en-US" sz="800" dirty="0"/>
          </a:p>
        </p:txBody>
      </p:sp>
      <p:sp>
        <p:nvSpPr>
          <p:cNvPr id="19" name="Shape 17"/>
          <p:cNvSpPr/>
          <p:nvPr/>
        </p:nvSpPr>
        <p:spPr>
          <a:xfrm>
            <a:off x="384048" y="3218688"/>
            <a:ext cx="4059936" cy="438912"/>
          </a:xfrm>
          <a:prstGeom prst="rect">
            <a:avLst/>
          </a:prstGeom>
          <a:solidFill>
            <a:srgbClr val="FFFFFF">
              <a:alpha val="8000"/>
            </a:srgbClr>
          </a:solidFill>
          <a:ln/>
        </p:spPr>
      </p:sp>
      <p:sp>
        <p:nvSpPr>
          <p:cNvPr id="20" name="Text 18"/>
          <p:cNvSpPr/>
          <p:nvPr/>
        </p:nvSpPr>
        <p:spPr>
          <a:xfrm>
            <a:off x="475488" y="3246120"/>
            <a:ext cx="3877056" cy="182880"/>
          </a:xfrm>
          <a:prstGeom prst="rect">
            <a:avLst/>
          </a:prstGeom>
          <a:noFill/>
          <a:ln/>
        </p:spPr>
        <p:txBody>
          <a:bodyPr wrap="square" lIns="0" tIns="0" rIns="0" bIns="0" rtlCol="0" anchor="ctr"/>
          <a:lstStyle/>
          <a:p>
            <a:pPr indent="0" marL="0">
              <a:buNone/>
            </a:pPr>
            <a:r>
              <a:rPr lang="en-US" sz="850" b="1" dirty="0">
                <a:solidFill>
                  <a:srgbClr val="0D7C7B"/>
                </a:solidFill>
                <a:latin typeface="Calibri" pitchFamily="34" charset="0"/>
                <a:ea typeface="Calibri" pitchFamily="34" charset="-122"/>
                <a:cs typeface="Calibri" pitchFamily="34" charset="-120"/>
              </a:rPr>
              <a:t>Interconnect Cost Reference (confirmed)</a:t>
            </a:r>
            <a:endParaRPr lang="en-US" sz="850" dirty="0"/>
          </a:p>
        </p:txBody>
      </p:sp>
      <p:sp>
        <p:nvSpPr>
          <p:cNvPr id="21" name="Text 19"/>
          <p:cNvSpPr/>
          <p:nvPr/>
        </p:nvSpPr>
        <p:spPr>
          <a:xfrm>
            <a:off x="475488" y="3419856"/>
            <a:ext cx="3877056" cy="219456"/>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Everett 231 Beacham: $2.0M (feeder-scale). Chelsea 283 Eastern: $12.0M (substation upgrade). Confirmed by project financial models.</a:t>
            </a:r>
            <a:endParaRPr lang="en-US" sz="800" dirty="0"/>
          </a:p>
        </p:txBody>
      </p:sp>
      <p:sp>
        <p:nvSpPr>
          <p:cNvPr id="22" name="Shape 20"/>
          <p:cNvSpPr/>
          <p:nvPr/>
        </p:nvSpPr>
        <p:spPr>
          <a:xfrm>
            <a:off x="384048" y="3721608"/>
            <a:ext cx="4059936" cy="438912"/>
          </a:xfrm>
          <a:prstGeom prst="rect">
            <a:avLst/>
          </a:prstGeom>
          <a:solidFill>
            <a:srgbClr val="FFFFFF">
              <a:alpha val="15000"/>
            </a:srgbClr>
          </a:solidFill>
          <a:ln/>
        </p:spPr>
      </p:sp>
      <p:sp>
        <p:nvSpPr>
          <p:cNvPr id="23" name="Text 21"/>
          <p:cNvSpPr/>
          <p:nvPr/>
        </p:nvSpPr>
        <p:spPr>
          <a:xfrm>
            <a:off x="475488" y="3749040"/>
            <a:ext cx="3877056" cy="182880"/>
          </a:xfrm>
          <a:prstGeom prst="rect">
            <a:avLst/>
          </a:prstGeom>
          <a:noFill/>
          <a:ln/>
        </p:spPr>
        <p:txBody>
          <a:bodyPr wrap="square" lIns="0" tIns="0" rIns="0" bIns="0" rtlCol="0" anchor="ctr"/>
          <a:lstStyle/>
          <a:p>
            <a:pPr indent="0" marL="0">
              <a:buNone/>
            </a:pPr>
            <a:r>
              <a:rPr lang="en-US" sz="850" b="1" dirty="0">
                <a:solidFill>
                  <a:srgbClr val="0D7C7B"/>
                </a:solidFill>
                <a:latin typeface="Calibri" pitchFamily="34" charset="0"/>
                <a:ea typeface="Calibri" pitchFamily="34" charset="-122"/>
                <a:cs typeface="Calibri" pitchFamily="34" charset="-120"/>
              </a:rPr>
              <a:t>ISO-NE Queue (Jan 2026)</a:t>
            </a:r>
            <a:endParaRPr lang="en-US" sz="850" dirty="0"/>
          </a:p>
        </p:txBody>
      </p:sp>
      <p:sp>
        <p:nvSpPr>
          <p:cNvPr id="24" name="Text 22"/>
          <p:cNvSpPr/>
          <p:nvPr/>
        </p:nvSpPr>
        <p:spPr>
          <a:xfrm>
            <a:off x="475488" y="3922776"/>
            <a:ext cx="3877056" cy="219456"/>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~14,000 MW total; 46% battery storage. 21 of 26 Cluster Study projects are battery storage — majority in Massachusetts.</a:t>
            </a:r>
            <a:endParaRPr lang="en-US" sz="800" dirty="0"/>
          </a:p>
        </p:txBody>
      </p:sp>
      <p:sp>
        <p:nvSpPr>
          <p:cNvPr id="25" name="Shape 23"/>
          <p:cNvSpPr/>
          <p:nvPr/>
        </p:nvSpPr>
        <p:spPr>
          <a:xfrm>
            <a:off x="4663440" y="777240"/>
            <a:ext cx="4187952" cy="4133088"/>
          </a:xfrm>
          <a:prstGeom prst="rect">
            <a:avLst/>
          </a:prstGeom>
          <a:solidFill>
            <a:srgbClr val="3A5278">
              <a:alpha val="7000"/>
            </a:srgbClr>
          </a:solidFill>
          <a:ln/>
          <a:effectLst>
            <a:outerShdw sx="100000" sy="100000" kx="0" ky="0" algn="bl" rotWithShape="0" blurRad="101600" dist="38100" dir="8100000">
              <a:srgbClr val="000000">
                <a:alpha val="13000"/>
              </a:srgbClr>
            </a:outerShdw>
          </a:effectLst>
        </p:spPr>
      </p:sp>
      <p:sp>
        <p:nvSpPr>
          <p:cNvPr id="26" name="Shape 24"/>
          <p:cNvSpPr/>
          <p:nvPr/>
        </p:nvSpPr>
        <p:spPr>
          <a:xfrm>
            <a:off x="4663440" y="777240"/>
            <a:ext cx="4187952" cy="347472"/>
          </a:xfrm>
          <a:prstGeom prst="rect">
            <a:avLst/>
          </a:prstGeom>
          <a:solidFill>
            <a:srgbClr val="3A5278"/>
          </a:solidFill>
          <a:ln/>
        </p:spPr>
      </p:sp>
      <p:sp>
        <p:nvSpPr>
          <p:cNvPr id="27" name="Text 25"/>
          <p:cNvSpPr/>
          <p:nvPr/>
        </p:nvSpPr>
        <p:spPr>
          <a:xfrm>
            <a:off x="4800600" y="813816"/>
            <a:ext cx="39319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Zoning, Permitting &amp; Legal Framework</a:t>
            </a:r>
            <a:endParaRPr lang="en-US" sz="1100" dirty="0"/>
          </a:p>
        </p:txBody>
      </p:sp>
      <p:sp>
        <p:nvSpPr>
          <p:cNvPr id="28" name="Text 26"/>
          <p:cNvSpPr/>
          <p:nvPr/>
        </p:nvSpPr>
        <p:spPr>
          <a:xfrm>
            <a:off x="4736592" y="1188720"/>
            <a:ext cx="4041648" cy="201168"/>
          </a:xfrm>
          <a:prstGeom prst="rect">
            <a:avLst/>
          </a:prstGeom>
          <a:noFill/>
          <a:ln/>
        </p:spPr>
        <p:txBody>
          <a:bodyPr wrap="square" lIns="0" tIns="0" rIns="0" bIns="0" rtlCol="0" anchor="ctr"/>
          <a:lstStyle/>
          <a:p>
            <a:pPr indent="0" marL="0">
              <a:buNone/>
            </a:pPr>
            <a:r>
              <a:rPr lang="en-US" sz="900" b="1" dirty="0">
                <a:solidFill>
                  <a:srgbClr val="F0B429"/>
                </a:solidFill>
                <a:latin typeface="Calibri" pitchFamily="34" charset="0"/>
                <a:ea typeface="Calibri" pitchFamily="34" charset="-122"/>
                <a:cs typeface="Calibri" pitchFamily="34" charset="-120"/>
              </a:rPr>
              <a:t>DOER Model BESS Bylaw — 3 Tiers (Oct 6, 2025):</a:t>
            </a:r>
            <a:endParaRPr lang="en-US" sz="900" dirty="0"/>
          </a:p>
        </p:txBody>
      </p:sp>
      <p:sp>
        <p:nvSpPr>
          <p:cNvPr id="29" name="Shape 27"/>
          <p:cNvSpPr/>
          <p:nvPr/>
        </p:nvSpPr>
        <p:spPr>
          <a:xfrm>
            <a:off x="4700016" y="1426464"/>
            <a:ext cx="585216" cy="310896"/>
          </a:xfrm>
          <a:prstGeom prst="rect">
            <a:avLst/>
          </a:prstGeom>
          <a:solidFill>
            <a:srgbClr val="0E2040"/>
          </a:solidFill>
          <a:ln/>
        </p:spPr>
      </p:sp>
      <p:sp>
        <p:nvSpPr>
          <p:cNvPr id="30" name="Text 28"/>
          <p:cNvSpPr/>
          <p:nvPr/>
        </p:nvSpPr>
        <p:spPr>
          <a:xfrm>
            <a:off x="4700016" y="1453896"/>
            <a:ext cx="585216"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Tier</a:t>
            </a:r>
            <a:endParaRPr lang="en-US" sz="750" dirty="0"/>
          </a:p>
        </p:txBody>
      </p:sp>
      <p:sp>
        <p:nvSpPr>
          <p:cNvPr id="31" name="Shape 29"/>
          <p:cNvSpPr/>
          <p:nvPr/>
        </p:nvSpPr>
        <p:spPr>
          <a:xfrm>
            <a:off x="5303520" y="1426464"/>
            <a:ext cx="758952" cy="310896"/>
          </a:xfrm>
          <a:prstGeom prst="rect">
            <a:avLst/>
          </a:prstGeom>
          <a:solidFill>
            <a:srgbClr val="0E2040"/>
          </a:solidFill>
          <a:ln/>
        </p:spPr>
      </p:sp>
      <p:sp>
        <p:nvSpPr>
          <p:cNvPr id="32" name="Text 30"/>
          <p:cNvSpPr/>
          <p:nvPr/>
        </p:nvSpPr>
        <p:spPr>
          <a:xfrm>
            <a:off x="5303520" y="1453896"/>
            <a:ext cx="75895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Capacity</a:t>
            </a:r>
            <a:endParaRPr lang="en-US" sz="750" dirty="0"/>
          </a:p>
        </p:txBody>
      </p:sp>
      <p:sp>
        <p:nvSpPr>
          <p:cNvPr id="33" name="Shape 31"/>
          <p:cNvSpPr/>
          <p:nvPr/>
        </p:nvSpPr>
        <p:spPr>
          <a:xfrm>
            <a:off x="6080760" y="1426464"/>
            <a:ext cx="731520" cy="310896"/>
          </a:xfrm>
          <a:prstGeom prst="rect">
            <a:avLst/>
          </a:prstGeom>
          <a:solidFill>
            <a:srgbClr val="0E2040"/>
          </a:solidFill>
          <a:ln/>
        </p:spPr>
      </p:sp>
      <p:sp>
        <p:nvSpPr>
          <p:cNvPr id="34" name="Text 32"/>
          <p:cNvSpPr/>
          <p:nvPr/>
        </p:nvSpPr>
        <p:spPr>
          <a:xfrm>
            <a:off x="6080760" y="1453896"/>
            <a:ext cx="73152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Industrial</a:t>
            </a:r>
            <a:endParaRPr lang="en-US" sz="750" dirty="0"/>
          </a:p>
        </p:txBody>
      </p:sp>
      <p:sp>
        <p:nvSpPr>
          <p:cNvPr id="35" name="Shape 33"/>
          <p:cNvSpPr/>
          <p:nvPr/>
        </p:nvSpPr>
        <p:spPr>
          <a:xfrm>
            <a:off x="6839712" y="1426464"/>
            <a:ext cx="731520" cy="310896"/>
          </a:xfrm>
          <a:prstGeom prst="rect">
            <a:avLst/>
          </a:prstGeom>
          <a:solidFill>
            <a:srgbClr val="0E2040"/>
          </a:solidFill>
          <a:ln/>
        </p:spPr>
      </p:sp>
      <p:sp>
        <p:nvSpPr>
          <p:cNvPr id="36" name="Text 34"/>
          <p:cNvSpPr/>
          <p:nvPr/>
        </p:nvSpPr>
        <p:spPr>
          <a:xfrm>
            <a:off x="6839712" y="1453896"/>
            <a:ext cx="73152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Commercial</a:t>
            </a:r>
            <a:endParaRPr lang="en-US" sz="750" dirty="0"/>
          </a:p>
        </p:txBody>
      </p:sp>
      <p:sp>
        <p:nvSpPr>
          <p:cNvPr id="37" name="Shape 35"/>
          <p:cNvSpPr/>
          <p:nvPr/>
        </p:nvSpPr>
        <p:spPr>
          <a:xfrm>
            <a:off x="7589520" y="1426464"/>
            <a:ext cx="1097280" cy="310896"/>
          </a:xfrm>
          <a:prstGeom prst="rect">
            <a:avLst/>
          </a:prstGeom>
          <a:solidFill>
            <a:srgbClr val="0E2040"/>
          </a:solidFill>
          <a:ln/>
        </p:spPr>
      </p:sp>
      <p:sp>
        <p:nvSpPr>
          <p:cNvPr id="38" name="Text 36"/>
          <p:cNvSpPr/>
          <p:nvPr/>
        </p:nvSpPr>
        <p:spPr>
          <a:xfrm>
            <a:off x="7589520" y="1453896"/>
            <a:ext cx="109728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Residential</a:t>
            </a:r>
            <a:endParaRPr lang="en-US" sz="750" dirty="0"/>
          </a:p>
        </p:txBody>
      </p:sp>
      <p:sp>
        <p:nvSpPr>
          <p:cNvPr id="39" name="Shape 37"/>
          <p:cNvSpPr/>
          <p:nvPr/>
        </p:nvSpPr>
        <p:spPr>
          <a:xfrm>
            <a:off x="4700016" y="1755648"/>
            <a:ext cx="585216" cy="310896"/>
          </a:xfrm>
          <a:prstGeom prst="rect">
            <a:avLst/>
          </a:prstGeom>
          <a:solidFill>
            <a:srgbClr val="FFFFFF"/>
          </a:solidFill>
          <a:ln/>
        </p:spPr>
      </p:sp>
      <p:sp>
        <p:nvSpPr>
          <p:cNvPr id="40" name="Text 38"/>
          <p:cNvSpPr/>
          <p:nvPr/>
        </p:nvSpPr>
        <p:spPr>
          <a:xfrm>
            <a:off x="4700016" y="1783080"/>
            <a:ext cx="585216"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1</a:t>
            </a:r>
            <a:endParaRPr lang="en-US" sz="800" dirty="0"/>
          </a:p>
        </p:txBody>
      </p:sp>
      <p:sp>
        <p:nvSpPr>
          <p:cNvPr id="41" name="Shape 39"/>
          <p:cNvSpPr/>
          <p:nvPr/>
        </p:nvSpPr>
        <p:spPr>
          <a:xfrm>
            <a:off x="5303520" y="1755648"/>
            <a:ext cx="758952" cy="310896"/>
          </a:xfrm>
          <a:prstGeom prst="rect">
            <a:avLst/>
          </a:prstGeom>
          <a:solidFill>
            <a:srgbClr val="FFFFFF"/>
          </a:solidFill>
          <a:ln/>
        </p:spPr>
      </p:sp>
      <p:sp>
        <p:nvSpPr>
          <p:cNvPr id="42" name="Text 40"/>
          <p:cNvSpPr/>
          <p:nvPr/>
        </p:nvSpPr>
        <p:spPr>
          <a:xfrm>
            <a:off x="5303520" y="1783080"/>
            <a:ext cx="758952"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&lt; 250 kWh</a:t>
            </a:r>
            <a:endParaRPr lang="en-US" sz="800" dirty="0"/>
          </a:p>
        </p:txBody>
      </p:sp>
      <p:sp>
        <p:nvSpPr>
          <p:cNvPr id="43" name="Shape 41"/>
          <p:cNvSpPr/>
          <p:nvPr/>
        </p:nvSpPr>
        <p:spPr>
          <a:xfrm>
            <a:off x="6080760" y="1755648"/>
            <a:ext cx="731520" cy="310896"/>
          </a:xfrm>
          <a:prstGeom prst="rect">
            <a:avLst/>
          </a:prstGeom>
          <a:solidFill>
            <a:srgbClr val="FFFFFF"/>
          </a:solidFill>
          <a:ln/>
        </p:spPr>
      </p:sp>
      <p:sp>
        <p:nvSpPr>
          <p:cNvPr id="44" name="Text 42"/>
          <p:cNvSpPr/>
          <p:nvPr/>
        </p:nvSpPr>
        <p:spPr>
          <a:xfrm>
            <a:off x="6080760" y="1783080"/>
            <a:ext cx="73152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By-Right</a:t>
            </a:r>
            <a:endParaRPr lang="en-US" sz="800" dirty="0"/>
          </a:p>
        </p:txBody>
      </p:sp>
      <p:sp>
        <p:nvSpPr>
          <p:cNvPr id="45" name="Shape 43"/>
          <p:cNvSpPr/>
          <p:nvPr/>
        </p:nvSpPr>
        <p:spPr>
          <a:xfrm>
            <a:off x="6839712" y="1755648"/>
            <a:ext cx="731520" cy="310896"/>
          </a:xfrm>
          <a:prstGeom prst="rect">
            <a:avLst/>
          </a:prstGeom>
          <a:solidFill>
            <a:srgbClr val="FFFFFF"/>
          </a:solidFill>
          <a:ln/>
        </p:spPr>
      </p:sp>
      <p:sp>
        <p:nvSpPr>
          <p:cNvPr id="46" name="Text 44"/>
          <p:cNvSpPr/>
          <p:nvPr/>
        </p:nvSpPr>
        <p:spPr>
          <a:xfrm>
            <a:off x="6839712" y="1783080"/>
            <a:ext cx="73152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By-Right</a:t>
            </a:r>
            <a:endParaRPr lang="en-US" sz="800" dirty="0"/>
          </a:p>
        </p:txBody>
      </p:sp>
      <p:sp>
        <p:nvSpPr>
          <p:cNvPr id="47" name="Shape 45"/>
          <p:cNvSpPr/>
          <p:nvPr/>
        </p:nvSpPr>
        <p:spPr>
          <a:xfrm>
            <a:off x="7589520" y="1755648"/>
            <a:ext cx="1097280" cy="310896"/>
          </a:xfrm>
          <a:prstGeom prst="rect">
            <a:avLst/>
          </a:prstGeom>
          <a:solidFill>
            <a:srgbClr val="FFFFFF"/>
          </a:solidFill>
          <a:ln/>
        </p:spPr>
      </p:sp>
      <p:sp>
        <p:nvSpPr>
          <p:cNvPr id="48" name="Text 46"/>
          <p:cNvSpPr/>
          <p:nvPr/>
        </p:nvSpPr>
        <p:spPr>
          <a:xfrm>
            <a:off x="7589520" y="1783080"/>
            <a:ext cx="109728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By-Right</a:t>
            </a:r>
            <a:endParaRPr lang="en-US" sz="800" dirty="0"/>
          </a:p>
        </p:txBody>
      </p:sp>
      <p:sp>
        <p:nvSpPr>
          <p:cNvPr id="49" name="Shape 47"/>
          <p:cNvSpPr/>
          <p:nvPr/>
        </p:nvSpPr>
        <p:spPr>
          <a:xfrm>
            <a:off x="4700016" y="2084832"/>
            <a:ext cx="585216" cy="310896"/>
          </a:xfrm>
          <a:prstGeom prst="rect">
            <a:avLst/>
          </a:prstGeom>
          <a:solidFill>
            <a:srgbClr val="F4F1EB"/>
          </a:solidFill>
          <a:ln/>
        </p:spPr>
      </p:sp>
      <p:sp>
        <p:nvSpPr>
          <p:cNvPr id="50" name="Text 48"/>
          <p:cNvSpPr/>
          <p:nvPr/>
        </p:nvSpPr>
        <p:spPr>
          <a:xfrm>
            <a:off x="4700016" y="2112264"/>
            <a:ext cx="585216"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2</a:t>
            </a:r>
            <a:endParaRPr lang="en-US" sz="800" dirty="0"/>
          </a:p>
        </p:txBody>
      </p:sp>
      <p:sp>
        <p:nvSpPr>
          <p:cNvPr id="51" name="Shape 49"/>
          <p:cNvSpPr/>
          <p:nvPr/>
        </p:nvSpPr>
        <p:spPr>
          <a:xfrm>
            <a:off x="5303520" y="2084832"/>
            <a:ext cx="758952" cy="310896"/>
          </a:xfrm>
          <a:prstGeom prst="rect">
            <a:avLst/>
          </a:prstGeom>
          <a:solidFill>
            <a:srgbClr val="F4F1EB"/>
          </a:solidFill>
          <a:ln/>
        </p:spPr>
      </p:sp>
      <p:sp>
        <p:nvSpPr>
          <p:cNvPr id="52" name="Text 50"/>
          <p:cNvSpPr/>
          <p:nvPr/>
        </p:nvSpPr>
        <p:spPr>
          <a:xfrm>
            <a:off x="5303520" y="2112264"/>
            <a:ext cx="758952"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250 kWh–10 MWh</a:t>
            </a:r>
            <a:endParaRPr lang="en-US" sz="800" dirty="0"/>
          </a:p>
        </p:txBody>
      </p:sp>
      <p:sp>
        <p:nvSpPr>
          <p:cNvPr id="53" name="Shape 51"/>
          <p:cNvSpPr/>
          <p:nvPr/>
        </p:nvSpPr>
        <p:spPr>
          <a:xfrm>
            <a:off x="6080760" y="2084832"/>
            <a:ext cx="731520" cy="310896"/>
          </a:xfrm>
          <a:prstGeom prst="rect">
            <a:avLst/>
          </a:prstGeom>
          <a:solidFill>
            <a:srgbClr val="F4F1EB"/>
          </a:solidFill>
          <a:ln/>
        </p:spPr>
      </p:sp>
      <p:sp>
        <p:nvSpPr>
          <p:cNvPr id="54" name="Text 52"/>
          <p:cNvSpPr/>
          <p:nvPr/>
        </p:nvSpPr>
        <p:spPr>
          <a:xfrm>
            <a:off x="6080760" y="2112264"/>
            <a:ext cx="73152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By-Right</a:t>
            </a:r>
            <a:endParaRPr lang="en-US" sz="800" dirty="0"/>
          </a:p>
        </p:txBody>
      </p:sp>
      <p:sp>
        <p:nvSpPr>
          <p:cNvPr id="55" name="Shape 53"/>
          <p:cNvSpPr/>
          <p:nvPr/>
        </p:nvSpPr>
        <p:spPr>
          <a:xfrm>
            <a:off x="6839712" y="2084832"/>
            <a:ext cx="731520" cy="310896"/>
          </a:xfrm>
          <a:prstGeom prst="rect">
            <a:avLst/>
          </a:prstGeom>
          <a:solidFill>
            <a:srgbClr val="F4F1EB"/>
          </a:solidFill>
          <a:ln/>
        </p:spPr>
      </p:sp>
      <p:sp>
        <p:nvSpPr>
          <p:cNvPr id="56" name="Text 54"/>
          <p:cNvSpPr/>
          <p:nvPr/>
        </p:nvSpPr>
        <p:spPr>
          <a:xfrm>
            <a:off x="6839712" y="2112264"/>
            <a:ext cx="73152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Site Plan</a:t>
            </a:r>
            <a:endParaRPr lang="en-US" sz="800" dirty="0"/>
          </a:p>
        </p:txBody>
      </p:sp>
      <p:sp>
        <p:nvSpPr>
          <p:cNvPr id="57" name="Shape 55"/>
          <p:cNvSpPr/>
          <p:nvPr/>
        </p:nvSpPr>
        <p:spPr>
          <a:xfrm>
            <a:off x="7589520" y="2084832"/>
            <a:ext cx="1097280" cy="310896"/>
          </a:xfrm>
          <a:prstGeom prst="rect">
            <a:avLst/>
          </a:prstGeom>
          <a:solidFill>
            <a:srgbClr val="F4F1EB"/>
          </a:solidFill>
          <a:ln/>
        </p:spPr>
      </p:sp>
      <p:sp>
        <p:nvSpPr>
          <p:cNvPr id="58" name="Text 56"/>
          <p:cNvSpPr/>
          <p:nvPr/>
        </p:nvSpPr>
        <p:spPr>
          <a:xfrm>
            <a:off x="7589520" y="2112264"/>
            <a:ext cx="109728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Spec. Permit</a:t>
            </a:r>
            <a:endParaRPr lang="en-US" sz="800" dirty="0"/>
          </a:p>
        </p:txBody>
      </p:sp>
      <p:sp>
        <p:nvSpPr>
          <p:cNvPr id="59" name="Shape 57"/>
          <p:cNvSpPr/>
          <p:nvPr/>
        </p:nvSpPr>
        <p:spPr>
          <a:xfrm>
            <a:off x="4700016" y="2414016"/>
            <a:ext cx="585216" cy="310896"/>
          </a:xfrm>
          <a:prstGeom prst="rect">
            <a:avLst/>
          </a:prstGeom>
          <a:solidFill>
            <a:srgbClr val="FFFFFF"/>
          </a:solidFill>
          <a:ln/>
        </p:spPr>
      </p:sp>
      <p:sp>
        <p:nvSpPr>
          <p:cNvPr id="60" name="Text 58"/>
          <p:cNvSpPr/>
          <p:nvPr/>
        </p:nvSpPr>
        <p:spPr>
          <a:xfrm>
            <a:off x="4700016" y="2441448"/>
            <a:ext cx="585216"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3</a:t>
            </a:r>
            <a:endParaRPr lang="en-US" sz="800" dirty="0"/>
          </a:p>
        </p:txBody>
      </p:sp>
      <p:sp>
        <p:nvSpPr>
          <p:cNvPr id="61" name="Shape 59"/>
          <p:cNvSpPr/>
          <p:nvPr/>
        </p:nvSpPr>
        <p:spPr>
          <a:xfrm>
            <a:off x="5303520" y="2414016"/>
            <a:ext cx="758952" cy="310896"/>
          </a:xfrm>
          <a:prstGeom prst="rect">
            <a:avLst/>
          </a:prstGeom>
          <a:solidFill>
            <a:srgbClr val="FFFFFF"/>
          </a:solidFill>
          <a:ln/>
        </p:spPr>
      </p:sp>
      <p:sp>
        <p:nvSpPr>
          <p:cNvPr id="62" name="Text 60"/>
          <p:cNvSpPr/>
          <p:nvPr/>
        </p:nvSpPr>
        <p:spPr>
          <a:xfrm>
            <a:off x="5303520" y="2441448"/>
            <a:ext cx="758952"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10–100 MWh</a:t>
            </a:r>
            <a:endParaRPr lang="en-US" sz="800" dirty="0"/>
          </a:p>
        </p:txBody>
      </p:sp>
      <p:sp>
        <p:nvSpPr>
          <p:cNvPr id="63" name="Shape 61"/>
          <p:cNvSpPr/>
          <p:nvPr/>
        </p:nvSpPr>
        <p:spPr>
          <a:xfrm>
            <a:off x="6080760" y="2414016"/>
            <a:ext cx="731520" cy="310896"/>
          </a:xfrm>
          <a:prstGeom prst="rect">
            <a:avLst/>
          </a:prstGeom>
          <a:solidFill>
            <a:srgbClr val="FFFFFF"/>
          </a:solidFill>
          <a:ln/>
        </p:spPr>
      </p:sp>
      <p:sp>
        <p:nvSpPr>
          <p:cNvPr id="64" name="Text 62"/>
          <p:cNvSpPr/>
          <p:nvPr/>
        </p:nvSpPr>
        <p:spPr>
          <a:xfrm>
            <a:off x="6080760" y="2441448"/>
            <a:ext cx="73152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Site Plan</a:t>
            </a:r>
            <a:endParaRPr lang="en-US" sz="800" dirty="0"/>
          </a:p>
        </p:txBody>
      </p:sp>
      <p:sp>
        <p:nvSpPr>
          <p:cNvPr id="65" name="Shape 63"/>
          <p:cNvSpPr/>
          <p:nvPr/>
        </p:nvSpPr>
        <p:spPr>
          <a:xfrm>
            <a:off x="6839712" y="2414016"/>
            <a:ext cx="731520" cy="310896"/>
          </a:xfrm>
          <a:prstGeom prst="rect">
            <a:avLst/>
          </a:prstGeom>
          <a:solidFill>
            <a:srgbClr val="FFFFFF"/>
          </a:solidFill>
          <a:ln/>
        </p:spPr>
      </p:sp>
      <p:sp>
        <p:nvSpPr>
          <p:cNvPr id="66" name="Text 64"/>
          <p:cNvSpPr/>
          <p:nvPr/>
        </p:nvSpPr>
        <p:spPr>
          <a:xfrm>
            <a:off x="6839712" y="2441448"/>
            <a:ext cx="73152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Spec. Permit</a:t>
            </a:r>
            <a:endParaRPr lang="en-US" sz="800" dirty="0"/>
          </a:p>
        </p:txBody>
      </p:sp>
      <p:sp>
        <p:nvSpPr>
          <p:cNvPr id="67" name="Shape 65"/>
          <p:cNvSpPr/>
          <p:nvPr/>
        </p:nvSpPr>
        <p:spPr>
          <a:xfrm>
            <a:off x="7589520" y="2414016"/>
            <a:ext cx="1097280" cy="310896"/>
          </a:xfrm>
          <a:prstGeom prst="rect">
            <a:avLst/>
          </a:prstGeom>
          <a:solidFill>
            <a:srgbClr val="FFFFFF"/>
          </a:solidFill>
          <a:ln/>
        </p:spPr>
      </p:sp>
      <p:sp>
        <p:nvSpPr>
          <p:cNvPr id="68" name="Text 66"/>
          <p:cNvSpPr/>
          <p:nvPr/>
        </p:nvSpPr>
        <p:spPr>
          <a:xfrm>
            <a:off x="7589520" y="2441448"/>
            <a:ext cx="1097280" cy="256032"/>
          </a:xfrm>
          <a:prstGeom prst="rect">
            <a:avLst/>
          </a:prstGeom>
          <a:noFill/>
          <a:ln/>
        </p:spPr>
        <p:txBody>
          <a:bodyPr wrap="square" lIns="0" tIns="0" rIns="0" bIns="0" rtlCol="0" anchor="ctr"/>
          <a:lstStyle/>
          <a:p>
            <a:pPr algn="ctr" indent="0" marL="0">
              <a:buNone/>
            </a:pPr>
            <a:r>
              <a:rPr lang="en-US" sz="800" dirty="0">
                <a:solidFill>
                  <a:srgbClr val="09182B"/>
                </a:solidFill>
                <a:latin typeface="Calibri" pitchFamily="34" charset="0"/>
                <a:ea typeface="Calibri" pitchFamily="34" charset="-122"/>
                <a:cs typeface="Calibri" pitchFamily="34" charset="-120"/>
              </a:rPr>
              <a:t>Spec. Permit</a:t>
            </a:r>
            <a:endParaRPr lang="en-US" sz="800" dirty="0"/>
          </a:p>
        </p:txBody>
      </p:sp>
      <p:sp>
        <p:nvSpPr>
          <p:cNvPr id="69" name="Shape 67"/>
          <p:cNvSpPr/>
          <p:nvPr/>
        </p:nvSpPr>
        <p:spPr>
          <a:xfrm>
            <a:off x="4700016" y="2743200"/>
            <a:ext cx="585216" cy="310896"/>
          </a:xfrm>
          <a:prstGeom prst="rect">
            <a:avLst/>
          </a:prstGeom>
          <a:solidFill>
            <a:srgbClr val="118A6E"/>
          </a:solidFill>
          <a:ln/>
        </p:spPr>
      </p:sp>
      <p:sp>
        <p:nvSpPr>
          <p:cNvPr id="70" name="Text 68"/>
          <p:cNvSpPr/>
          <p:nvPr/>
        </p:nvSpPr>
        <p:spPr>
          <a:xfrm>
            <a:off x="4700016" y="2770632"/>
            <a:ext cx="58521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≥100 MWh</a:t>
            </a:r>
            <a:endParaRPr lang="en-US" sz="800" dirty="0"/>
          </a:p>
        </p:txBody>
      </p:sp>
      <p:sp>
        <p:nvSpPr>
          <p:cNvPr id="71" name="Shape 69"/>
          <p:cNvSpPr/>
          <p:nvPr/>
        </p:nvSpPr>
        <p:spPr>
          <a:xfrm>
            <a:off x="5303520" y="2743200"/>
            <a:ext cx="758952" cy="310896"/>
          </a:xfrm>
          <a:prstGeom prst="rect">
            <a:avLst/>
          </a:prstGeom>
          <a:solidFill>
            <a:srgbClr val="118A6E"/>
          </a:solidFill>
          <a:ln/>
        </p:spPr>
      </p:sp>
      <p:sp>
        <p:nvSpPr>
          <p:cNvPr id="72" name="Text 70"/>
          <p:cNvSpPr/>
          <p:nvPr/>
        </p:nvSpPr>
        <p:spPr>
          <a:xfrm>
            <a:off x="5303520" y="2770632"/>
            <a:ext cx="7589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≥100 MWh</a:t>
            </a:r>
            <a:endParaRPr lang="en-US" sz="800" dirty="0"/>
          </a:p>
        </p:txBody>
      </p:sp>
      <p:sp>
        <p:nvSpPr>
          <p:cNvPr id="73" name="Shape 71"/>
          <p:cNvSpPr/>
          <p:nvPr/>
        </p:nvSpPr>
        <p:spPr>
          <a:xfrm>
            <a:off x="6080760" y="2743200"/>
            <a:ext cx="731520" cy="310896"/>
          </a:xfrm>
          <a:prstGeom prst="rect">
            <a:avLst/>
          </a:prstGeom>
          <a:solidFill>
            <a:srgbClr val="118A6E"/>
          </a:solidFill>
          <a:ln/>
        </p:spPr>
      </p:sp>
      <p:sp>
        <p:nvSpPr>
          <p:cNvPr id="74" name="Text 72"/>
          <p:cNvSpPr/>
          <p:nvPr/>
        </p:nvSpPr>
        <p:spPr>
          <a:xfrm>
            <a:off x="6080760" y="2770632"/>
            <a:ext cx="7315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EFSB Sole</a:t>
            </a:r>
            <a:endParaRPr lang="en-US" sz="800" dirty="0"/>
          </a:p>
        </p:txBody>
      </p:sp>
      <p:sp>
        <p:nvSpPr>
          <p:cNvPr id="75" name="Shape 73"/>
          <p:cNvSpPr/>
          <p:nvPr/>
        </p:nvSpPr>
        <p:spPr>
          <a:xfrm>
            <a:off x="6839712" y="2743200"/>
            <a:ext cx="731520" cy="310896"/>
          </a:xfrm>
          <a:prstGeom prst="rect">
            <a:avLst/>
          </a:prstGeom>
          <a:solidFill>
            <a:srgbClr val="118A6E"/>
          </a:solidFill>
          <a:ln/>
        </p:spPr>
      </p:sp>
      <p:sp>
        <p:nvSpPr>
          <p:cNvPr id="76" name="Text 74"/>
          <p:cNvSpPr/>
          <p:nvPr/>
        </p:nvSpPr>
        <p:spPr>
          <a:xfrm>
            <a:off x="6839712" y="2770632"/>
            <a:ext cx="7315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EFSB Sole</a:t>
            </a:r>
            <a:endParaRPr lang="en-US" sz="800" dirty="0"/>
          </a:p>
        </p:txBody>
      </p:sp>
      <p:sp>
        <p:nvSpPr>
          <p:cNvPr id="77" name="Shape 75"/>
          <p:cNvSpPr/>
          <p:nvPr/>
        </p:nvSpPr>
        <p:spPr>
          <a:xfrm>
            <a:off x="7589520" y="2743200"/>
            <a:ext cx="1097280" cy="310896"/>
          </a:xfrm>
          <a:prstGeom prst="rect">
            <a:avLst/>
          </a:prstGeom>
          <a:solidFill>
            <a:srgbClr val="118A6E"/>
          </a:solidFill>
          <a:ln/>
        </p:spPr>
      </p:sp>
      <p:sp>
        <p:nvSpPr>
          <p:cNvPr id="78" name="Text 76"/>
          <p:cNvSpPr/>
          <p:nvPr/>
        </p:nvSpPr>
        <p:spPr>
          <a:xfrm>
            <a:off x="7589520" y="2770632"/>
            <a:ext cx="10972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EFSB Sole</a:t>
            </a:r>
            <a:endParaRPr lang="en-US" sz="800" dirty="0"/>
          </a:p>
        </p:txBody>
      </p:sp>
      <p:sp>
        <p:nvSpPr>
          <p:cNvPr id="79" name="Shape 77"/>
          <p:cNvSpPr/>
          <p:nvPr/>
        </p:nvSpPr>
        <p:spPr>
          <a:xfrm>
            <a:off x="4700016" y="3108960"/>
            <a:ext cx="4114800" cy="512064"/>
          </a:xfrm>
          <a:prstGeom prst="rect">
            <a:avLst/>
          </a:prstGeom>
          <a:solidFill>
            <a:srgbClr val="FFFFFF">
              <a:alpha val="12000"/>
            </a:srgbClr>
          </a:solidFill>
          <a:ln/>
        </p:spPr>
      </p:sp>
      <p:sp>
        <p:nvSpPr>
          <p:cNvPr id="80" name="Shape 78"/>
          <p:cNvSpPr/>
          <p:nvPr/>
        </p:nvSpPr>
        <p:spPr>
          <a:xfrm>
            <a:off x="4700016" y="3108960"/>
            <a:ext cx="64008" cy="512064"/>
          </a:xfrm>
          <a:prstGeom prst="rect">
            <a:avLst/>
          </a:prstGeom>
          <a:solidFill>
            <a:srgbClr val="2A6145"/>
          </a:solidFill>
          <a:ln/>
        </p:spPr>
      </p:sp>
      <p:sp>
        <p:nvSpPr>
          <p:cNvPr id="81" name="Text 79"/>
          <p:cNvSpPr/>
          <p:nvPr/>
        </p:nvSpPr>
        <p:spPr>
          <a:xfrm>
            <a:off x="4828032" y="3136392"/>
            <a:ext cx="3913632" cy="182880"/>
          </a:xfrm>
          <a:prstGeom prst="rect">
            <a:avLst/>
          </a:prstGeom>
          <a:noFill/>
          <a:ln/>
        </p:spPr>
        <p:txBody>
          <a:bodyPr wrap="square" lIns="0" tIns="0" rIns="0" bIns="0" rtlCol="0" anchor="ctr"/>
          <a:lstStyle/>
          <a:p>
            <a:pPr indent="0" marL="0">
              <a:buNone/>
            </a:pPr>
            <a:r>
              <a:rPr lang="en-US" sz="900" b="1" dirty="0">
                <a:solidFill>
                  <a:srgbClr val="2A6145"/>
                </a:solidFill>
                <a:latin typeface="Calibri" pitchFamily="34" charset="0"/>
                <a:ea typeface="Calibri" pitchFamily="34" charset="-122"/>
                <a:cs typeface="Calibri" pitchFamily="34" charset="-120"/>
              </a:rPr>
              <a:t>EFSB Sole Jurisdiction (July 1, 2026)</a:t>
            </a:r>
            <a:endParaRPr lang="en-US" sz="900" dirty="0"/>
          </a:p>
        </p:txBody>
      </p:sp>
      <p:sp>
        <p:nvSpPr>
          <p:cNvPr id="82" name="Text 80"/>
          <p:cNvSpPr/>
          <p:nvPr/>
        </p:nvSpPr>
        <p:spPr>
          <a:xfrm>
            <a:off x="4828032" y="3310128"/>
            <a:ext cx="3913632" cy="27432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15-month consolidated permit for ≥100 MWh. Chelsea (400 MWh) qualifies. Everett (60 MWh) uses local permitting path. Both sites clear.</a:t>
            </a:r>
            <a:endParaRPr lang="en-US" sz="800" dirty="0"/>
          </a:p>
        </p:txBody>
      </p:sp>
      <p:sp>
        <p:nvSpPr>
          <p:cNvPr id="83" name="Shape 81"/>
          <p:cNvSpPr/>
          <p:nvPr/>
        </p:nvSpPr>
        <p:spPr>
          <a:xfrm>
            <a:off x="4700016" y="3675888"/>
            <a:ext cx="4114800" cy="512064"/>
          </a:xfrm>
          <a:prstGeom prst="rect">
            <a:avLst/>
          </a:prstGeom>
          <a:solidFill>
            <a:srgbClr val="FFFFFF">
              <a:alpha val="12000"/>
            </a:srgbClr>
          </a:solidFill>
          <a:ln/>
        </p:spPr>
      </p:sp>
      <p:sp>
        <p:nvSpPr>
          <p:cNvPr id="84" name="Shape 82"/>
          <p:cNvSpPr/>
          <p:nvPr/>
        </p:nvSpPr>
        <p:spPr>
          <a:xfrm>
            <a:off x="4700016" y="3675888"/>
            <a:ext cx="64008" cy="512064"/>
          </a:xfrm>
          <a:prstGeom prst="rect">
            <a:avLst/>
          </a:prstGeom>
          <a:solidFill>
            <a:srgbClr val="C68A17"/>
          </a:solidFill>
          <a:ln/>
        </p:spPr>
      </p:sp>
      <p:sp>
        <p:nvSpPr>
          <p:cNvPr id="85" name="Text 83"/>
          <p:cNvSpPr/>
          <p:nvPr/>
        </p:nvSpPr>
        <p:spPr>
          <a:xfrm>
            <a:off x="4828032" y="3703320"/>
            <a:ext cx="3913632" cy="182880"/>
          </a:xfrm>
          <a:prstGeom prst="rect">
            <a:avLst/>
          </a:prstGeom>
          <a:noFill/>
          <a:ln/>
        </p:spPr>
        <p:txBody>
          <a:bodyPr wrap="square" lIns="0" tIns="0" rIns="0" bIns="0" rtlCol="0" anchor="ctr"/>
          <a:lstStyle/>
          <a:p>
            <a:pPr indent="0" marL="0">
              <a:buNone/>
            </a:pPr>
            <a:r>
              <a:rPr lang="en-US" sz="900" b="1" dirty="0">
                <a:solidFill>
                  <a:srgbClr val="C68A17"/>
                </a:solidFill>
                <a:latin typeface="Calibri" pitchFamily="34" charset="0"/>
                <a:ea typeface="Calibri" pitchFamily="34" charset="-122"/>
                <a:cs typeface="Calibri" pitchFamily="34" charset="-120"/>
              </a:rPr>
              <a:t>Dover Amendment (M.G.L. c.40A §3)</a:t>
            </a:r>
            <a:endParaRPr lang="en-US" sz="900" dirty="0"/>
          </a:p>
        </p:txBody>
      </p:sp>
      <p:sp>
        <p:nvSpPr>
          <p:cNvPr id="86" name="Text 84"/>
          <p:cNvSpPr/>
          <p:nvPr/>
        </p:nvSpPr>
        <p:spPr>
          <a:xfrm>
            <a:off x="4828032" y="3877056"/>
            <a:ext cx="3913632" cy="27432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Upheld in Duxbury Energy Storage v. Duxbury ZBA (MA Land Court, Jun 2025). Standalone BESS protected.</a:t>
            </a:r>
            <a:endParaRPr lang="en-US" sz="800" dirty="0"/>
          </a:p>
        </p:txBody>
      </p:sp>
      <p:sp>
        <p:nvSpPr>
          <p:cNvPr id="87" name="Shape 85"/>
          <p:cNvSpPr/>
          <p:nvPr/>
        </p:nvSpPr>
        <p:spPr>
          <a:xfrm>
            <a:off x="4700016" y="4242816"/>
            <a:ext cx="4114800" cy="512064"/>
          </a:xfrm>
          <a:prstGeom prst="rect">
            <a:avLst/>
          </a:prstGeom>
          <a:solidFill>
            <a:srgbClr val="FFFFFF">
              <a:alpha val="12000"/>
            </a:srgbClr>
          </a:solidFill>
          <a:ln/>
        </p:spPr>
      </p:sp>
      <p:sp>
        <p:nvSpPr>
          <p:cNvPr id="88" name="Shape 86"/>
          <p:cNvSpPr/>
          <p:nvPr/>
        </p:nvSpPr>
        <p:spPr>
          <a:xfrm>
            <a:off x="4700016" y="4242816"/>
            <a:ext cx="64008" cy="512064"/>
          </a:xfrm>
          <a:prstGeom prst="rect">
            <a:avLst/>
          </a:prstGeom>
          <a:solidFill>
            <a:srgbClr val="11988F"/>
          </a:solidFill>
          <a:ln/>
        </p:spPr>
      </p:sp>
      <p:sp>
        <p:nvSpPr>
          <p:cNvPr id="89" name="Text 87"/>
          <p:cNvSpPr/>
          <p:nvPr/>
        </p:nvSpPr>
        <p:spPr>
          <a:xfrm>
            <a:off x="4828032" y="4270248"/>
            <a:ext cx="3913632" cy="182880"/>
          </a:xfrm>
          <a:prstGeom prst="rect">
            <a:avLst/>
          </a:prstGeom>
          <a:noFill/>
          <a:ln/>
        </p:spPr>
        <p:txBody>
          <a:bodyPr wrap="square" lIns="0" tIns="0" rIns="0" bIns="0" rtlCol="0" anchor="ctr"/>
          <a:lstStyle/>
          <a:p>
            <a:pPr indent="0" marL="0">
              <a:buNone/>
            </a:pPr>
            <a:r>
              <a:rPr lang="en-US" sz="900" b="1" dirty="0">
                <a:solidFill>
                  <a:srgbClr val="11988F"/>
                </a:solidFill>
                <a:latin typeface="Calibri" pitchFamily="34" charset="0"/>
                <a:ea typeface="Calibri" pitchFamily="34" charset="-122"/>
                <a:cs typeface="Calibri" pitchFamily="34" charset="-120"/>
              </a:rPr>
              <a:t>AGO Moratorium Record</a:t>
            </a:r>
            <a:endParaRPr lang="en-US" sz="900" dirty="0"/>
          </a:p>
        </p:txBody>
      </p:sp>
      <p:sp>
        <p:nvSpPr>
          <p:cNvPr id="90" name="Text 88"/>
          <p:cNvSpPr/>
          <p:nvPr/>
        </p:nvSpPr>
        <p:spPr>
          <a:xfrm>
            <a:off x="4828032" y="4443984"/>
            <a:ext cx="3913632" cy="27432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Every MA municipal BESS moratorium rejected. Zero moratoriums in Suffolk or Middlesex — both project sites in clear-permitting jurisdictions.</a:t>
            </a:r>
            <a:endParaRPr lang="en-US" sz="800" dirty="0"/>
          </a:p>
        </p:txBody>
      </p:sp>
      <p:sp>
        <p:nvSpPr>
          <p:cNvPr id="91" name="Shape 89"/>
          <p:cNvSpPr/>
          <p:nvPr/>
        </p:nvSpPr>
        <p:spPr>
          <a:xfrm>
            <a:off x="0" y="4864608"/>
            <a:ext cx="9144000" cy="274320"/>
          </a:xfrm>
          <a:prstGeom prst="rect">
            <a:avLst/>
          </a:prstGeom>
          <a:solidFill>
            <a:srgbClr val="09182B"/>
          </a:solidFill>
          <a:ln/>
        </p:spPr>
      </p:sp>
      <p:sp>
        <p:nvSpPr>
          <p:cNvPr id="92" name="Text 90"/>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Eversource Hosting Capacity Map · National Grid MA SDP · U.S. DOE Atlas (Jul 2025) · DOER Model Bylaw (Oct 2025) · BESS Financial Models — confirmed interconnection costs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2040"/>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LAYERS 4 &amp; 5: PHYSICAL FEASIBILITY &amp; REVENUE MODELING</a:t>
            </a:r>
            <a:endParaRPr lang="en-US" sz="1100" dirty="0"/>
          </a:p>
        </p:txBody>
      </p:sp>
      <p:graphicFrame>
        <p:nvGraphicFramePr>
          <p:cNvPr id="4" name="Chart 0" descr=""/>
          <p:cNvGraphicFramePr/>
          <p:nvPr/>
        </p:nvGraphicFramePr>
        <p:xfrm>
          <a:off x="320040" y="804672"/>
          <a:ext cx="429768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320040" y="4160520"/>
            <a:ext cx="4297680" cy="713232"/>
          </a:xfrm>
          <a:prstGeom prst="rect">
            <a:avLst/>
          </a:prstGeom>
          <a:solidFill>
            <a:srgbClr val="3A5278">
              <a:alpha val="20000"/>
            </a:srgbClr>
          </a:solidFill>
          <a:ln/>
        </p:spPr>
      </p:sp>
      <p:sp>
        <p:nvSpPr>
          <p:cNvPr id="6" name="Text 3"/>
          <p:cNvSpPr/>
          <p:nvPr/>
        </p:nvSpPr>
        <p:spPr>
          <a:xfrm>
            <a:off x="457200" y="4187952"/>
            <a:ext cx="4023360" cy="201168"/>
          </a:xfrm>
          <a:prstGeom prst="rect">
            <a:avLst/>
          </a:prstGeom>
          <a:noFill/>
          <a:ln/>
        </p:spPr>
        <p:txBody>
          <a:bodyPr wrap="square" lIns="0" tIns="0" rIns="0" bIns="0" rtlCol="0" anchor="ctr"/>
          <a:lstStyle/>
          <a:p>
            <a:pPr indent="0" marL="0">
              <a:buNone/>
            </a:pPr>
            <a:r>
              <a:rPr lang="en-US" sz="950" b="1" dirty="0">
                <a:solidFill>
                  <a:srgbClr val="F0B429"/>
                </a:solidFill>
                <a:latin typeface="Calibri" pitchFamily="34" charset="0"/>
                <a:ea typeface="Calibri" pitchFamily="34" charset="-122"/>
                <a:cs typeface="Calibri" pitchFamily="34" charset="-120"/>
              </a:rPr>
              <a:t>ISO-NE NEMA Zone — Confirmed Revenue Basis</a:t>
            </a:r>
            <a:endParaRPr lang="en-US" sz="950" dirty="0"/>
          </a:p>
        </p:txBody>
      </p:sp>
      <p:sp>
        <p:nvSpPr>
          <p:cNvPr id="7" name="Text 4"/>
          <p:cNvSpPr/>
          <p:nvPr/>
        </p:nvSpPr>
        <p:spPr>
          <a:xfrm>
            <a:off x="457200" y="4389120"/>
            <a:ext cx="4023360" cy="438912"/>
          </a:xfrm>
          <a:prstGeom prst="rect">
            <a:avLst/>
          </a:prstGeom>
          <a:noFill/>
          <a:ln/>
        </p:spPr>
        <p:txBody>
          <a:bodyPr wrap="square" lIns="0" tIns="0" rIns="0" bIns="0" rtlCol="0" anchor="ctr"/>
          <a:lstStyle/>
          <a:p>
            <a:pPr indent="0" marL="0">
              <a:lnSpc>
                <a:spcPct val="130000"/>
              </a:lnSpc>
              <a:buNone/>
            </a:pPr>
            <a:r>
              <a:rPr lang="en-US" sz="750" dirty="0">
                <a:solidFill>
                  <a:srgbClr val="A9BAC9"/>
                </a:solidFill>
                <a:latin typeface="Calibri" pitchFamily="34" charset="0"/>
                <a:ea typeface="Calibri" pitchFamily="34" charset="-122"/>
                <a:cs typeface="Calibri" pitchFamily="34" charset="-120"/>
              </a:rPr>
              <a:t>Both financial models use $130/kW-yr base · NEMA DA 2024 avg: $42.09/MWh · NEMA Summer 2025: $53.31/MWh · Scarcity Jun 24, 2025: ~$1,600/MWh · Capacity (FCA 18): $3.58/kW-mo · Sensitivity threshold: Everett needs &gt;$150/kW-yr for positive NPV</a:t>
            </a:r>
            <a:endParaRPr lang="en-US" sz="750" dirty="0"/>
          </a:p>
        </p:txBody>
      </p:sp>
      <p:sp>
        <p:nvSpPr>
          <p:cNvPr id="8" name="Shape 5"/>
          <p:cNvSpPr/>
          <p:nvPr/>
        </p:nvSpPr>
        <p:spPr>
          <a:xfrm>
            <a:off x="4754880" y="804672"/>
            <a:ext cx="4069080" cy="969264"/>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9" name="Shape 6"/>
          <p:cNvSpPr/>
          <p:nvPr/>
        </p:nvSpPr>
        <p:spPr>
          <a:xfrm>
            <a:off x="4754880" y="804672"/>
            <a:ext cx="64008" cy="969264"/>
          </a:xfrm>
          <a:prstGeom prst="rect">
            <a:avLst/>
          </a:prstGeom>
          <a:solidFill>
            <a:srgbClr val="A83D28"/>
          </a:solidFill>
          <a:ln/>
        </p:spPr>
      </p:sp>
      <p:sp>
        <p:nvSpPr>
          <p:cNvPr id="10" name="Text 7"/>
          <p:cNvSpPr/>
          <p:nvPr/>
        </p:nvSpPr>
        <p:spPr>
          <a:xfrm>
            <a:off x="4892040" y="868680"/>
            <a:ext cx="3858768" cy="256032"/>
          </a:xfrm>
          <a:prstGeom prst="rect">
            <a:avLst/>
          </a:prstGeom>
          <a:noFill/>
          <a:ln/>
        </p:spPr>
        <p:txBody>
          <a:bodyPr wrap="square" lIns="0" tIns="0" rIns="0" bIns="0" rtlCol="0" anchor="ctr"/>
          <a:lstStyle/>
          <a:p>
            <a:pPr indent="0" marL="0">
              <a:buNone/>
            </a:pPr>
            <a:r>
              <a:rPr lang="en-US" sz="950" b="1" dirty="0">
                <a:solidFill>
                  <a:srgbClr val="A83D28"/>
                </a:solidFill>
                <a:latin typeface="Calibri" pitchFamily="34" charset="0"/>
                <a:ea typeface="Calibri" pitchFamily="34" charset="-122"/>
                <a:cs typeface="Calibri" pitchFamily="34" charset="-120"/>
              </a:rPr>
              <a:t>MW Sizing is Interconnection-Constrained</a:t>
            </a:r>
            <a:endParaRPr lang="en-US" sz="950" dirty="0"/>
          </a:p>
        </p:txBody>
      </p:sp>
      <p:sp>
        <p:nvSpPr>
          <p:cNvPr id="11" name="Text 8"/>
          <p:cNvSpPr/>
          <p:nvPr/>
        </p:nvSpPr>
        <p:spPr>
          <a:xfrm>
            <a:off x="4892040" y="1152144"/>
            <a:ext cx="3858768" cy="566928"/>
          </a:xfrm>
          <a:prstGeom prst="rect">
            <a:avLst/>
          </a:prstGeom>
          <a:noFill/>
          <a:ln/>
        </p:spPr>
        <p:txBody>
          <a:bodyPr wrap="square" lIns="0" tIns="0" rIns="0" bIns="0" rtlCol="0" anchor="ctr"/>
          <a:lstStyle/>
          <a:p>
            <a:pPr indent="0" marL="0">
              <a:lnSpc>
                <a:spcPct val="120000"/>
              </a:lnSpc>
              <a:buNone/>
            </a:pPr>
            <a:r>
              <a:rPr lang="en-US" sz="780" dirty="0">
                <a:solidFill>
                  <a:srgbClr val="A9BAC9"/>
                </a:solidFill>
                <a:latin typeface="Calibri" pitchFamily="34" charset="0"/>
                <a:ea typeface="Calibri" pitchFamily="34" charset="-122"/>
                <a:cs typeface="Calibri" pitchFamily="34" charset="-120"/>
              </a:rPr>
              <a:t>Project scale is set by grid hosting capacity, NOT parcel size. 231 Beacham, Everett: 15 MW / 60 MWh (4hr) — feeder-level circuit connection at $2.0M. 283 Eastern, Chelsea: 100 MW / 400 MWh (4hr) — substation upgrade at $12.0M. Both confirmed by project financial models. Layer 2 is the binding MW ceiling.</a:t>
            </a:r>
            <a:endParaRPr lang="en-US" sz="780" dirty="0"/>
          </a:p>
        </p:txBody>
      </p:sp>
      <p:sp>
        <p:nvSpPr>
          <p:cNvPr id="12" name="Shape 9"/>
          <p:cNvSpPr/>
          <p:nvPr/>
        </p:nvSpPr>
        <p:spPr>
          <a:xfrm>
            <a:off x="4754880" y="1856232"/>
            <a:ext cx="4069080" cy="969264"/>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13" name="Shape 10"/>
          <p:cNvSpPr/>
          <p:nvPr/>
        </p:nvSpPr>
        <p:spPr>
          <a:xfrm>
            <a:off x="4754880" y="1856232"/>
            <a:ext cx="64008" cy="969264"/>
          </a:xfrm>
          <a:prstGeom prst="rect">
            <a:avLst/>
          </a:prstGeom>
          <a:solidFill>
            <a:srgbClr val="11988F"/>
          </a:solidFill>
          <a:ln/>
        </p:spPr>
      </p:sp>
      <p:sp>
        <p:nvSpPr>
          <p:cNvPr id="14" name="Text 11"/>
          <p:cNvSpPr/>
          <p:nvPr/>
        </p:nvSpPr>
        <p:spPr>
          <a:xfrm>
            <a:off x="4892040" y="1920240"/>
            <a:ext cx="3858768" cy="256032"/>
          </a:xfrm>
          <a:prstGeom prst="rect">
            <a:avLst/>
          </a:prstGeom>
          <a:noFill/>
          <a:ln/>
        </p:spPr>
        <p:txBody>
          <a:bodyPr wrap="square" lIns="0" tIns="0" rIns="0" bIns="0" rtlCol="0" anchor="ctr"/>
          <a:lstStyle/>
          <a:p>
            <a:pPr indent="0" marL="0">
              <a:buNone/>
            </a:pPr>
            <a:r>
              <a:rPr lang="en-US" sz="950" b="1" dirty="0">
                <a:solidFill>
                  <a:srgbClr val="11988F"/>
                </a:solidFill>
                <a:latin typeface="Calibri" pitchFamily="34" charset="0"/>
                <a:ea typeface="Calibri" pitchFamily="34" charset="-122"/>
                <a:cs typeface="Calibri" pitchFamily="34" charset="-120"/>
              </a:rPr>
              <a:t>NREL Cost Benchmarks — Model-Validated</a:t>
            </a:r>
            <a:endParaRPr lang="en-US" sz="950" dirty="0"/>
          </a:p>
        </p:txBody>
      </p:sp>
      <p:sp>
        <p:nvSpPr>
          <p:cNvPr id="15" name="Text 12"/>
          <p:cNvSpPr/>
          <p:nvPr/>
        </p:nvSpPr>
        <p:spPr>
          <a:xfrm>
            <a:off x="4892040" y="2203704"/>
            <a:ext cx="3858768" cy="566928"/>
          </a:xfrm>
          <a:prstGeom prst="rect">
            <a:avLst/>
          </a:prstGeom>
          <a:noFill/>
          <a:ln/>
        </p:spPr>
        <p:txBody>
          <a:bodyPr wrap="square" lIns="0" tIns="0" rIns="0" bIns="0" rtlCol="0" anchor="ctr"/>
          <a:lstStyle/>
          <a:p>
            <a:pPr indent="0" marL="0">
              <a:lnSpc>
                <a:spcPct val="120000"/>
              </a:lnSpc>
              <a:buNone/>
            </a:pPr>
            <a:r>
              <a:rPr lang="en-US" sz="780" dirty="0">
                <a:solidFill>
                  <a:srgbClr val="A9BAC9"/>
                </a:solidFill>
                <a:latin typeface="Calibri" pitchFamily="34" charset="0"/>
                <a:ea typeface="Calibri" pitchFamily="34" charset="-122"/>
                <a:cs typeface="Calibri" pitchFamily="34" charset="-120"/>
              </a:rPr>
              <a:t>Everett model: $300/kWh → Battery CAPEX $18M. Chelsea model: $280/kWh (scale discount at 400 MWh) → Battery CAPEX $112M. O&amp;M: 2.0% of gross CAPEX/yr (both models). Augmentation at Year 10: 15% of battery CAPEX.</a:t>
            </a:r>
            <a:endParaRPr lang="en-US" sz="780" dirty="0"/>
          </a:p>
        </p:txBody>
      </p:sp>
      <p:sp>
        <p:nvSpPr>
          <p:cNvPr id="16" name="Shape 13"/>
          <p:cNvSpPr/>
          <p:nvPr/>
        </p:nvSpPr>
        <p:spPr>
          <a:xfrm>
            <a:off x="4754880" y="2907792"/>
            <a:ext cx="4069080" cy="969264"/>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17" name="Shape 14"/>
          <p:cNvSpPr/>
          <p:nvPr/>
        </p:nvSpPr>
        <p:spPr>
          <a:xfrm>
            <a:off x="4754880" y="2907792"/>
            <a:ext cx="64008" cy="969264"/>
          </a:xfrm>
          <a:prstGeom prst="rect">
            <a:avLst/>
          </a:prstGeom>
          <a:solidFill>
            <a:srgbClr val="C68A17"/>
          </a:solidFill>
          <a:ln/>
        </p:spPr>
      </p:sp>
      <p:sp>
        <p:nvSpPr>
          <p:cNvPr id="18" name="Text 15"/>
          <p:cNvSpPr/>
          <p:nvPr/>
        </p:nvSpPr>
        <p:spPr>
          <a:xfrm>
            <a:off x="4892040" y="2971800"/>
            <a:ext cx="3858768" cy="256032"/>
          </a:xfrm>
          <a:prstGeom prst="rect">
            <a:avLst/>
          </a:prstGeom>
          <a:noFill/>
          <a:ln/>
        </p:spPr>
        <p:txBody>
          <a:bodyPr wrap="square" lIns="0" tIns="0" rIns="0" bIns="0" rtlCol="0" anchor="ctr"/>
          <a:lstStyle/>
          <a:p>
            <a:pPr indent="0" marL="0">
              <a:buNone/>
            </a:pPr>
            <a:r>
              <a:rPr lang="en-US" sz="950" b="1" dirty="0">
                <a:solidFill>
                  <a:srgbClr val="C68A17"/>
                </a:solidFill>
                <a:latin typeface="Calibri" pitchFamily="34" charset="0"/>
                <a:ea typeface="Calibri" pitchFamily="34" charset="-122"/>
                <a:cs typeface="Calibri" pitchFamily="34" charset="-120"/>
              </a:rPr>
              <a:t>ITC at 40% — Domestic Content Risk Limits Higher Tiers</a:t>
            </a:r>
            <a:endParaRPr lang="en-US" sz="950" dirty="0"/>
          </a:p>
        </p:txBody>
      </p:sp>
      <p:sp>
        <p:nvSpPr>
          <p:cNvPr id="19" name="Text 16"/>
          <p:cNvSpPr/>
          <p:nvPr/>
        </p:nvSpPr>
        <p:spPr>
          <a:xfrm>
            <a:off x="4892040" y="3255264"/>
            <a:ext cx="3858768" cy="566928"/>
          </a:xfrm>
          <a:prstGeom prst="rect">
            <a:avLst/>
          </a:prstGeom>
          <a:noFill/>
          <a:ln/>
        </p:spPr>
        <p:txBody>
          <a:bodyPr wrap="square" lIns="0" tIns="0" rIns="0" bIns="0" rtlCol="0" anchor="ctr"/>
          <a:lstStyle/>
          <a:p>
            <a:pPr indent="0" marL="0">
              <a:lnSpc>
                <a:spcPct val="120000"/>
              </a:lnSpc>
              <a:buNone/>
            </a:pPr>
            <a:r>
              <a:rPr lang="en-US" sz="780" dirty="0">
                <a:solidFill>
                  <a:srgbClr val="A9BAC9"/>
                </a:solidFill>
                <a:latin typeface="Calibri" pitchFamily="34" charset="0"/>
                <a:ea typeface="Calibri" pitchFamily="34" charset="-122"/>
                <a:cs typeface="Calibri" pitchFamily="34" charset="-120"/>
              </a:rPr>
              <a:t>Both models assume 40% ITC: PWA (30%) + Domestic Content bonus (+10%). Low-income community and energy community bonuses (+10–20%) carry execution risk due to FEOC sourcing rules. Use 40% as base; model 50% as upside scenario only.</a:t>
            </a:r>
            <a:endParaRPr lang="en-US" sz="780" dirty="0"/>
          </a:p>
        </p:txBody>
      </p:sp>
      <p:sp>
        <p:nvSpPr>
          <p:cNvPr id="20" name="Shape 17"/>
          <p:cNvSpPr/>
          <p:nvPr/>
        </p:nvSpPr>
        <p:spPr>
          <a:xfrm>
            <a:off x="4754880" y="3959352"/>
            <a:ext cx="4069080" cy="969264"/>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21" name="Shape 18"/>
          <p:cNvSpPr/>
          <p:nvPr/>
        </p:nvSpPr>
        <p:spPr>
          <a:xfrm>
            <a:off x="4754880" y="3959352"/>
            <a:ext cx="64008" cy="969264"/>
          </a:xfrm>
          <a:prstGeom prst="rect">
            <a:avLst/>
          </a:prstGeom>
          <a:solidFill>
            <a:srgbClr val="2A6145"/>
          </a:solidFill>
          <a:ln/>
        </p:spPr>
      </p:sp>
      <p:sp>
        <p:nvSpPr>
          <p:cNvPr id="22" name="Text 19"/>
          <p:cNvSpPr/>
          <p:nvPr/>
        </p:nvSpPr>
        <p:spPr>
          <a:xfrm>
            <a:off x="4892040" y="4023360"/>
            <a:ext cx="3858768" cy="256032"/>
          </a:xfrm>
          <a:prstGeom prst="rect">
            <a:avLst/>
          </a:prstGeom>
          <a:noFill/>
          <a:ln/>
        </p:spPr>
        <p:txBody>
          <a:bodyPr wrap="square" lIns="0" tIns="0" rIns="0" bIns="0" rtlCol="0" anchor="ctr"/>
          <a:lstStyle/>
          <a:p>
            <a:pPr indent="0" marL="0">
              <a:buNone/>
            </a:pPr>
            <a:r>
              <a:rPr lang="en-US" sz="950" b="1" dirty="0">
                <a:solidFill>
                  <a:srgbClr val="2A6145"/>
                </a:solidFill>
                <a:latin typeface="Calibri" pitchFamily="34" charset="0"/>
                <a:ea typeface="Calibri" pitchFamily="34" charset="-122"/>
                <a:cs typeface="Calibri" pitchFamily="34" charset="-120"/>
              </a:rPr>
              <a:t>Investment Conditions</a:t>
            </a:r>
            <a:endParaRPr lang="en-US" sz="950" dirty="0"/>
          </a:p>
        </p:txBody>
      </p:sp>
      <p:sp>
        <p:nvSpPr>
          <p:cNvPr id="23" name="Text 20"/>
          <p:cNvSpPr/>
          <p:nvPr/>
        </p:nvSpPr>
        <p:spPr>
          <a:xfrm>
            <a:off x="4892040" y="4306824"/>
            <a:ext cx="3858768" cy="566928"/>
          </a:xfrm>
          <a:prstGeom prst="rect">
            <a:avLst/>
          </a:prstGeom>
          <a:noFill/>
          <a:ln/>
        </p:spPr>
        <p:txBody>
          <a:bodyPr wrap="square" lIns="0" tIns="0" rIns="0" bIns="0" rtlCol="0" anchor="ctr"/>
          <a:lstStyle/>
          <a:p>
            <a:pPr indent="0" marL="0">
              <a:lnSpc>
                <a:spcPct val="120000"/>
              </a:lnSpc>
              <a:buNone/>
            </a:pPr>
            <a:r>
              <a:rPr lang="en-US" sz="780" dirty="0">
                <a:solidFill>
                  <a:srgbClr val="A9BAC9"/>
                </a:solidFill>
                <a:latin typeface="Calibri" pitchFamily="34" charset="0"/>
                <a:ea typeface="Calibri" pitchFamily="34" charset="-122"/>
                <a:cs typeface="Calibri" pitchFamily="34" charset="-120"/>
              </a:rPr>
              <a:t>Everett: Negative NPV at $130/kW-yr; requires Section 83E contracts or CPS optimization to exceed $150/kW-yr threshold. Chelsea: Positive NPV (+$5.4M), conditionally viable; leverage of 50–65% at 5.5–7.5% interest rate can push equity IRR to 12–15% — requires contracted revenue.</a:t>
            </a:r>
            <a:endParaRPr lang="en-US" sz="780" dirty="0"/>
          </a:p>
        </p:txBody>
      </p:sp>
      <p:sp>
        <p:nvSpPr>
          <p:cNvPr id="24" name="Shape 21"/>
          <p:cNvSpPr/>
          <p:nvPr/>
        </p:nvSpPr>
        <p:spPr>
          <a:xfrm>
            <a:off x="0" y="4864608"/>
            <a:ext cx="9144000" cy="274320"/>
          </a:xfrm>
          <a:prstGeom prst="rect">
            <a:avLst/>
          </a:prstGeom>
          <a:solidFill>
            <a:srgbClr val="09182B"/>
          </a:solidFill>
          <a:ln/>
        </p:spPr>
      </p:sp>
      <p:sp>
        <p:nvSpPr>
          <p:cNvPr id="25" name="Text 22"/>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BESS Financial Models (Everett 231 Beacham &amp; Chelsea 283 Eastern, April 2026) · NREL 2025 Battery Storage Cost Projections (DOI 10.2172/2583471) · ISO-NE 2024 Annual Markets Report · OBBBA Jul 2025 Section 48E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APPLYING THE TOOL: COMPOSITE SITING SCORES — ALL 13 MUNICIPALITIES</a:t>
            </a:r>
            <a:endParaRPr lang="en-US" sz="1100" dirty="0"/>
          </a:p>
        </p:txBody>
      </p:sp>
      <p:sp>
        <p:nvSpPr>
          <p:cNvPr id="4" name="Text 2"/>
          <p:cNvSpPr/>
          <p:nvPr/>
        </p:nvSpPr>
        <p:spPr>
          <a:xfrm>
            <a:off x="347472" y="749808"/>
            <a:ext cx="8503920" cy="237744"/>
          </a:xfrm>
          <a:prstGeom prst="rect">
            <a:avLst/>
          </a:prstGeom>
          <a:noFill/>
          <a:ln/>
        </p:spPr>
        <p:txBody>
          <a:bodyPr wrap="square" rtlCol="0" anchor="ctr"/>
          <a:lstStyle/>
          <a:p>
            <a:pPr indent="0" marL="0">
              <a:buNone/>
            </a:pPr>
            <a:r>
              <a:rPr lang="en-US" sz="950" dirty="0">
                <a:solidFill>
                  <a:srgbClr val="617283"/>
                </a:solidFill>
                <a:latin typeface="Calibri" pitchFamily="34" charset="0"/>
                <a:ea typeface="Calibri" pitchFamily="34" charset="-122"/>
                <a:cs typeface="Calibri" pitchFamily="34" charset="-120"/>
              </a:rPr>
              <a:t>Five-layer MCE scores correctly identify Everett and Chelsea as top sites. Financial model analysis confirms their investment priority — though at different scales and with different investment conditions.</a:t>
            </a:r>
            <a:endParaRPr lang="en-US" sz="950" dirty="0"/>
          </a:p>
        </p:txBody>
      </p:sp>
      <p:sp>
        <p:nvSpPr>
          <p:cNvPr id="5" name="Text 3"/>
          <p:cNvSpPr/>
          <p:nvPr/>
        </p:nvSpPr>
        <p:spPr>
          <a:xfrm>
            <a:off x="320040" y="1078992"/>
            <a:ext cx="1298448" cy="237744"/>
          </a:xfrm>
          <a:prstGeom prst="rect">
            <a:avLst/>
          </a:prstGeom>
          <a:noFill/>
          <a:ln/>
        </p:spPr>
        <p:txBody>
          <a:bodyPr wrap="square" lIns="0" tIns="0" rIns="0" bIns="0" rtlCol="0" anchor="ctr"/>
          <a:lstStyle/>
          <a:p>
            <a:pPr algn="r" indent="0" marL="0">
              <a:buNone/>
            </a:pPr>
            <a:r>
              <a:rPr lang="en-US" sz="1000" b="1" dirty="0">
                <a:solidFill>
                  <a:srgbClr val="09182B"/>
                </a:solidFill>
                <a:latin typeface="Calibri" pitchFamily="34" charset="0"/>
                <a:ea typeface="Calibri" pitchFamily="34" charset="-122"/>
                <a:cs typeface="Calibri" pitchFamily="34" charset="-120"/>
              </a:rPr>
              <a:t>Everett</a:t>
            </a:r>
            <a:endParaRPr lang="en-US" sz="1000" dirty="0"/>
          </a:p>
        </p:txBody>
      </p:sp>
      <p:sp>
        <p:nvSpPr>
          <p:cNvPr id="6" name="Shape 4"/>
          <p:cNvSpPr/>
          <p:nvPr/>
        </p:nvSpPr>
        <p:spPr>
          <a:xfrm>
            <a:off x="1691640" y="1097280"/>
            <a:ext cx="5669280" cy="201168"/>
          </a:xfrm>
          <a:prstGeom prst="rect">
            <a:avLst/>
          </a:prstGeom>
          <a:solidFill>
            <a:srgbClr val="E5EAF1"/>
          </a:solidFill>
          <a:ln/>
        </p:spPr>
      </p:sp>
      <p:sp>
        <p:nvSpPr>
          <p:cNvPr id="7" name="Shape 5"/>
          <p:cNvSpPr/>
          <p:nvPr/>
        </p:nvSpPr>
        <p:spPr>
          <a:xfrm>
            <a:off x="1691640" y="1097280"/>
            <a:ext cx="5397155" cy="201168"/>
          </a:xfrm>
          <a:prstGeom prst="rect">
            <a:avLst/>
          </a:prstGeom>
          <a:solidFill>
            <a:srgbClr val="0D7C7B"/>
          </a:solidFill>
          <a:ln/>
        </p:spPr>
      </p:sp>
      <p:sp>
        <p:nvSpPr>
          <p:cNvPr id="8" name="Text 6"/>
          <p:cNvSpPr/>
          <p:nvPr/>
        </p:nvSpPr>
        <p:spPr>
          <a:xfrm>
            <a:off x="7143659" y="1097280"/>
            <a:ext cx="365760" cy="201168"/>
          </a:xfrm>
          <a:prstGeom prst="rect">
            <a:avLst/>
          </a:prstGeom>
          <a:noFill/>
          <a:ln/>
        </p:spPr>
        <p:txBody>
          <a:bodyPr wrap="square" lIns="0" tIns="0" rIns="0" bIns="0" rtlCol="0" anchor="ctr"/>
          <a:lstStyle/>
          <a:p>
            <a:pPr indent="0" marL="0">
              <a:buNone/>
            </a:pPr>
            <a:r>
              <a:rPr lang="en-US" sz="1000" b="1" dirty="0">
                <a:solidFill>
                  <a:srgbClr val="0D7C7B"/>
                </a:solidFill>
                <a:latin typeface="Calibri" pitchFamily="34" charset="0"/>
                <a:ea typeface="Calibri" pitchFamily="34" charset="-122"/>
                <a:cs typeface="Calibri" pitchFamily="34" charset="-120"/>
              </a:rPr>
              <a:t>119</a:t>
            </a:r>
            <a:endParaRPr lang="en-US" sz="1000" dirty="0"/>
          </a:p>
        </p:txBody>
      </p:sp>
      <p:sp>
        <p:nvSpPr>
          <p:cNvPr id="9" name="Text 7"/>
          <p:cNvSpPr/>
          <p:nvPr/>
        </p:nvSpPr>
        <p:spPr>
          <a:xfrm>
            <a:off x="7772400" y="1088136"/>
            <a:ext cx="1234440" cy="219456"/>
          </a:xfrm>
          <a:prstGeom prst="rect">
            <a:avLst/>
          </a:prstGeom>
          <a:noFill/>
          <a:ln/>
        </p:spPr>
        <p:txBody>
          <a:bodyPr wrap="square" rtlCol="0" anchor="ctr"/>
          <a:lstStyle/>
          <a:p>
            <a:pPr algn="ctr" indent="0" marL="0">
              <a:buNone/>
            </a:pPr>
            <a:r>
              <a:rPr lang="en-US" sz="850" b="1" dirty="0">
                <a:solidFill>
                  <a:srgbClr val="0D7C7B"/>
                </a:solidFill>
                <a:latin typeface="Calibri" pitchFamily="34" charset="0"/>
                <a:ea typeface="Calibri" pitchFamily="34" charset="-122"/>
                <a:cs typeface="Calibri" pitchFamily="34" charset="-120"/>
              </a:rPr>
              <a:t>→ PROJECT SITE</a:t>
            </a:r>
            <a:endParaRPr lang="en-US" sz="850" dirty="0"/>
          </a:p>
        </p:txBody>
      </p:sp>
      <p:sp>
        <p:nvSpPr>
          <p:cNvPr id="10" name="Text 8"/>
          <p:cNvSpPr/>
          <p:nvPr/>
        </p:nvSpPr>
        <p:spPr>
          <a:xfrm>
            <a:off x="320040" y="1380744"/>
            <a:ext cx="1298448" cy="237744"/>
          </a:xfrm>
          <a:prstGeom prst="rect">
            <a:avLst/>
          </a:prstGeom>
          <a:noFill/>
          <a:ln/>
        </p:spPr>
        <p:txBody>
          <a:bodyPr wrap="square" lIns="0" tIns="0" rIns="0" bIns="0" rtlCol="0" anchor="ctr"/>
          <a:lstStyle/>
          <a:p>
            <a:pPr algn="r" indent="0" marL="0">
              <a:buNone/>
            </a:pPr>
            <a:r>
              <a:rPr lang="en-US" sz="1000" b="1" dirty="0">
                <a:solidFill>
                  <a:srgbClr val="09182B"/>
                </a:solidFill>
                <a:latin typeface="Calibri" pitchFamily="34" charset="0"/>
                <a:ea typeface="Calibri" pitchFamily="34" charset="-122"/>
                <a:cs typeface="Calibri" pitchFamily="34" charset="-120"/>
              </a:rPr>
              <a:t>Chelsea</a:t>
            </a:r>
            <a:endParaRPr lang="en-US" sz="1000" dirty="0"/>
          </a:p>
        </p:txBody>
      </p:sp>
      <p:sp>
        <p:nvSpPr>
          <p:cNvPr id="11" name="Shape 9"/>
          <p:cNvSpPr/>
          <p:nvPr/>
        </p:nvSpPr>
        <p:spPr>
          <a:xfrm>
            <a:off x="1691640" y="1399032"/>
            <a:ext cx="5669280" cy="201168"/>
          </a:xfrm>
          <a:prstGeom prst="rect">
            <a:avLst/>
          </a:prstGeom>
          <a:solidFill>
            <a:srgbClr val="E5EAF1"/>
          </a:solidFill>
          <a:ln/>
        </p:spPr>
      </p:sp>
      <p:sp>
        <p:nvSpPr>
          <p:cNvPr id="12" name="Shape 10"/>
          <p:cNvSpPr/>
          <p:nvPr/>
        </p:nvSpPr>
        <p:spPr>
          <a:xfrm>
            <a:off x="1691640" y="1399032"/>
            <a:ext cx="5125029" cy="201168"/>
          </a:xfrm>
          <a:prstGeom prst="rect">
            <a:avLst/>
          </a:prstGeom>
          <a:solidFill>
            <a:srgbClr val="A83D28"/>
          </a:solidFill>
          <a:ln/>
        </p:spPr>
      </p:sp>
      <p:sp>
        <p:nvSpPr>
          <p:cNvPr id="13" name="Text 11"/>
          <p:cNvSpPr/>
          <p:nvPr/>
        </p:nvSpPr>
        <p:spPr>
          <a:xfrm>
            <a:off x="6871533" y="1399032"/>
            <a:ext cx="365760" cy="201168"/>
          </a:xfrm>
          <a:prstGeom prst="rect">
            <a:avLst/>
          </a:prstGeom>
          <a:noFill/>
          <a:ln/>
        </p:spPr>
        <p:txBody>
          <a:bodyPr wrap="square" lIns="0" tIns="0" rIns="0" bIns="0" rtlCol="0" anchor="ctr"/>
          <a:lstStyle/>
          <a:p>
            <a:pPr indent="0" marL="0">
              <a:buNone/>
            </a:pPr>
            <a:r>
              <a:rPr lang="en-US" sz="1000" b="1" dirty="0">
                <a:solidFill>
                  <a:srgbClr val="A83D28"/>
                </a:solidFill>
                <a:latin typeface="Calibri" pitchFamily="34" charset="0"/>
                <a:ea typeface="Calibri" pitchFamily="34" charset="-122"/>
                <a:cs typeface="Calibri" pitchFamily="34" charset="-120"/>
              </a:rPr>
              <a:t>113</a:t>
            </a:r>
            <a:endParaRPr lang="en-US" sz="1000" dirty="0"/>
          </a:p>
        </p:txBody>
      </p:sp>
      <p:sp>
        <p:nvSpPr>
          <p:cNvPr id="14" name="Text 12"/>
          <p:cNvSpPr/>
          <p:nvPr/>
        </p:nvSpPr>
        <p:spPr>
          <a:xfrm>
            <a:off x="7772400" y="1389888"/>
            <a:ext cx="1234440" cy="219456"/>
          </a:xfrm>
          <a:prstGeom prst="rect">
            <a:avLst/>
          </a:prstGeom>
          <a:noFill/>
          <a:ln/>
        </p:spPr>
        <p:txBody>
          <a:bodyPr wrap="square" rtlCol="0" anchor="ctr"/>
          <a:lstStyle/>
          <a:p>
            <a:pPr algn="ctr" indent="0" marL="0">
              <a:buNone/>
            </a:pPr>
            <a:r>
              <a:rPr lang="en-US" sz="850" b="1" dirty="0">
                <a:solidFill>
                  <a:srgbClr val="A83D28"/>
                </a:solidFill>
                <a:latin typeface="Calibri" pitchFamily="34" charset="0"/>
                <a:ea typeface="Calibri" pitchFamily="34" charset="-122"/>
                <a:cs typeface="Calibri" pitchFamily="34" charset="-120"/>
              </a:rPr>
              <a:t>→ PROJECT SITE</a:t>
            </a:r>
            <a:endParaRPr lang="en-US" sz="850" dirty="0"/>
          </a:p>
        </p:txBody>
      </p:sp>
      <p:sp>
        <p:nvSpPr>
          <p:cNvPr id="15" name="Text 13"/>
          <p:cNvSpPr/>
          <p:nvPr/>
        </p:nvSpPr>
        <p:spPr>
          <a:xfrm>
            <a:off x="320040" y="1682496"/>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Lowell</a:t>
            </a:r>
            <a:endParaRPr lang="en-US" sz="900" dirty="0"/>
          </a:p>
        </p:txBody>
      </p:sp>
      <p:sp>
        <p:nvSpPr>
          <p:cNvPr id="16" name="Shape 14"/>
          <p:cNvSpPr/>
          <p:nvPr/>
        </p:nvSpPr>
        <p:spPr>
          <a:xfrm>
            <a:off x="1691640" y="1700784"/>
            <a:ext cx="5669280" cy="201168"/>
          </a:xfrm>
          <a:prstGeom prst="rect">
            <a:avLst/>
          </a:prstGeom>
          <a:solidFill>
            <a:srgbClr val="E5EAF1"/>
          </a:solidFill>
          <a:ln/>
        </p:spPr>
      </p:sp>
      <p:sp>
        <p:nvSpPr>
          <p:cNvPr id="17" name="Shape 15"/>
          <p:cNvSpPr/>
          <p:nvPr/>
        </p:nvSpPr>
        <p:spPr>
          <a:xfrm>
            <a:off x="1691640" y="1700784"/>
            <a:ext cx="4762195" cy="201168"/>
          </a:xfrm>
          <a:prstGeom prst="rect">
            <a:avLst/>
          </a:prstGeom>
          <a:solidFill>
            <a:srgbClr val="C68A17"/>
          </a:solidFill>
          <a:ln/>
        </p:spPr>
      </p:sp>
      <p:sp>
        <p:nvSpPr>
          <p:cNvPr id="18" name="Text 16"/>
          <p:cNvSpPr/>
          <p:nvPr/>
        </p:nvSpPr>
        <p:spPr>
          <a:xfrm>
            <a:off x="6508699" y="1700784"/>
            <a:ext cx="365760" cy="201168"/>
          </a:xfrm>
          <a:prstGeom prst="rect">
            <a:avLst/>
          </a:prstGeom>
          <a:noFill/>
          <a:ln/>
        </p:spPr>
        <p:txBody>
          <a:bodyPr wrap="square" lIns="0" tIns="0" rIns="0" bIns="0" rtlCol="0" anchor="ctr"/>
          <a:lstStyle/>
          <a:p>
            <a:pPr indent="0" marL="0">
              <a:buNone/>
            </a:pPr>
            <a:r>
              <a:rPr lang="en-US" sz="850" dirty="0">
                <a:solidFill>
                  <a:srgbClr val="C68A17"/>
                </a:solidFill>
                <a:latin typeface="Calibri" pitchFamily="34" charset="0"/>
                <a:ea typeface="Calibri" pitchFamily="34" charset="-122"/>
                <a:cs typeface="Calibri" pitchFamily="34" charset="-120"/>
              </a:rPr>
              <a:t>105</a:t>
            </a:r>
            <a:endParaRPr lang="en-US" sz="850" dirty="0"/>
          </a:p>
        </p:txBody>
      </p:sp>
      <p:sp>
        <p:nvSpPr>
          <p:cNvPr id="19" name="Text 17"/>
          <p:cNvSpPr/>
          <p:nvPr/>
        </p:nvSpPr>
        <p:spPr>
          <a:xfrm>
            <a:off x="320040" y="1984248"/>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East Boston</a:t>
            </a:r>
            <a:endParaRPr lang="en-US" sz="900" dirty="0"/>
          </a:p>
        </p:txBody>
      </p:sp>
      <p:sp>
        <p:nvSpPr>
          <p:cNvPr id="20" name="Shape 18"/>
          <p:cNvSpPr/>
          <p:nvPr/>
        </p:nvSpPr>
        <p:spPr>
          <a:xfrm>
            <a:off x="1691640" y="2002536"/>
            <a:ext cx="5669280" cy="201168"/>
          </a:xfrm>
          <a:prstGeom prst="rect">
            <a:avLst/>
          </a:prstGeom>
          <a:solidFill>
            <a:srgbClr val="E5EAF1"/>
          </a:solidFill>
          <a:ln/>
        </p:spPr>
      </p:sp>
      <p:sp>
        <p:nvSpPr>
          <p:cNvPr id="21" name="Shape 19"/>
          <p:cNvSpPr/>
          <p:nvPr/>
        </p:nvSpPr>
        <p:spPr>
          <a:xfrm>
            <a:off x="1691640" y="2002536"/>
            <a:ext cx="4716841" cy="201168"/>
          </a:xfrm>
          <a:prstGeom prst="rect">
            <a:avLst/>
          </a:prstGeom>
          <a:solidFill>
            <a:srgbClr val="3A5278"/>
          </a:solidFill>
          <a:ln/>
        </p:spPr>
      </p:sp>
      <p:sp>
        <p:nvSpPr>
          <p:cNvPr id="22" name="Text 20"/>
          <p:cNvSpPr/>
          <p:nvPr/>
        </p:nvSpPr>
        <p:spPr>
          <a:xfrm>
            <a:off x="6463345" y="2002536"/>
            <a:ext cx="365760" cy="201168"/>
          </a:xfrm>
          <a:prstGeom prst="rect">
            <a:avLst/>
          </a:prstGeom>
          <a:noFill/>
          <a:ln/>
        </p:spPr>
        <p:txBody>
          <a:bodyPr wrap="square" lIns="0" tIns="0" rIns="0" bIns="0" rtlCol="0" anchor="ctr"/>
          <a:lstStyle/>
          <a:p>
            <a:pPr indent="0" marL="0">
              <a:buNone/>
            </a:pPr>
            <a:r>
              <a:rPr lang="en-US" sz="850" dirty="0">
                <a:solidFill>
                  <a:srgbClr val="3A5278"/>
                </a:solidFill>
                <a:latin typeface="Calibri" pitchFamily="34" charset="0"/>
                <a:ea typeface="Calibri" pitchFamily="34" charset="-122"/>
                <a:cs typeface="Calibri" pitchFamily="34" charset="-120"/>
              </a:rPr>
              <a:t>104</a:t>
            </a:r>
            <a:endParaRPr lang="en-US" sz="850" dirty="0"/>
          </a:p>
        </p:txBody>
      </p:sp>
      <p:sp>
        <p:nvSpPr>
          <p:cNvPr id="23" name="Text 21"/>
          <p:cNvSpPr/>
          <p:nvPr/>
        </p:nvSpPr>
        <p:spPr>
          <a:xfrm>
            <a:off x="320040" y="2286000"/>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Malden</a:t>
            </a:r>
            <a:endParaRPr lang="en-US" sz="900" dirty="0"/>
          </a:p>
        </p:txBody>
      </p:sp>
      <p:sp>
        <p:nvSpPr>
          <p:cNvPr id="24" name="Shape 22"/>
          <p:cNvSpPr/>
          <p:nvPr/>
        </p:nvSpPr>
        <p:spPr>
          <a:xfrm>
            <a:off x="1691640" y="2304288"/>
            <a:ext cx="5669280" cy="201168"/>
          </a:xfrm>
          <a:prstGeom prst="rect">
            <a:avLst/>
          </a:prstGeom>
          <a:solidFill>
            <a:srgbClr val="E5EAF1"/>
          </a:solidFill>
          <a:ln/>
        </p:spPr>
      </p:sp>
      <p:sp>
        <p:nvSpPr>
          <p:cNvPr id="25" name="Shape 23"/>
          <p:cNvSpPr/>
          <p:nvPr/>
        </p:nvSpPr>
        <p:spPr>
          <a:xfrm>
            <a:off x="1691640" y="2304288"/>
            <a:ext cx="4580778" cy="201168"/>
          </a:xfrm>
          <a:prstGeom prst="rect">
            <a:avLst/>
          </a:prstGeom>
          <a:solidFill>
            <a:srgbClr val="11988F"/>
          </a:solidFill>
          <a:ln/>
        </p:spPr>
      </p:sp>
      <p:sp>
        <p:nvSpPr>
          <p:cNvPr id="26" name="Text 24"/>
          <p:cNvSpPr/>
          <p:nvPr/>
        </p:nvSpPr>
        <p:spPr>
          <a:xfrm>
            <a:off x="6327282" y="2304288"/>
            <a:ext cx="365760" cy="201168"/>
          </a:xfrm>
          <a:prstGeom prst="rect">
            <a:avLst/>
          </a:prstGeom>
          <a:noFill/>
          <a:ln/>
        </p:spPr>
        <p:txBody>
          <a:bodyPr wrap="square" lIns="0" tIns="0" rIns="0" bIns="0" rtlCol="0" anchor="ctr"/>
          <a:lstStyle/>
          <a:p>
            <a:pPr indent="0" marL="0">
              <a:buNone/>
            </a:pPr>
            <a:r>
              <a:rPr lang="en-US" sz="850" dirty="0">
                <a:solidFill>
                  <a:srgbClr val="11988F"/>
                </a:solidFill>
                <a:latin typeface="Calibri" pitchFamily="34" charset="0"/>
                <a:ea typeface="Calibri" pitchFamily="34" charset="-122"/>
                <a:cs typeface="Calibri" pitchFamily="34" charset="-120"/>
              </a:rPr>
              <a:t>101</a:t>
            </a:r>
            <a:endParaRPr lang="en-US" sz="850" dirty="0"/>
          </a:p>
        </p:txBody>
      </p:sp>
      <p:sp>
        <p:nvSpPr>
          <p:cNvPr id="27" name="Text 25"/>
          <p:cNvSpPr/>
          <p:nvPr/>
        </p:nvSpPr>
        <p:spPr>
          <a:xfrm>
            <a:off x="320040" y="2587752"/>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Framingham</a:t>
            </a:r>
            <a:endParaRPr lang="en-US" sz="900" dirty="0"/>
          </a:p>
        </p:txBody>
      </p:sp>
      <p:sp>
        <p:nvSpPr>
          <p:cNvPr id="28" name="Shape 26"/>
          <p:cNvSpPr/>
          <p:nvPr/>
        </p:nvSpPr>
        <p:spPr>
          <a:xfrm>
            <a:off x="1691640" y="2606040"/>
            <a:ext cx="5669280" cy="201168"/>
          </a:xfrm>
          <a:prstGeom prst="rect">
            <a:avLst/>
          </a:prstGeom>
          <a:solidFill>
            <a:srgbClr val="E5EAF1"/>
          </a:solidFill>
          <a:ln/>
        </p:spPr>
      </p:sp>
      <p:sp>
        <p:nvSpPr>
          <p:cNvPr id="29" name="Shape 27"/>
          <p:cNvSpPr/>
          <p:nvPr/>
        </p:nvSpPr>
        <p:spPr>
          <a:xfrm>
            <a:off x="1691640" y="2606040"/>
            <a:ext cx="4354007" cy="201168"/>
          </a:xfrm>
          <a:prstGeom prst="rect">
            <a:avLst/>
          </a:prstGeom>
          <a:solidFill>
            <a:srgbClr val="617283"/>
          </a:solidFill>
          <a:ln/>
        </p:spPr>
      </p:sp>
      <p:sp>
        <p:nvSpPr>
          <p:cNvPr id="30" name="Text 28"/>
          <p:cNvSpPr/>
          <p:nvPr/>
        </p:nvSpPr>
        <p:spPr>
          <a:xfrm>
            <a:off x="6100511" y="2606040"/>
            <a:ext cx="365760" cy="201168"/>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96</a:t>
            </a:r>
            <a:endParaRPr lang="en-US" sz="850" dirty="0"/>
          </a:p>
        </p:txBody>
      </p:sp>
      <p:sp>
        <p:nvSpPr>
          <p:cNvPr id="31" name="Text 29"/>
          <p:cNvSpPr/>
          <p:nvPr/>
        </p:nvSpPr>
        <p:spPr>
          <a:xfrm>
            <a:off x="320040" y="2889504"/>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Boston</a:t>
            </a:r>
            <a:endParaRPr lang="en-US" sz="900" dirty="0"/>
          </a:p>
        </p:txBody>
      </p:sp>
      <p:sp>
        <p:nvSpPr>
          <p:cNvPr id="32" name="Shape 30"/>
          <p:cNvSpPr/>
          <p:nvPr/>
        </p:nvSpPr>
        <p:spPr>
          <a:xfrm>
            <a:off x="1691640" y="2907792"/>
            <a:ext cx="5669280" cy="201168"/>
          </a:xfrm>
          <a:prstGeom prst="rect">
            <a:avLst/>
          </a:prstGeom>
          <a:solidFill>
            <a:srgbClr val="E5EAF1"/>
          </a:solidFill>
          <a:ln/>
        </p:spPr>
      </p:sp>
      <p:sp>
        <p:nvSpPr>
          <p:cNvPr id="33" name="Shape 31"/>
          <p:cNvSpPr/>
          <p:nvPr/>
        </p:nvSpPr>
        <p:spPr>
          <a:xfrm>
            <a:off x="1691640" y="2907792"/>
            <a:ext cx="4127236" cy="201168"/>
          </a:xfrm>
          <a:prstGeom prst="rect">
            <a:avLst/>
          </a:prstGeom>
          <a:solidFill>
            <a:srgbClr val="617283"/>
          </a:solidFill>
          <a:ln/>
        </p:spPr>
      </p:sp>
      <p:sp>
        <p:nvSpPr>
          <p:cNvPr id="34" name="Text 32"/>
          <p:cNvSpPr/>
          <p:nvPr/>
        </p:nvSpPr>
        <p:spPr>
          <a:xfrm>
            <a:off x="5873740" y="2907792"/>
            <a:ext cx="365760" cy="201168"/>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91</a:t>
            </a:r>
            <a:endParaRPr lang="en-US" sz="850" dirty="0"/>
          </a:p>
        </p:txBody>
      </p:sp>
      <p:sp>
        <p:nvSpPr>
          <p:cNvPr id="35" name="Text 33"/>
          <p:cNvSpPr/>
          <p:nvPr/>
        </p:nvSpPr>
        <p:spPr>
          <a:xfrm>
            <a:off x="320040" y="3191256"/>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Revere</a:t>
            </a:r>
            <a:endParaRPr lang="en-US" sz="900" dirty="0"/>
          </a:p>
        </p:txBody>
      </p:sp>
      <p:sp>
        <p:nvSpPr>
          <p:cNvPr id="36" name="Shape 34"/>
          <p:cNvSpPr/>
          <p:nvPr/>
        </p:nvSpPr>
        <p:spPr>
          <a:xfrm>
            <a:off x="1691640" y="3209544"/>
            <a:ext cx="5669280" cy="201168"/>
          </a:xfrm>
          <a:prstGeom prst="rect">
            <a:avLst/>
          </a:prstGeom>
          <a:solidFill>
            <a:srgbClr val="E5EAF1"/>
          </a:solidFill>
          <a:ln/>
        </p:spPr>
      </p:sp>
      <p:sp>
        <p:nvSpPr>
          <p:cNvPr id="37" name="Shape 35"/>
          <p:cNvSpPr/>
          <p:nvPr/>
        </p:nvSpPr>
        <p:spPr>
          <a:xfrm>
            <a:off x="1691640" y="3209544"/>
            <a:ext cx="4217944" cy="201168"/>
          </a:xfrm>
          <a:prstGeom prst="rect">
            <a:avLst/>
          </a:prstGeom>
          <a:solidFill>
            <a:srgbClr val="617283"/>
          </a:solidFill>
          <a:ln/>
        </p:spPr>
      </p:sp>
      <p:sp>
        <p:nvSpPr>
          <p:cNvPr id="38" name="Text 36"/>
          <p:cNvSpPr/>
          <p:nvPr/>
        </p:nvSpPr>
        <p:spPr>
          <a:xfrm>
            <a:off x="5964448" y="3209544"/>
            <a:ext cx="365760" cy="201168"/>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93</a:t>
            </a:r>
            <a:endParaRPr lang="en-US" sz="850" dirty="0"/>
          </a:p>
        </p:txBody>
      </p:sp>
      <p:sp>
        <p:nvSpPr>
          <p:cNvPr id="39" name="Text 37"/>
          <p:cNvSpPr/>
          <p:nvPr/>
        </p:nvSpPr>
        <p:spPr>
          <a:xfrm>
            <a:off x="320040" y="3493008"/>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Cambridge</a:t>
            </a:r>
            <a:endParaRPr lang="en-US" sz="900" dirty="0"/>
          </a:p>
        </p:txBody>
      </p:sp>
      <p:sp>
        <p:nvSpPr>
          <p:cNvPr id="40" name="Shape 38"/>
          <p:cNvSpPr/>
          <p:nvPr/>
        </p:nvSpPr>
        <p:spPr>
          <a:xfrm>
            <a:off x="1691640" y="3511296"/>
            <a:ext cx="5669280" cy="201168"/>
          </a:xfrm>
          <a:prstGeom prst="rect">
            <a:avLst/>
          </a:prstGeom>
          <a:solidFill>
            <a:srgbClr val="E5EAF1"/>
          </a:solidFill>
          <a:ln/>
        </p:spPr>
      </p:sp>
      <p:sp>
        <p:nvSpPr>
          <p:cNvPr id="41" name="Shape 39"/>
          <p:cNvSpPr/>
          <p:nvPr/>
        </p:nvSpPr>
        <p:spPr>
          <a:xfrm>
            <a:off x="1691640" y="3511296"/>
            <a:ext cx="3809756" cy="201168"/>
          </a:xfrm>
          <a:prstGeom prst="rect">
            <a:avLst/>
          </a:prstGeom>
          <a:solidFill>
            <a:srgbClr val="617283"/>
          </a:solidFill>
          <a:ln/>
        </p:spPr>
      </p:sp>
      <p:sp>
        <p:nvSpPr>
          <p:cNvPr id="42" name="Text 40"/>
          <p:cNvSpPr/>
          <p:nvPr/>
        </p:nvSpPr>
        <p:spPr>
          <a:xfrm>
            <a:off x="5556260" y="3511296"/>
            <a:ext cx="365760" cy="201168"/>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84</a:t>
            </a:r>
            <a:endParaRPr lang="en-US" sz="850" dirty="0"/>
          </a:p>
        </p:txBody>
      </p:sp>
      <p:sp>
        <p:nvSpPr>
          <p:cNvPr id="43" name="Text 41"/>
          <p:cNvSpPr/>
          <p:nvPr/>
        </p:nvSpPr>
        <p:spPr>
          <a:xfrm>
            <a:off x="320040" y="3794760"/>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Waltham</a:t>
            </a:r>
            <a:endParaRPr lang="en-US" sz="900" dirty="0"/>
          </a:p>
        </p:txBody>
      </p:sp>
      <p:sp>
        <p:nvSpPr>
          <p:cNvPr id="44" name="Shape 42"/>
          <p:cNvSpPr/>
          <p:nvPr/>
        </p:nvSpPr>
        <p:spPr>
          <a:xfrm>
            <a:off x="1691640" y="3813048"/>
            <a:ext cx="5669280" cy="201168"/>
          </a:xfrm>
          <a:prstGeom prst="rect">
            <a:avLst/>
          </a:prstGeom>
          <a:solidFill>
            <a:srgbClr val="E5EAF1"/>
          </a:solidFill>
          <a:ln/>
        </p:spPr>
      </p:sp>
      <p:sp>
        <p:nvSpPr>
          <p:cNvPr id="45" name="Shape 43"/>
          <p:cNvSpPr/>
          <p:nvPr/>
        </p:nvSpPr>
        <p:spPr>
          <a:xfrm>
            <a:off x="1691640" y="3813048"/>
            <a:ext cx="3855110" cy="201168"/>
          </a:xfrm>
          <a:prstGeom prst="rect">
            <a:avLst/>
          </a:prstGeom>
          <a:solidFill>
            <a:srgbClr val="617283"/>
          </a:solidFill>
          <a:ln/>
        </p:spPr>
      </p:sp>
      <p:sp>
        <p:nvSpPr>
          <p:cNvPr id="46" name="Text 44"/>
          <p:cNvSpPr/>
          <p:nvPr/>
        </p:nvSpPr>
        <p:spPr>
          <a:xfrm>
            <a:off x="5601614" y="3813048"/>
            <a:ext cx="365760" cy="201168"/>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85</a:t>
            </a:r>
            <a:endParaRPr lang="en-US" sz="850" dirty="0"/>
          </a:p>
        </p:txBody>
      </p:sp>
      <p:sp>
        <p:nvSpPr>
          <p:cNvPr id="47" name="Text 45"/>
          <p:cNvSpPr/>
          <p:nvPr/>
        </p:nvSpPr>
        <p:spPr>
          <a:xfrm>
            <a:off x="320040" y="4096512"/>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Somerville</a:t>
            </a:r>
            <a:endParaRPr lang="en-US" sz="900" dirty="0"/>
          </a:p>
        </p:txBody>
      </p:sp>
      <p:sp>
        <p:nvSpPr>
          <p:cNvPr id="48" name="Shape 46"/>
          <p:cNvSpPr/>
          <p:nvPr/>
        </p:nvSpPr>
        <p:spPr>
          <a:xfrm>
            <a:off x="1691640" y="4114800"/>
            <a:ext cx="5669280" cy="201168"/>
          </a:xfrm>
          <a:prstGeom prst="rect">
            <a:avLst/>
          </a:prstGeom>
          <a:solidFill>
            <a:srgbClr val="E5EAF1"/>
          </a:solidFill>
          <a:ln/>
        </p:spPr>
      </p:sp>
      <p:sp>
        <p:nvSpPr>
          <p:cNvPr id="49" name="Shape 47"/>
          <p:cNvSpPr/>
          <p:nvPr/>
        </p:nvSpPr>
        <p:spPr>
          <a:xfrm>
            <a:off x="1691640" y="4114800"/>
            <a:ext cx="3673693" cy="201168"/>
          </a:xfrm>
          <a:prstGeom prst="rect">
            <a:avLst/>
          </a:prstGeom>
          <a:solidFill>
            <a:srgbClr val="617283"/>
          </a:solidFill>
          <a:ln/>
        </p:spPr>
      </p:sp>
      <p:sp>
        <p:nvSpPr>
          <p:cNvPr id="50" name="Text 48"/>
          <p:cNvSpPr/>
          <p:nvPr/>
        </p:nvSpPr>
        <p:spPr>
          <a:xfrm>
            <a:off x="5420197" y="4114800"/>
            <a:ext cx="365760" cy="201168"/>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81</a:t>
            </a:r>
            <a:endParaRPr lang="en-US" sz="850" dirty="0"/>
          </a:p>
        </p:txBody>
      </p:sp>
      <p:sp>
        <p:nvSpPr>
          <p:cNvPr id="51" name="Text 49"/>
          <p:cNvSpPr/>
          <p:nvPr/>
        </p:nvSpPr>
        <p:spPr>
          <a:xfrm>
            <a:off x="320040" y="4398264"/>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Medford</a:t>
            </a:r>
            <a:endParaRPr lang="en-US" sz="900" dirty="0"/>
          </a:p>
        </p:txBody>
      </p:sp>
      <p:sp>
        <p:nvSpPr>
          <p:cNvPr id="52" name="Shape 50"/>
          <p:cNvSpPr/>
          <p:nvPr/>
        </p:nvSpPr>
        <p:spPr>
          <a:xfrm>
            <a:off x="1691640" y="4416552"/>
            <a:ext cx="5669280" cy="201168"/>
          </a:xfrm>
          <a:prstGeom prst="rect">
            <a:avLst/>
          </a:prstGeom>
          <a:solidFill>
            <a:srgbClr val="E5EAF1"/>
          </a:solidFill>
          <a:ln/>
        </p:spPr>
      </p:sp>
      <p:sp>
        <p:nvSpPr>
          <p:cNvPr id="53" name="Shape 51"/>
          <p:cNvSpPr/>
          <p:nvPr/>
        </p:nvSpPr>
        <p:spPr>
          <a:xfrm>
            <a:off x="1691640" y="4416552"/>
            <a:ext cx="3673693" cy="201168"/>
          </a:xfrm>
          <a:prstGeom prst="rect">
            <a:avLst/>
          </a:prstGeom>
          <a:solidFill>
            <a:srgbClr val="617283"/>
          </a:solidFill>
          <a:ln/>
        </p:spPr>
      </p:sp>
      <p:sp>
        <p:nvSpPr>
          <p:cNvPr id="54" name="Text 52"/>
          <p:cNvSpPr/>
          <p:nvPr/>
        </p:nvSpPr>
        <p:spPr>
          <a:xfrm>
            <a:off x="5420197" y="4416552"/>
            <a:ext cx="365760" cy="201168"/>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81</a:t>
            </a:r>
            <a:endParaRPr lang="en-US" sz="850" dirty="0"/>
          </a:p>
        </p:txBody>
      </p:sp>
      <p:sp>
        <p:nvSpPr>
          <p:cNvPr id="55" name="Text 53"/>
          <p:cNvSpPr/>
          <p:nvPr/>
        </p:nvSpPr>
        <p:spPr>
          <a:xfrm>
            <a:off x="320040" y="4700016"/>
            <a:ext cx="1298448" cy="237744"/>
          </a:xfrm>
          <a:prstGeom prst="rect">
            <a:avLst/>
          </a:prstGeom>
          <a:noFill/>
          <a:ln/>
        </p:spPr>
        <p:txBody>
          <a:bodyPr wrap="square" lIns="0" tIns="0" rIns="0" bIns="0" rtlCol="0" anchor="ctr"/>
          <a:lstStyle/>
          <a:p>
            <a:pPr algn="r" indent="0" marL="0">
              <a:buNone/>
            </a:pPr>
            <a:r>
              <a:rPr lang="en-US" sz="900" dirty="0">
                <a:solidFill>
                  <a:srgbClr val="617283"/>
                </a:solidFill>
                <a:latin typeface="Calibri" pitchFamily="34" charset="0"/>
                <a:ea typeface="Calibri" pitchFamily="34" charset="-122"/>
                <a:cs typeface="Calibri" pitchFamily="34" charset="-120"/>
              </a:rPr>
              <a:t>Winthrop</a:t>
            </a:r>
            <a:endParaRPr lang="en-US" sz="900" dirty="0"/>
          </a:p>
        </p:txBody>
      </p:sp>
      <p:sp>
        <p:nvSpPr>
          <p:cNvPr id="56" name="Shape 54"/>
          <p:cNvSpPr/>
          <p:nvPr/>
        </p:nvSpPr>
        <p:spPr>
          <a:xfrm>
            <a:off x="1691640" y="4718304"/>
            <a:ext cx="5669280" cy="201168"/>
          </a:xfrm>
          <a:prstGeom prst="rect">
            <a:avLst/>
          </a:prstGeom>
          <a:solidFill>
            <a:srgbClr val="E5EAF1"/>
          </a:solidFill>
          <a:ln/>
        </p:spPr>
      </p:sp>
      <p:sp>
        <p:nvSpPr>
          <p:cNvPr id="57" name="Shape 55"/>
          <p:cNvSpPr/>
          <p:nvPr/>
        </p:nvSpPr>
        <p:spPr>
          <a:xfrm>
            <a:off x="1691640" y="4718304"/>
            <a:ext cx="2539837" cy="201168"/>
          </a:xfrm>
          <a:prstGeom prst="rect">
            <a:avLst/>
          </a:prstGeom>
          <a:solidFill>
            <a:srgbClr val="617283"/>
          </a:solidFill>
          <a:ln/>
        </p:spPr>
      </p:sp>
      <p:sp>
        <p:nvSpPr>
          <p:cNvPr id="58" name="Text 56"/>
          <p:cNvSpPr/>
          <p:nvPr/>
        </p:nvSpPr>
        <p:spPr>
          <a:xfrm>
            <a:off x="4286341" y="4718304"/>
            <a:ext cx="365760" cy="201168"/>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56</a:t>
            </a:r>
            <a:endParaRPr lang="en-US" sz="850" dirty="0"/>
          </a:p>
        </p:txBody>
      </p:sp>
      <p:sp>
        <p:nvSpPr>
          <p:cNvPr id="59" name="Text 57"/>
          <p:cNvSpPr/>
          <p:nvPr/>
        </p:nvSpPr>
        <p:spPr>
          <a:xfrm>
            <a:off x="320040" y="4754880"/>
            <a:ext cx="8503920" cy="182880"/>
          </a:xfrm>
          <a:prstGeom prst="rect">
            <a:avLst/>
          </a:prstGeom>
          <a:noFill/>
          <a:ln/>
        </p:spPr>
        <p:txBody>
          <a:bodyPr wrap="square" rtlCol="0" anchor="ctr"/>
          <a:lstStyle/>
          <a:p>
            <a:pPr algn="ctr" indent="0" marL="0">
              <a:buNone/>
            </a:pPr>
            <a:r>
              <a:rPr lang="en-US" sz="800" dirty="0">
                <a:solidFill>
                  <a:srgbClr val="617283"/>
                </a:solidFill>
                <a:latin typeface="Calibri" pitchFamily="34" charset="0"/>
                <a:ea typeface="Calibri" pitchFamily="34" charset="-122"/>
                <a:cs typeface="Calibri" pitchFamily="34" charset="-120"/>
              </a:rPr>
              <a:t>Score dimensions: EJ (/25) + Grid (/25) + Zoning (/25) + Physical (/25) + Revenue (/25)  =  Max 125 composite  ·  Note: Chelsea (113) is the stronger near-term investment. Everett (119) is the highest-scoring site at feeder scale (15 MW).</a:t>
            </a:r>
            <a:endParaRPr lang="en-US" sz="800" dirty="0"/>
          </a:p>
        </p:txBody>
      </p:sp>
      <p:sp>
        <p:nvSpPr>
          <p:cNvPr id="60" name="Shape 58"/>
          <p:cNvSpPr/>
          <p:nvPr/>
        </p:nvSpPr>
        <p:spPr>
          <a:xfrm>
            <a:off x="0" y="4864608"/>
            <a:ext cx="9144000" cy="274320"/>
          </a:xfrm>
          <a:prstGeom prst="rect">
            <a:avLst/>
          </a:prstGeom>
          <a:solidFill>
            <a:srgbClr val="09182B"/>
          </a:solidFill>
          <a:ln/>
        </p:spPr>
      </p:sp>
      <p:sp>
        <p:nvSpPr>
          <p:cNvPr id="61" name="Text 59"/>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TPS BESS Siting Tool MCE analysis (April 2026) · BESS Financial Models — Everett 231 Beacham &amp; Chelsea 283 Eastern · ISO-NE Market Data · DOER Model Bylaw</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HOW THE TOOL CHOSE: SUFFOLK vs. MIDDLESEX — COUNTY &amp; SITE COMPARISON</a:t>
            </a:r>
            <a:endParaRPr lang="en-US" sz="1100" dirty="0"/>
          </a:p>
        </p:txBody>
      </p:sp>
      <p:sp>
        <p:nvSpPr>
          <p:cNvPr id="4" name="Text 2"/>
          <p:cNvSpPr/>
          <p:nvPr/>
        </p:nvSpPr>
        <p:spPr>
          <a:xfrm>
            <a:off x="347472" y="749808"/>
            <a:ext cx="8485632" cy="237744"/>
          </a:xfrm>
          <a:prstGeom prst="rect">
            <a:avLst/>
          </a:prstGeom>
          <a:noFill/>
          <a:ln/>
        </p:spPr>
        <p:txBody>
          <a:bodyPr wrap="square" rtlCol="0" anchor="ctr"/>
          <a:lstStyle/>
          <a:p>
            <a:pPr indent="0" marL="0">
              <a:buNone/>
            </a:pPr>
            <a:r>
              <a:rPr lang="en-US" sz="950" dirty="0">
                <a:solidFill>
                  <a:srgbClr val="617283"/>
                </a:solidFill>
                <a:latin typeface="Calibri" pitchFamily="34" charset="0"/>
                <a:ea typeface="Calibri" pitchFamily="34" charset="-122"/>
                <a:cs typeface="Calibri" pitchFamily="34" charset="-120"/>
              </a:rPr>
              <a:t>Financial models confirm the tool’s top-two selections. Note key finding: Chelsea is the LARGER, more viable investment; Everett is the highest-scoring but smaller, feeder-scale project.</a:t>
            </a:r>
            <a:endParaRPr lang="en-US" sz="950" dirty="0"/>
          </a:p>
        </p:txBody>
      </p:sp>
      <p:sp>
        <p:nvSpPr>
          <p:cNvPr id="5" name="Shape 3"/>
          <p:cNvSpPr/>
          <p:nvPr/>
        </p:nvSpPr>
        <p:spPr>
          <a:xfrm>
            <a:off x="274320" y="1024128"/>
            <a:ext cx="4251960" cy="3858768"/>
          </a:xfrm>
          <a:prstGeom prst="rect">
            <a:avLst/>
          </a:prstGeom>
          <a:solidFill>
            <a:srgbClr val="A83D28">
              <a:alpha val="6000"/>
            </a:srgbClr>
          </a:solidFill>
          <a:ln/>
          <a:effectLst>
            <a:outerShdw sx="100000" sy="100000" kx="0" ky="0" algn="bl" rotWithShape="0" blurRad="101600" dist="38100" dir="8100000">
              <a:srgbClr val="000000">
                <a:alpha val="13000"/>
              </a:srgbClr>
            </a:outerShdw>
          </a:effectLst>
        </p:spPr>
      </p:sp>
      <p:sp>
        <p:nvSpPr>
          <p:cNvPr id="6" name="Shape 4"/>
          <p:cNvSpPr/>
          <p:nvPr/>
        </p:nvSpPr>
        <p:spPr>
          <a:xfrm>
            <a:off x="4645152" y="1024128"/>
            <a:ext cx="4224528" cy="3858768"/>
          </a:xfrm>
          <a:prstGeom prst="rect">
            <a:avLst/>
          </a:prstGeom>
          <a:solidFill>
            <a:srgbClr val="0D7C7B">
              <a:alpha val="6000"/>
            </a:srgbClr>
          </a:solidFill>
          <a:ln/>
          <a:effectLst>
            <a:outerShdw sx="100000" sy="100000" kx="0" ky="0" algn="bl" rotWithShape="0" blurRad="101600" dist="38100" dir="8100000">
              <a:srgbClr val="000000">
                <a:alpha val="13000"/>
              </a:srgbClr>
            </a:outerShdw>
          </a:effectLst>
        </p:spPr>
      </p:sp>
      <p:sp>
        <p:nvSpPr>
          <p:cNvPr id="7" name="Shape 5"/>
          <p:cNvSpPr/>
          <p:nvPr/>
        </p:nvSpPr>
        <p:spPr>
          <a:xfrm>
            <a:off x="274320" y="1024128"/>
            <a:ext cx="4251960" cy="402336"/>
          </a:xfrm>
          <a:prstGeom prst="rect">
            <a:avLst/>
          </a:prstGeom>
          <a:solidFill>
            <a:srgbClr val="A83D28"/>
          </a:solidFill>
          <a:ln/>
        </p:spPr>
      </p:sp>
      <p:sp>
        <p:nvSpPr>
          <p:cNvPr id="8" name="Text 6"/>
          <p:cNvSpPr/>
          <p:nvPr/>
        </p:nvSpPr>
        <p:spPr>
          <a:xfrm>
            <a:off x="384048" y="1051560"/>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SUFFOLK COUNTY</a:t>
            </a:r>
            <a:endParaRPr lang="en-US" sz="1300" dirty="0"/>
          </a:p>
        </p:txBody>
      </p:sp>
      <p:sp>
        <p:nvSpPr>
          <p:cNvPr id="9" name="Text 7"/>
          <p:cNvSpPr/>
          <p:nvPr/>
        </p:nvSpPr>
        <p:spPr>
          <a:xfrm>
            <a:off x="2971800" y="1078992"/>
            <a:ext cx="1463040" cy="219456"/>
          </a:xfrm>
          <a:prstGeom prst="rect">
            <a:avLst/>
          </a:prstGeom>
          <a:noFill/>
          <a:ln/>
        </p:spPr>
        <p:txBody>
          <a:bodyPr wrap="square" lIns="0" tIns="0" rIns="0" bIns="0" rtlCol="0" anchor="ctr"/>
          <a:lstStyle/>
          <a:p>
            <a:pPr algn="r" indent="0" marL="0">
              <a:buNone/>
            </a:pPr>
            <a:r>
              <a:rPr lang="en-US" sz="900" dirty="0">
                <a:solidFill>
                  <a:srgbClr val="FFCFC7"/>
                </a:solidFill>
                <a:latin typeface="Calibri" pitchFamily="34" charset="0"/>
                <a:ea typeface="Calibri" pitchFamily="34" charset="-122"/>
                <a:cs typeface="Calibri" pitchFamily="34" charset="-120"/>
              </a:rPr>
              <a:t>4 municipalities analyzed</a:t>
            </a:r>
            <a:endParaRPr lang="en-US" sz="900" dirty="0"/>
          </a:p>
        </p:txBody>
      </p:sp>
      <p:sp>
        <p:nvSpPr>
          <p:cNvPr id="10" name="Shape 8"/>
          <p:cNvSpPr/>
          <p:nvPr/>
        </p:nvSpPr>
        <p:spPr>
          <a:xfrm>
            <a:off x="4645152" y="1024128"/>
            <a:ext cx="4224528" cy="402336"/>
          </a:xfrm>
          <a:prstGeom prst="rect">
            <a:avLst/>
          </a:prstGeom>
          <a:solidFill>
            <a:srgbClr val="0D7C7B"/>
          </a:solidFill>
          <a:ln/>
        </p:spPr>
      </p:sp>
      <p:sp>
        <p:nvSpPr>
          <p:cNvPr id="11" name="Text 9"/>
          <p:cNvSpPr/>
          <p:nvPr/>
        </p:nvSpPr>
        <p:spPr>
          <a:xfrm>
            <a:off x="4754880" y="1051560"/>
            <a:ext cx="265176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MIDDLESEX COUNTY</a:t>
            </a:r>
            <a:endParaRPr lang="en-US" sz="1300" dirty="0"/>
          </a:p>
        </p:txBody>
      </p:sp>
      <p:sp>
        <p:nvSpPr>
          <p:cNvPr id="12" name="Text 10"/>
          <p:cNvSpPr/>
          <p:nvPr/>
        </p:nvSpPr>
        <p:spPr>
          <a:xfrm>
            <a:off x="7388352" y="1078992"/>
            <a:ext cx="1371600" cy="219456"/>
          </a:xfrm>
          <a:prstGeom prst="rect">
            <a:avLst/>
          </a:prstGeom>
          <a:noFill/>
          <a:ln/>
        </p:spPr>
        <p:txBody>
          <a:bodyPr wrap="square" lIns="0" tIns="0" rIns="0" bIns="0" rtlCol="0" anchor="ctr"/>
          <a:lstStyle/>
          <a:p>
            <a:pPr algn="r" indent="0" marL="0">
              <a:buNone/>
            </a:pPr>
            <a:r>
              <a:rPr lang="en-US" sz="900" dirty="0">
                <a:solidFill>
                  <a:srgbClr val="B8E8E6"/>
                </a:solidFill>
                <a:latin typeface="Calibri" pitchFamily="34" charset="0"/>
                <a:ea typeface="Calibri" pitchFamily="34" charset="-122"/>
                <a:cs typeface="Calibri" pitchFamily="34" charset="-120"/>
              </a:rPr>
              <a:t>9 municipalities analyzed</a:t>
            </a:r>
            <a:endParaRPr lang="en-US" sz="900" dirty="0"/>
          </a:p>
        </p:txBody>
      </p:sp>
      <p:sp>
        <p:nvSpPr>
          <p:cNvPr id="13" name="Shape 11"/>
          <p:cNvSpPr/>
          <p:nvPr/>
        </p:nvSpPr>
        <p:spPr>
          <a:xfrm>
            <a:off x="347472" y="1463040"/>
            <a:ext cx="969264" cy="640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4" name="Text 12"/>
          <p:cNvSpPr/>
          <p:nvPr/>
        </p:nvSpPr>
        <p:spPr>
          <a:xfrm>
            <a:off x="347472" y="1499616"/>
            <a:ext cx="969264" cy="329184"/>
          </a:xfrm>
          <a:prstGeom prst="rect">
            <a:avLst/>
          </a:prstGeom>
          <a:noFill/>
          <a:ln/>
        </p:spPr>
        <p:txBody>
          <a:bodyPr wrap="square" lIns="0" tIns="0" rIns="0" bIns="0" rtlCol="0" anchor="ctr"/>
          <a:lstStyle/>
          <a:p>
            <a:pPr algn="ctr" indent="0" marL="0">
              <a:buNone/>
            </a:pPr>
            <a:r>
              <a:rPr lang="en-US" sz="1600" b="1" dirty="0">
                <a:solidFill>
                  <a:srgbClr val="A83D28"/>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347472" y="1828800"/>
            <a:ext cx="969264" cy="256032"/>
          </a:xfrm>
          <a:prstGeom prst="rect">
            <a:avLst/>
          </a:prstGeom>
          <a:noFill/>
          <a:ln/>
        </p:spPr>
        <p:txBody>
          <a:bodyPr wrap="square" lIns="0" tIns="0" rIns="0" bIns="0" rtlCol="0" anchor="ctr"/>
          <a:lstStyle/>
          <a:p>
            <a:pPr algn="ctr" indent="0" marL="0">
              <a:buNone/>
            </a:pPr>
            <a:r>
              <a:rPr lang="en-US" sz="750" dirty="0">
                <a:solidFill>
                  <a:srgbClr val="617283"/>
                </a:solidFill>
                <a:latin typeface="Calibri" pitchFamily="34" charset="0"/>
                <a:ea typeface="Calibri" pitchFamily="34" charset="-122"/>
                <a:cs typeface="Calibri" pitchFamily="34" charset="-120"/>
              </a:rPr>
              <a:t>Cities</a:t>
            </a:r>
            <a:endParaRPr lang="en-US" sz="750" dirty="0"/>
          </a:p>
        </p:txBody>
      </p:sp>
      <p:sp>
        <p:nvSpPr>
          <p:cNvPr id="16" name="Shape 14"/>
          <p:cNvSpPr/>
          <p:nvPr/>
        </p:nvSpPr>
        <p:spPr>
          <a:xfrm>
            <a:off x="1389888" y="1463040"/>
            <a:ext cx="969264" cy="640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7" name="Text 15"/>
          <p:cNvSpPr/>
          <p:nvPr/>
        </p:nvSpPr>
        <p:spPr>
          <a:xfrm>
            <a:off x="1389888" y="1499616"/>
            <a:ext cx="969264" cy="329184"/>
          </a:xfrm>
          <a:prstGeom prst="rect">
            <a:avLst/>
          </a:prstGeom>
          <a:noFill/>
          <a:ln/>
        </p:spPr>
        <p:txBody>
          <a:bodyPr wrap="square" lIns="0" tIns="0" rIns="0" bIns="0" rtlCol="0" anchor="ctr"/>
          <a:lstStyle/>
          <a:p>
            <a:pPr algn="ctr" indent="0" marL="0">
              <a:buNone/>
            </a:pPr>
            <a:r>
              <a:rPr lang="en-US" sz="1600" b="1" dirty="0">
                <a:solidFill>
                  <a:srgbClr val="A83D28"/>
                </a:solidFill>
                <a:latin typeface="Calibri" pitchFamily="34" charset="0"/>
                <a:ea typeface="Calibri" pitchFamily="34" charset="-122"/>
                <a:cs typeface="Calibri" pitchFamily="34" charset="-120"/>
              </a:rPr>
              <a:t>100%</a:t>
            </a:r>
            <a:endParaRPr lang="en-US" sz="1600" dirty="0"/>
          </a:p>
        </p:txBody>
      </p:sp>
      <p:sp>
        <p:nvSpPr>
          <p:cNvPr id="18" name="Text 16"/>
          <p:cNvSpPr/>
          <p:nvPr/>
        </p:nvSpPr>
        <p:spPr>
          <a:xfrm>
            <a:off x="1389888" y="1828800"/>
            <a:ext cx="969264" cy="256032"/>
          </a:xfrm>
          <a:prstGeom prst="rect">
            <a:avLst/>
          </a:prstGeom>
          <a:noFill/>
          <a:ln/>
        </p:spPr>
        <p:txBody>
          <a:bodyPr wrap="square" lIns="0" tIns="0" rIns="0" bIns="0" rtlCol="0" anchor="ctr"/>
          <a:lstStyle/>
          <a:p>
            <a:pPr algn="ctr" indent="0" marL="0">
              <a:buNone/>
            </a:pPr>
            <a:r>
              <a:rPr lang="en-US" sz="750" dirty="0">
                <a:solidFill>
                  <a:srgbClr val="617283"/>
                </a:solidFill>
                <a:latin typeface="Calibri" pitchFamily="34" charset="0"/>
                <a:ea typeface="Calibri" pitchFamily="34" charset="-122"/>
                <a:cs typeface="Calibri" pitchFamily="34" charset="-120"/>
              </a:rPr>
              <a:t>EJ-Designated</a:t>
            </a:r>
            <a:endParaRPr lang="en-US" sz="750" dirty="0"/>
          </a:p>
        </p:txBody>
      </p:sp>
      <p:sp>
        <p:nvSpPr>
          <p:cNvPr id="19" name="Shape 17"/>
          <p:cNvSpPr/>
          <p:nvPr/>
        </p:nvSpPr>
        <p:spPr>
          <a:xfrm>
            <a:off x="2432304" y="1463040"/>
            <a:ext cx="969264" cy="640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0" name="Text 18"/>
          <p:cNvSpPr/>
          <p:nvPr/>
        </p:nvSpPr>
        <p:spPr>
          <a:xfrm>
            <a:off x="2432304" y="1499616"/>
            <a:ext cx="969264" cy="329184"/>
          </a:xfrm>
          <a:prstGeom prst="rect">
            <a:avLst/>
          </a:prstGeom>
          <a:noFill/>
          <a:ln/>
        </p:spPr>
        <p:txBody>
          <a:bodyPr wrap="square" lIns="0" tIns="0" rIns="0" bIns="0" rtlCol="0" anchor="ctr"/>
          <a:lstStyle/>
          <a:p>
            <a:pPr algn="ctr" indent="0" marL="0">
              <a:buNone/>
            </a:pPr>
            <a:r>
              <a:rPr lang="en-US" sz="1300" b="1" dirty="0">
                <a:solidFill>
                  <a:srgbClr val="A83D28"/>
                </a:solidFill>
                <a:latin typeface="Calibri" pitchFamily="34" charset="0"/>
                <a:ea typeface="Calibri" pitchFamily="34" charset="-122"/>
                <a:cs typeface="Calibri" pitchFamily="34" charset="-120"/>
              </a:rPr>
              <a:t>SENE</a:t>
            </a:r>
            <a:endParaRPr lang="en-US" sz="1300" dirty="0"/>
          </a:p>
        </p:txBody>
      </p:sp>
      <p:sp>
        <p:nvSpPr>
          <p:cNvPr id="21" name="Text 19"/>
          <p:cNvSpPr/>
          <p:nvPr/>
        </p:nvSpPr>
        <p:spPr>
          <a:xfrm>
            <a:off x="2432304" y="1828800"/>
            <a:ext cx="969264" cy="256032"/>
          </a:xfrm>
          <a:prstGeom prst="rect">
            <a:avLst/>
          </a:prstGeom>
          <a:noFill/>
          <a:ln/>
        </p:spPr>
        <p:txBody>
          <a:bodyPr wrap="square" lIns="0" tIns="0" rIns="0" bIns="0" rtlCol="0" anchor="ctr"/>
          <a:lstStyle/>
          <a:p>
            <a:pPr algn="ctr" indent="0" marL="0">
              <a:buNone/>
            </a:pPr>
            <a:r>
              <a:rPr lang="en-US" sz="750" dirty="0">
                <a:solidFill>
                  <a:srgbClr val="617283"/>
                </a:solidFill>
                <a:latin typeface="Calibri" pitchFamily="34" charset="0"/>
                <a:ea typeface="Calibri" pitchFamily="34" charset="-122"/>
                <a:cs typeface="Calibri" pitchFamily="34" charset="-120"/>
              </a:rPr>
              <a:t>ISO-NE Zone</a:t>
            </a:r>
            <a:endParaRPr lang="en-US" sz="750" dirty="0"/>
          </a:p>
        </p:txBody>
      </p:sp>
      <p:sp>
        <p:nvSpPr>
          <p:cNvPr id="22" name="Shape 20"/>
          <p:cNvSpPr/>
          <p:nvPr/>
        </p:nvSpPr>
        <p:spPr>
          <a:xfrm>
            <a:off x="3474720" y="1463040"/>
            <a:ext cx="969264" cy="640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3" name="Text 21"/>
          <p:cNvSpPr/>
          <p:nvPr/>
        </p:nvSpPr>
        <p:spPr>
          <a:xfrm>
            <a:off x="3474720" y="1499616"/>
            <a:ext cx="969264" cy="329184"/>
          </a:xfrm>
          <a:prstGeom prst="rect">
            <a:avLst/>
          </a:prstGeom>
          <a:noFill/>
          <a:ln/>
        </p:spPr>
        <p:txBody>
          <a:bodyPr wrap="square" lIns="0" tIns="0" rIns="0" bIns="0" rtlCol="0" anchor="ctr"/>
          <a:lstStyle/>
          <a:p>
            <a:pPr algn="ctr" indent="0" marL="0">
              <a:buNone/>
            </a:pPr>
            <a:r>
              <a:rPr lang="en-US" sz="1600" b="1" dirty="0">
                <a:solidFill>
                  <a:srgbClr val="A83D28"/>
                </a:solidFill>
                <a:latin typeface="Calibri" pitchFamily="34" charset="0"/>
                <a:ea typeface="Calibri" pitchFamily="34" charset="-122"/>
                <a:cs typeface="Calibri" pitchFamily="34" charset="-120"/>
              </a:rPr>
              <a:t>Eversource</a:t>
            </a:r>
            <a:endParaRPr lang="en-US" sz="1600" dirty="0"/>
          </a:p>
        </p:txBody>
      </p:sp>
      <p:sp>
        <p:nvSpPr>
          <p:cNvPr id="24" name="Text 22"/>
          <p:cNvSpPr/>
          <p:nvPr/>
        </p:nvSpPr>
        <p:spPr>
          <a:xfrm>
            <a:off x="3474720" y="1828800"/>
            <a:ext cx="969264" cy="256032"/>
          </a:xfrm>
          <a:prstGeom prst="rect">
            <a:avLst/>
          </a:prstGeom>
          <a:noFill/>
          <a:ln/>
        </p:spPr>
        <p:txBody>
          <a:bodyPr wrap="square" lIns="0" tIns="0" rIns="0" bIns="0" rtlCol="0" anchor="ctr"/>
          <a:lstStyle/>
          <a:p>
            <a:pPr algn="ctr" indent="0" marL="0">
              <a:buNone/>
            </a:pPr>
            <a:r>
              <a:rPr lang="en-US" sz="750" dirty="0">
                <a:solidFill>
                  <a:srgbClr val="617283"/>
                </a:solidFill>
                <a:latin typeface="Calibri" pitchFamily="34" charset="0"/>
                <a:ea typeface="Calibri" pitchFamily="34" charset="-122"/>
                <a:cs typeface="Calibri" pitchFamily="34" charset="-120"/>
              </a:rPr>
              <a:t>Utility</a:t>
            </a:r>
            <a:endParaRPr lang="en-US" sz="750" dirty="0"/>
          </a:p>
        </p:txBody>
      </p:sp>
      <p:sp>
        <p:nvSpPr>
          <p:cNvPr id="25" name="Shape 23"/>
          <p:cNvSpPr/>
          <p:nvPr/>
        </p:nvSpPr>
        <p:spPr>
          <a:xfrm>
            <a:off x="4718304" y="1463040"/>
            <a:ext cx="950976" cy="640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6" name="Text 24"/>
          <p:cNvSpPr/>
          <p:nvPr/>
        </p:nvSpPr>
        <p:spPr>
          <a:xfrm>
            <a:off x="4718304" y="1499616"/>
            <a:ext cx="950976" cy="329184"/>
          </a:xfrm>
          <a:prstGeom prst="rect">
            <a:avLst/>
          </a:prstGeom>
          <a:noFill/>
          <a:ln/>
        </p:spPr>
        <p:txBody>
          <a:bodyPr wrap="square" lIns="0" tIns="0" rIns="0" bIns="0" rtlCol="0" anchor="ctr"/>
          <a:lstStyle/>
          <a:p>
            <a:pPr algn="ctr" indent="0" marL="0">
              <a:buNone/>
            </a:pPr>
            <a:r>
              <a:rPr lang="en-US" sz="1600" b="1" dirty="0">
                <a:solidFill>
                  <a:srgbClr val="0D7C7B"/>
                </a:solidFill>
                <a:latin typeface="Calibri" pitchFamily="34" charset="0"/>
                <a:ea typeface="Calibri" pitchFamily="34" charset="-122"/>
                <a:cs typeface="Calibri" pitchFamily="34" charset="-120"/>
              </a:rPr>
              <a:t>9</a:t>
            </a:r>
            <a:endParaRPr lang="en-US" sz="1600" dirty="0"/>
          </a:p>
        </p:txBody>
      </p:sp>
      <p:sp>
        <p:nvSpPr>
          <p:cNvPr id="27" name="Text 25"/>
          <p:cNvSpPr/>
          <p:nvPr/>
        </p:nvSpPr>
        <p:spPr>
          <a:xfrm>
            <a:off x="4718304" y="1828800"/>
            <a:ext cx="950976" cy="256032"/>
          </a:xfrm>
          <a:prstGeom prst="rect">
            <a:avLst/>
          </a:prstGeom>
          <a:noFill/>
          <a:ln/>
        </p:spPr>
        <p:txBody>
          <a:bodyPr wrap="square" lIns="0" tIns="0" rIns="0" bIns="0" rtlCol="0" anchor="ctr"/>
          <a:lstStyle/>
          <a:p>
            <a:pPr algn="ctr" indent="0" marL="0">
              <a:buNone/>
            </a:pPr>
            <a:r>
              <a:rPr lang="en-US" sz="750" dirty="0">
                <a:solidFill>
                  <a:srgbClr val="617283"/>
                </a:solidFill>
                <a:latin typeface="Calibri" pitchFamily="34" charset="0"/>
                <a:ea typeface="Calibri" pitchFamily="34" charset="-122"/>
                <a:cs typeface="Calibri" pitchFamily="34" charset="-120"/>
              </a:rPr>
              <a:t>Cities</a:t>
            </a:r>
            <a:endParaRPr lang="en-US" sz="750" dirty="0"/>
          </a:p>
        </p:txBody>
      </p:sp>
      <p:sp>
        <p:nvSpPr>
          <p:cNvPr id="28" name="Shape 26"/>
          <p:cNvSpPr/>
          <p:nvPr/>
        </p:nvSpPr>
        <p:spPr>
          <a:xfrm>
            <a:off x="5742432" y="1463040"/>
            <a:ext cx="950976" cy="640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9" name="Text 27"/>
          <p:cNvSpPr/>
          <p:nvPr/>
        </p:nvSpPr>
        <p:spPr>
          <a:xfrm>
            <a:off x="5742432" y="1499616"/>
            <a:ext cx="950976" cy="329184"/>
          </a:xfrm>
          <a:prstGeom prst="rect">
            <a:avLst/>
          </a:prstGeom>
          <a:noFill/>
          <a:ln/>
        </p:spPr>
        <p:txBody>
          <a:bodyPr wrap="square" lIns="0" tIns="0" rIns="0" bIns="0" rtlCol="0" anchor="ctr"/>
          <a:lstStyle/>
          <a:p>
            <a:pPr algn="ctr" indent="0" marL="0">
              <a:buNone/>
            </a:pPr>
            <a:r>
              <a:rPr lang="en-US" sz="1600" b="1" dirty="0">
                <a:solidFill>
                  <a:srgbClr val="0D7C7B"/>
                </a:solidFill>
                <a:latin typeface="Calibri" pitchFamily="34" charset="0"/>
                <a:ea typeface="Calibri" pitchFamily="34" charset="-122"/>
                <a:cs typeface="Calibri" pitchFamily="34" charset="-120"/>
              </a:rPr>
              <a:t>100%</a:t>
            </a:r>
            <a:endParaRPr lang="en-US" sz="1600" dirty="0"/>
          </a:p>
        </p:txBody>
      </p:sp>
      <p:sp>
        <p:nvSpPr>
          <p:cNvPr id="30" name="Text 28"/>
          <p:cNvSpPr/>
          <p:nvPr/>
        </p:nvSpPr>
        <p:spPr>
          <a:xfrm>
            <a:off x="5742432" y="1828800"/>
            <a:ext cx="950976" cy="256032"/>
          </a:xfrm>
          <a:prstGeom prst="rect">
            <a:avLst/>
          </a:prstGeom>
          <a:noFill/>
          <a:ln/>
        </p:spPr>
        <p:txBody>
          <a:bodyPr wrap="square" lIns="0" tIns="0" rIns="0" bIns="0" rtlCol="0" anchor="ctr"/>
          <a:lstStyle/>
          <a:p>
            <a:pPr algn="ctr" indent="0" marL="0">
              <a:buNone/>
            </a:pPr>
            <a:r>
              <a:rPr lang="en-US" sz="750" dirty="0">
                <a:solidFill>
                  <a:srgbClr val="617283"/>
                </a:solidFill>
                <a:latin typeface="Calibri" pitchFamily="34" charset="0"/>
                <a:ea typeface="Calibri" pitchFamily="34" charset="-122"/>
                <a:cs typeface="Calibri" pitchFamily="34" charset="-120"/>
              </a:rPr>
              <a:t>EJ-Designated</a:t>
            </a:r>
            <a:endParaRPr lang="en-US" sz="750" dirty="0"/>
          </a:p>
        </p:txBody>
      </p:sp>
      <p:sp>
        <p:nvSpPr>
          <p:cNvPr id="31" name="Shape 29"/>
          <p:cNvSpPr/>
          <p:nvPr/>
        </p:nvSpPr>
        <p:spPr>
          <a:xfrm>
            <a:off x="6766560" y="1463040"/>
            <a:ext cx="950976" cy="640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2" name="Text 30"/>
          <p:cNvSpPr/>
          <p:nvPr/>
        </p:nvSpPr>
        <p:spPr>
          <a:xfrm>
            <a:off x="6766560" y="1499616"/>
            <a:ext cx="950976" cy="329184"/>
          </a:xfrm>
          <a:prstGeom prst="rect">
            <a:avLst/>
          </a:prstGeom>
          <a:noFill/>
          <a:ln/>
        </p:spPr>
        <p:txBody>
          <a:bodyPr wrap="square" lIns="0" tIns="0" rIns="0" bIns="0" rtlCol="0" anchor="ctr"/>
          <a:lstStyle/>
          <a:p>
            <a:pPr algn="ctr" indent="0" marL="0">
              <a:buNone/>
            </a:pPr>
            <a:r>
              <a:rPr lang="en-US" sz="1100" b="1" dirty="0">
                <a:solidFill>
                  <a:srgbClr val="0D7C7B"/>
                </a:solidFill>
                <a:latin typeface="Calibri" pitchFamily="34" charset="0"/>
                <a:ea typeface="Calibri" pitchFamily="34" charset="-122"/>
                <a:cs typeface="Calibri" pitchFamily="34" charset="-120"/>
              </a:rPr>
              <a:t>SENE+</a:t>
            </a:r>
            <a:endParaRPr lang="en-US" sz="1100" dirty="0"/>
          </a:p>
          <a:p>
            <a:pPr algn="ctr" indent="0" marL="0">
              <a:buNone/>
            </a:pPr>
            <a:r>
              <a:rPr lang="en-US" sz="1100" b="1" dirty="0">
                <a:solidFill>
                  <a:srgbClr val="0D7C7B"/>
                </a:solidFill>
                <a:latin typeface="Calibri" pitchFamily="34" charset="0"/>
                <a:ea typeface="Calibri" pitchFamily="34" charset="-122"/>
                <a:cs typeface="Calibri" pitchFamily="34" charset="-120"/>
              </a:rPr>
              <a:t>NEMA</a:t>
            </a:r>
            <a:endParaRPr lang="en-US" sz="1100" dirty="0"/>
          </a:p>
        </p:txBody>
      </p:sp>
      <p:sp>
        <p:nvSpPr>
          <p:cNvPr id="33" name="Text 31"/>
          <p:cNvSpPr/>
          <p:nvPr/>
        </p:nvSpPr>
        <p:spPr>
          <a:xfrm>
            <a:off x="6766560" y="1828800"/>
            <a:ext cx="950976" cy="256032"/>
          </a:xfrm>
          <a:prstGeom prst="rect">
            <a:avLst/>
          </a:prstGeom>
          <a:noFill/>
          <a:ln/>
        </p:spPr>
        <p:txBody>
          <a:bodyPr wrap="square" lIns="0" tIns="0" rIns="0" bIns="0" rtlCol="0" anchor="ctr"/>
          <a:lstStyle/>
          <a:p>
            <a:pPr algn="ctr" indent="0" marL="0">
              <a:buNone/>
            </a:pPr>
            <a:r>
              <a:rPr lang="en-US" sz="750" dirty="0">
                <a:solidFill>
                  <a:srgbClr val="617283"/>
                </a:solidFill>
                <a:latin typeface="Calibri" pitchFamily="34" charset="0"/>
                <a:ea typeface="Calibri" pitchFamily="34" charset="-122"/>
                <a:cs typeface="Calibri" pitchFamily="34" charset="-120"/>
              </a:rPr>
              <a:t>ISO-NE</a:t>
            </a:r>
            <a:endParaRPr lang="en-US" sz="750" dirty="0"/>
          </a:p>
        </p:txBody>
      </p:sp>
      <p:sp>
        <p:nvSpPr>
          <p:cNvPr id="34" name="Shape 32"/>
          <p:cNvSpPr/>
          <p:nvPr/>
        </p:nvSpPr>
        <p:spPr>
          <a:xfrm>
            <a:off x="7790688" y="1463040"/>
            <a:ext cx="950976" cy="64008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5" name="Text 33"/>
          <p:cNvSpPr/>
          <p:nvPr/>
        </p:nvSpPr>
        <p:spPr>
          <a:xfrm>
            <a:off x="7790688" y="1499616"/>
            <a:ext cx="950976" cy="329184"/>
          </a:xfrm>
          <a:prstGeom prst="rect">
            <a:avLst/>
          </a:prstGeom>
          <a:noFill/>
          <a:ln/>
        </p:spPr>
        <p:txBody>
          <a:bodyPr wrap="square" lIns="0" tIns="0" rIns="0" bIns="0" rtlCol="0" anchor="ctr"/>
          <a:lstStyle/>
          <a:p>
            <a:pPr algn="ctr" indent="0" marL="0">
              <a:buNone/>
            </a:pPr>
            <a:r>
              <a:rPr lang="en-US" sz="1100" b="1" dirty="0">
                <a:solidFill>
                  <a:srgbClr val="0D7C7B"/>
                </a:solidFill>
                <a:latin typeface="Calibri" pitchFamily="34" charset="0"/>
                <a:ea typeface="Calibri" pitchFamily="34" charset="-122"/>
                <a:cs typeface="Calibri" pitchFamily="34" charset="-120"/>
              </a:rPr>
              <a:t>Eversource</a:t>
            </a:r>
            <a:endParaRPr lang="en-US" sz="1100" dirty="0"/>
          </a:p>
          <a:p>
            <a:pPr algn="ctr" indent="0" marL="0">
              <a:buNone/>
            </a:pPr>
            <a:r>
              <a:rPr lang="en-US" sz="1100" b="1" dirty="0">
                <a:solidFill>
                  <a:srgbClr val="0D7C7B"/>
                </a:solidFill>
                <a:latin typeface="Calibri" pitchFamily="34" charset="0"/>
                <a:ea typeface="Calibri" pitchFamily="34" charset="-122"/>
                <a:cs typeface="Calibri" pitchFamily="34" charset="-120"/>
              </a:rPr>
              <a:t>+Nat.Grid</a:t>
            </a:r>
            <a:endParaRPr lang="en-US" sz="1100" dirty="0"/>
          </a:p>
        </p:txBody>
      </p:sp>
      <p:sp>
        <p:nvSpPr>
          <p:cNvPr id="36" name="Text 34"/>
          <p:cNvSpPr/>
          <p:nvPr/>
        </p:nvSpPr>
        <p:spPr>
          <a:xfrm>
            <a:off x="7790688" y="1828800"/>
            <a:ext cx="950976" cy="256032"/>
          </a:xfrm>
          <a:prstGeom prst="rect">
            <a:avLst/>
          </a:prstGeom>
          <a:noFill/>
          <a:ln/>
        </p:spPr>
        <p:txBody>
          <a:bodyPr wrap="square" lIns="0" tIns="0" rIns="0" bIns="0" rtlCol="0" anchor="ctr"/>
          <a:lstStyle/>
          <a:p>
            <a:pPr algn="ctr" indent="0" marL="0">
              <a:buNone/>
            </a:pPr>
            <a:r>
              <a:rPr lang="en-US" sz="750" dirty="0">
                <a:solidFill>
                  <a:srgbClr val="617283"/>
                </a:solidFill>
                <a:latin typeface="Calibri" pitchFamily="34" charset="0"/>
                <a:ea typeface="Calibri" pitchFamily="34" charset="-122"/>
                <a:cs typeface="Calibri" pitchFamily="34" charset="-120"/>
              </a:rPr>
              <a:t>Utilities</a:t>
            </a:r>
            <a:endParaRPr lang="en-US" sz="750" dirty="0"/>
          </a:p>
        </p:txBody>
      </p:sp>
      <p:sp>
        <p:nvSpPr>
          <p:cNvPr id="37" name="Shape 35"/>
          <p:cNvSpPr/>
          <p:nvPr/>
        </p:nvSpPr>
        <p:spPr>
          <a:xfrm>
            <a:off x="274320" y="2176272"/>
            <a:ext cx="4251960" cy="274320"/>
          </a:xfrm>
          <a:prstGeom prst="rect">
            <a:avLst/>
          </a:prstGeom>
          <a:solidFill>
            <a:srgbClr val="A83D28">
              <a:alpha val="30000"/>
            </a:srgbClr>
          </a:solidFill>
          <a:ln/>
        </p:spPr>
      </p:sp>
      <p:sp>
        <p:nvSpPr>
          <p:cNvPr id="38" name="Text 36"/>
          <p:cNvSpPr/>
          <p:nvPr/>
        </p:nvSpPr>
        <p:spPr>
          <a:xfrm>
            <a:off x="384048" y="2203704"/>
            <a:ext cx="4041648"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SELECTED:  283 Eastern Ave, Chelsea  ·  Score 113/125  ·  100 MW / 400 MWh</a:t>
            </a:r>
            <a:endParaRPr lang="en-US" sz="900" dirty="0"/>
          </a:p>
        </p:txBody>
      </p:sp>
      <p:sp>
        <p:nvSpPr>
          <p:cNvPr id="39" name="Shape 37"/>
          <p:cNvSpPr/>
          <p:nvPr/>
        </p:nvSpPr>
        <p:spPr>
          <a:xfrm>
            <a:off x="4645152" y="2176272"/>
            <a:ext cx="4224528" cy="274320"/>
          </a:xfrm>
          <a:prstGeom prst="rect">
            <a:avLst/>
          </a:prstGeom>
          <a:solidFill>
            <a:srgbClr val="0D7C7B">
              <a:alpha val="30000"/>
            </a:srgbClr>
          </a:solidFill>
          <a:ln/>
        </p:spPr>
      </p:sp>
      <p:sp>
        <p:nvSpPr>
          <p:cNvPr id="40" name="Text 38"/>
          <p:cNvSpPr/>
          <p:nvPr/>
        </p:nvSpPr>
        <p:spPr>
          <a:xfrm>
            <a:off x="4754880" y="2203704"/>
            <a:ext cx="4041648"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SELECTED:  231 Beacham St, Everett  ·  Score 119/125  ·  15 MW / 60 MWh</a:t>
            </a:r>
            <a:endParaRPr lang="en-US" sz="900" dirty="0"/>
          </a:p>
        </p:txBody>
      </p:sp>
      <p:sp>
        <p:nvSpPr>
          <p:cNvPr id="41" name="Text 39"/>
          <p:cNvSpPr/>
          <p:nvPr/>
        </p:nvSpPr>
        <p:spPr>
          <a:xfrm>
            <a:off x="384048" y="2496312"/>
            <a:ext cx="2286000" cy="201168"/>
          </a:xfrm>
          <a:prstGeom prst="rect">
            <a:avLst/>
          </a:prstGeom>
          <a:noFill/>
          <a:ln/>
        </p:spPr>
        <p:txBody>
          <a:bodyPr wrap="square" lIns="0" tIns="0" rIns="0" bIns="0" rtlCol="0" anchor="ctr"/>
          <a:lstStyle/>
          <a:p>
            <a:pPr indent="0" marL="0">
              <a:buNone/>
            </a:pPr>
            <a:r>
              <a:rPr lang="en-US" sz="900" b="1" dirty="0">
                <a:solidFill>
                  <a:srgbClr val="2A6145"/>
                </a:solidFill>
                <a:latin typeface="Calibri" pitchFamily="34" charset="0"/>
                <a:ea typeface="Calibri" pitchFamily="34" charset="-122"/>
                <a:cs typeface="Calibri" pitchFamily="34" charset="-120"/>
              </a:rPr>
              <a:t>✔  STRENGTHS</a:t>
            </a:r>
            <a:endParaRPr lang="en-US" sz="900" dirty="0"/>
          </a:p>
        </p:txBody>
      </p:sp>
      <p:sp>
        <p:nvSpPr>
          <p:cNvPr id="42" name="Text 40"/>
          <p:cNvSpPr/>
          <p:nvPr/>
        </p:nvSpPr>
        <p:spPr>
          <a:xfrm>
            <a:off x="4754880" y="2496312"/>
            <a:ext cx="2286000" cy="201168"/>
          </a:xfrm>
          <a:prstGeom prst="rect">
            <a:avLst/>
          </a:prstGeom>
          <a:noFill/>
          <a:ln/>
        </p:spPr>
        <p:txBody>
          <a:bodyPr wrap="square" lIns="0" tIns="0" rIns="0" bIns="0" rtlCol="0" anchor="ctr"/>
          <a:lstStyle/>
          <a:p>
            <a:pPr indent="0" marL="0">
              <a:buNone/>
            </a:pPr>
            <a:r>
              <a:rPr lang="en-US" sz="900" b="1" dirty="0">
                <a:solidFill>
                  <a:srgbClr val="2A6145"/>
                </a:solidFill>
                <a:latin typeface="Calibri" pitchFamily="34" charset="0"/>
                <a:ea typeface="Calibri" pitchFamily="34" charset="-122"/>
                <a:cs typeface="Calibri" pitchFamily="34" charset="-120"/>
              </a:rPr>
              <a:t>✔  STRENGTHS</a:t>
            </a:r>
            <a:endParaRPr lang="en-US" sz="900" dirty="0"/>
          </a:p>
        </p:txBody>
      </p:sp>
      <p:sp>
        <p:nvSpPr>
          <p:cNvPr id="43" name="Shape 41"/>
          <p:cNvSpPr/>
          <p:nvPr/>
        </p:nvSpPr>
        <p:spPr>
          <a:xfrm>
            <a:off x="384048" y="2743200"/>
            <a:ext cx="109728" cy="109728"/>
          </a:xfrm>
          <a:prstGeom prst="ellipse">
            <a:avLst/>
          </a:prstGeom>
          <a:solidFill>
            <a:srgbClr val="2A6145"/>
          </a:solidFill>
          <a:ln/>
        </p:spPr>
      </p:sp>
      <p:sp>
        <p:nvSpPr>
          <p:cNvPr id="44" name="Text 42"/>
          <p:cNvSpPr/>
          <p:nvPr/>
        </p:nvSpPr>
        <p:spPr>
          <a:xfrm>
            <a:off x="566928" y="2706624"/>
            <a:ext cx="3877056"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Highest EJ urgency (25/25) — 8.1% energy burden, CIA Very High</a:t>
            </a:r>
            <a:endParaRPr lang="en-US" sz="850" dirty="0"/>
          </a:p>
        </p:txBody>
      </p:sp>
      <p:sp>
        <p:nvSpPr>
          <p:cNvPr id="45" name="Shape 43"/>
          <p:cNvSpPr/>
          <p:nvPr/>
        </p:nvSpPr>
        <p:spPr>
          <a:xfrm>
            <a:off x="384048" y="3090672"/>
            <a:ext cx="109728" cy="109728"/>
          </a:xfrm>
          <a:prstGeom prst="ellipse">
            <a:avLst/>
          </a:prstGeom>
          <a:solidFill>
            <a:srgbClr val="2A6145"/>
          </a:solidFill>
          <a:ln/>
        </p:spPr>
      </p:sp>
      <p:sp>
        <p:nvSpPr>
          <p:cNvPr id="46" name="Text 44"/>
          <p:cNvSpPr/>
          <p:nvPr/>
        </p:nvSpPr>
        <p:spPr>
          <a:xfrm>
            <a:off x="566928" y="3054096"/>
            <a:ext cx="3877056"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Largest project in study: 100 MW / 400 MWh (4hr)</a:t>
            </a:r>
            <a:endParaRPr lang="en-US" sz="850" dirty="0"/>
          </a:p>
        </p:txBody>
      </p:sp>
      <p:sp>
        <p:nvSpPr>
          <p:cNvPr id="47" name="Shape 45"/>
          <p:cNvSpPr/>
          <p:nvPr/>
        </p:nvSpPr>
        <p:spPr>
          <a:xfrm>
            <a:off x="384048" y="3438144"/>
            <a:ext cx="109728" cy="109728"/>
          </a:xfrm>
          <a:prstGeom prst="ellipse">
            <a:avLst/>
          </a:prstGeom>
          <a:solidFill>
            <a:srgbClr val="2A6145"/>
          </a:solidFill>
          <a:ln/>
        </p:spPr>
      </p:sp>
      <p:sp>
        <p:nvSpPr>
          <p:cNvPr id="48" name="Text 46"/>
          <p:cNvSpPr/>
          <p:nvPr/>
        </p:nvSpPr>
        <p:spPr>
          <a:xfrm>
            <a:off x="566928" y="3401568"/>
            <a:ext cx="3877056"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Only site with positive NPV (+$5.4M at $130/kW-yr, 8.84% IRR)</a:t>
            </a:r>
            <a:endParaRPr lang="en-US" sz="850" dirty="0"/>
          </a:p>
        </p:txBody>
      </p:sp>
      <p:sp>
        <p:nvSpPr>
          <p:cNvPr id="49" name="Shape 47"/>
          <p:cNvSpPr/>
          <p:nvPr/>
        </p:nvSpPr>
        <p:spPr>
          <a:xfrm>
            <a:off x="384048" y="3785616"/>
            <a:ext cx="109728" cy="109728"/>
          </a:xfrm>
          <a:prstGeom prst="ellipse">
            <a:avLst/>
          </a:prstGeom>
          <a:solidFill>
            <a:srgbClr val="2A6145"/>
          </a:solidFill>
          <a:ln/>
        </p:spPr>
      </p:sp>
      <p:sp>
        <p:nvSpPr>
          <p:cNvPr id="50" name="Text 48"/>
          <p:cNvSpPr/>
          <p:nvPr/>
        </p:nvSpPr>
        <p:spPr>
          <a:xfrm>
            <a:off x="566928" y="3749040"/>
            <a:ext cx="3877056"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I-1 Industrial · 400 MWh qualifies for EFSB sole jurisdiction path</a:t>
            </a:r>
            <a:endParaRPr lang="en-US" sz="850" dirty="0"/>
          </a:p>
        </p:txBody>
      </p:sp>
      <p:sp>
        <p:nvSpPr>
          <p:cNvPr id="51" name="Shape 49"/>
          <p:cNvSpPr/>
          <p:nvPr/>
        </p:nvSpPr>
        <p:spPr>
          <a:xfrm>
            <a:off x="384048" y="4133088"/>
            <a:ext cx="109728" cy="109728"/>
          </a:xfrm>
          <a:prstGeom prst="ellipse">
            <a:avLst/>
          </a:prstGeom>
          <a:solidFill>
            <a:srgbClr val="2A6145"/>
          </a:solidFill>
          <a:ln/>
        </p:spPr>
      </p:sp>
      <p:sp>
        <p:nvSpPr>
          <p:cNvPr id="52" name="Text 50"/>
          <p:cNvSpPr/>
          <p:nvPr/>
        </p:nvSpPr>
        <p:spPr>
          <a:xfrm>
            <a:off x="566928" y="4096512"/>
            <a:ext cx="3877056"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$86.4M net CAPEX at 40% ITC — institutional-scale investment</a:t>
            </a:r>
            <a:endParaRPr lang="en-US" sz="850" dirty="0"/>
          </a:p>
        </p:txBody>
      </p:sp>
      <p:sp>
        <p:nvSpPr>
          <p:cNvPr id="53" name="Shape 51"/>
          <p:cNvSpPr/>
          <p:nvPr/>
        </p:nvSpPr>
        <p:spPr>
          <a:xfrm>
            <a:off x="4754880" y="2743200"/>
            <a:ext cx="109728" cy="109728"/>
          </a:xfrm>
          <a:prstGeom prst="ellipse">
            <a:avLst/>
          </a:prstGeom>
          <a:solidFill>
            <a:srgbClr val="2A6145"/>
          </a:solidFill>
          <a:ln/>
        </p:spPr>
      </p:sp>
      <p:sp>
        <p:nvSpPr>
          <p:cNvPr id="54" name="Text 52"/>
          <p:cNvSpPr/>
          <p:nvPr/>
        </p:nvSpPr>
        <p:spPr>
          <a:xfrm>
            <a:off x="4937760" y="2706624"/>
            <a:ext cx="3840480"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Highest composite score in study (119/125 = 95.2%)</a:t>
            </a:r>
            <a:endParaRPr lang="en-US" sz="850" dirty="0"/>
          </a:p>
        </p:txBody>
      </p:sp>
      <p:sp>
        <p:nvSpPr>
          <p:cNvPr id="55" name="Shape 53"/>
          <p:cNvSpPr/>
          <p:nvPr/>
        </p:nvSpPr>
        <p:spPr>
          <a:xfrm>
            <a:off x="4754880" y="3090672"/>
            <a:ext cx="109728" cy="109728"/>
          </a:xfrm>
          <a:prstGeom prst="ellipse">
            <a:avLst/>
          </a:prstGeom>
          <a:solidFill>
            <a:srgbClr val="2A6145"/>
          </a:solidFill>
          <a:ln/>
        </p:spPr>
      </p:sp>
      <p:sp>
        <p:nvSpPr>
          <p:cNvPr id="56" name="Text 54"/>
          <p:cNvSpPr/>
          <p:nvPr/>
        </p:nvSpPr>
        <p:spPr>
          <a:xfrm>
            <a:off x="4937760" y="3054096"/>
            <a:ext cx="3840480"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Lowest CAPEX: $25.1M gross / $15.1M net at 40% ITC</a:t>
            </a:r>
            <a:endParaRPr lang="en-US" sz="850" dirty="0"/>
          </a:p>
        </p:txBody>
      </p:sp>
      <p:sp>
        <p:nvSpPr>
          <p:cNvPr id="57" name="Shape 55"/>
          <p:cNvSpPr/>
          <p:nvPr/>
        </p:nvSpPr>
        <p:spPr>
          <a:xfrm>
            <a:off x="4754880" y="3438144"/>
            <a:ext cx="109728" cy="109728"/>
          </a:xfrm>
          <a:prstGeom prst="ellipse">
            <a:avLst/>
          </a:prstGeom>
          <a:solidFill>
            <a:srgbClr val="2A6145"/>
          </a:solidFill>
          <a:ln/>
        </p:spPr>
      </p:sp>
      <p:sp>
        <p:nvSpPr>
          <p:cNvPr id="58" name="Text 56"/>
          <p:cNvSpPr/>
          <p:nvPr/>
        </p:nvSpPr>
        <p:spPr>
          <a:xfrm>
            <a:off x="4937760" y="3401568"/>
            <a:ext cx="3840480"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Perfect Grid score (25/25) — 0.2 mi to Mystic 345 kV; Very Low risk</a:t>
            </a:r>
            <a:endParaRPr lang="en-US" sz="850" dirty="0"/>
          </a:p>
        </p:txBody>
      </p:sp>
      <p:sp>
        <p:nvSpPr>
          <p:cNvPr id="59" name="Shape 57"/>
          <p:cNvSpPr/>
          <p:nvPr/>
        </p:nvSpPr>
        <p:spPr>
          <a:xfrm>
            <a:off x="4754880" y="3785616"/>
            <a:ext cx="109728" cy="109728"/>
          </a:xfrm>
          <a:prstGeom prst="ellipse">
            <a:avLst/>
          </a:prstGeom>
          <a:solidFill>
            <a:srgbClr val="2A6145"/>
          </a:solidFill>
          <a:ln/>
        </p:spPr>
      </p:sp>
      <p:sp>
        <p:nvSpPr>
          <p:cNvPr id="60" name="Text 58"/>
          <p:cNvSpPr/>
          <p:nvPr/>
        </p:nvSpPr>
        <p:spPr>
          <a:xfrm>
            <a:off x="4937760" y="3749040"/>
            <a:ext cx="3840480"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Lowest interconnection cost ($2.0M feeder) — de-risks entry</a:t>
            </a:r>
            <a:endParaRPr lang="en-US" sz="850" dirty="0"/>
          </a:p>
        </p:txBody>
      </p:sp>
      <p:sp>
        <p:nvSpPr>
          <p:cNvPr id="61" name="Shape 59"/>
          <p:cNvSpPr/>
          <p:nvPr/>
        </p:nvSpPr>
        <p:spPr>
          <a:xfrm>
            <a:off x="4754880" y="4133088"/>
            <a:ext cx="109728" cy="109728"/>
          </a:xfrm>
          <a:prstGeom prst="ellipse">
            <a:avLst/>
          </a:prstGeom>
          <a:solidFill>
            <a:srgbClr val="2A6145"/>
          </a:solidFill>
          <a:ln/>
        </p:spPr>
      </p:sp>
      <p:sp>
        <p:nvSpPr>
          <p:cNvPr id="62" name="Text 60"/>
          <p:cNvSpPr/>
          <p:nvPr/>
        </p:nvSpPr>
        <p:spPr>
          <a:xfrm>
            <a:off x="4937760" y="4096512"/>
            <a:ext cx="3840480" cy="329184"/>
          </a:xfrm>
          <a:prstGeom prst="rect">
            <a:avLst/>
          </a:prstGeom>
          <a:noFill/>
          <a:ln/>
        </p:spPr>
        <p:txBody>
          <a:bodyPr wrap="square" lIns="0" tIns="0" rIns="0" bIns="0" rtlCol="0" anchor="ctr"/>
          <a:lstStyle/>
          <a:p>
            <a:pPr indent="0" marL="0">
              <a:lnSpc>
                <a:spcPct val="110000"/>
              </a:lnSpc>
              <a:buNone/>
            </a:pPr>
            <a:r>
              <a:rPr lang="en-US" sz="850" dirty="0">
                <a:solidFill>
                  <a:srgbClr val="09182B"/>
                </a:solidFill>
                <a:latin typeface="Calibri" pitchFamily="34" charset="0"/>
                <a:ea typeface="Calibri" pitchFamily="34" charset="-122"/>
                <a:cs typeface="Calibri" pitchFamily="34" charset="-120"/>
              </a:rPr>
              <a:t>I-2 Heavy Industrial — strongest zoning protection in study area</a:t>
            </a:r>
            <a:endParaRPr lang="en-US" sz="850" dirty="0"/>
          </a:p>
        </p:txBody>
      </p:sp>
      <p:sp>
        <p:nvSpPr>
          <p:cNvPr id="63" name="Shape 61"/>
          <p:cNvSpPr/>
          <p:nvPr/>
        </p:nvSpPr>
        <p:spPr>
          <a:xfrm>
            <a:off x="274320" y="4480560"/>
            <a:ext cx="4251960" cy="347472"/>
          </a:xfrm>
          <a:prstGeom prst="rect">
            <a:avLst/>
          </a:prstGeom>
          <a:solidFill>
            <a:srgbClr val="FAE6E3"/>
          </a:solidFill>
          <a:ln/>
        </p:spPr>
      </p:sp>
      <p:sp>
        <p:nvSpPr>
          <p:cNvPr id="64" name="Text 62"/>
          <p:cNvSpPr/>
          <p:nvPr/>
        </p:nvSpPr>
        <p:spPr>
          <a:xfrm>
            <a:off x="384048" y="4517136"/>
            <a:ext cx="4059936" cy="274320"/>
          </a:xfrm>
          <a:prstGeom prst="rect">
            <a:avLst/>
          </a:prstGeom>
          <a:noFill/>
          <a:ln/>
        </p:spPr>
        <p:txBody>
          <a:bodyPr wrap="square" lIns="0" tIns="0" rIns="0" bIns="0" rtlCol="0" anchor="ctr"/>
          <a:lstStyle/>
          <a:p>
            <a:pPr indent="0" marL="0">
              <a:lnSpc>
                <a:spcPct val="110000"/>
              </a:lnSpc>
              <a:buNone/>
            </a:pPr>
            <a:r>
              <a:rPr lang="en-US" sz="780" dirty="0">
                <a:solidFill>
                  <a:srgbClr val="A83D28"/>
                </a:solidFill>
                <a:latin typeface="Calibri" pitchFamily="34" charset="0"/>
                <a:ea typeface="Calibri" pitchFamily="34" charset="-122"/>
                <a:cs typeface="Calibri" pitchFamily="34" charset="-120"/>
              </a:rPr>
              <a:t>⚠  $12M interconnection — primary gating risk  ·  Merchant IRR 8.84% needs contracted revenue for 12–15% equity  ·  Battery $112M = 78% of total CAPEX</a:t>
            </a:r>
            <a:endParaRPr lang="en-US" sz="780" dirty="0"/>
          </a:p>
        </p:txBody>
      </p:sp>
      <p:sp>
        <p:nvSpPr>
          <p:cNvPr id="65" name="Shape 63"/>
          <p:cNvSpPr/>
          <p:nvPr/>
        </p:nvSpPr>
        <p:spPr>
          <a:xfrm>
            <a:off x="4645152" y="4480560"/>
            <a:ext cx="4224528" cy="347472"/>
          </a:xfrm>
          <a:prstGeom prst="rect">
            <a:avLst/>
          </a:prstGeom>
          <a:solidFill>
            <a:srgbClr val="D8F0EE"/>
          </a:solidFill>
          <a:ln/>
        </p:spPr>
      </p:sp>
      <p:sp>
        <p:nvSpPr>
          <p:cNvPr id="66" name="Text 64"/>
          <p:cNvSpPr/>
          <p:nvPr/>
        </p:nvSpPr>
        <p:spPr>
          <a:xfrm>
            <a:off x="4754880" y="4517136"/>
            <a:ext cx="4041648" cy="274320"/>
          </a:xfrm>
          <a:prstGeom prst="rect">
            <a:avLst/>
          </a:prstGeom>
          <a:noFill/>
          <a:ln/>
        </p:spPr>
        <p:txBody>
          <a:bodyPr wrap="square" lIns="0" tIns="0" rIns="0" bIns="0" rtlCol="0" anchor="ctr"/>
          <a:lstStyle/>
          <a:p>
            <a:pPr indent="0" marL="0">
              <a:lnSpc>
                <a:spcPct val="110000"/>
              </a:lnSpc>
              <a:buNone/>
            </a:pPr>
            <a:r>
              <a:rPr lang="en-US" sz="780" dirty="0">
                <a:solidFill>
                  <a:srgbClr val="0D7C7B"/>
                </a:solidFill>
                <a:latin typeface="Calibri" pitchFamily="34" charset="0"/>
                <a:ea typeface="Calibri" pitchFamily="34" charset="-122"/>
                <a:cs typeface="Calibri" pitchFamily="34" charset="-120"/>
              </a:rPr>
              <a:t>⚠  NEGATIVE NPV (−$2.2M) at $130/kW-yr merchant revenue  ·  IRR ~5.9% — requires &gt;$150/kW-yr for viability  ·  Feeder-scale (60 MWh) — local permit path only</a:t>
            </a:r>
            <a:endParaRPr lang="en-US" sz="780" dirty="0"/>
          </a:p>
        </p:txBody>
      </p:sp>
      <p:sp>
        <p:nvSpPr>
          <p:cNvPr id="67" name="Shape 65"/>
          <p:cNvSpPr/>
          <p:nvPr/>
        </p:nvSpPr>
        <p:spPr>
          <a:xfrm>
            <a:off x="274320" y="4873752"/>
            <a:ext cx="8595360" cy="237744"/>
          </a:xfrm>
          <a:prstGeom prst="rect">
            <a:avLst/>
          </a:prstGeom>
          <a:solidFill>
            <a:srgbClr val="0E2040"/>
          </a:solidFill>
          <a:ln/>
        </p:spPr>
      </p:sp>
      <p:sp>
        <p:nvSpPr>
          <p:cNvPr id="68" name="Text 66"/>
          <p:cNvSpPr/>
          <p:nvPr/>
        </p:nvSpPr>
        <p:spPr>
          <a:xfrm>
            <a:off x="384048" y="4901184"/>
            <a:ext cx="8321040" cy="182880"/>
          </a:xfrm>
          <a:prstGeom prst="rect">
            <a:avLst/>
          </a:prstGeom>
          <a:noFill/>
          <a:ln/>
        </p:spPr>
        <p:txBody>
          <a:bodyPr wrap="square" rtlCol="0" anchor="ctr"/>
          <a:lstStyle/>
          <a:p>
            <a:pPr indent="0" marL="0">
              <a:buNone/>
            </a:pPr>
            <a:r>
              <a:rPr lang="en-US" sz="850" i="1" dirty="0">
                <a:solidFill>
                  <a:srgbClr val="F0B429"/>
                </a:solidFill>
                <a:latin typeface="Calibri" pitchFamily="34" charset="0"/>
                <a:ea typeface="Calibri" pitchFamily="34" charset="-122"/>
                <a:cs typeface="Calibri" pitchFamily="34" charset="-120"/>
              </a:rPr>
              <a:t>Key insight: A high composite score does not automatically equal investable economics. Chelsea (113) is the stronger near-term investment. Everett (119) is the highest-quality site requiring contracted revenue to unlock viability.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7C7B"/>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SITE SELECTION #1 — 231 BEACHAM STREET, EVERETT, MA  ·  TOOL SCORE: 119/125  ·  15 MW / 60 MWh</a:t>
            </a:r>
            <a:endParaRPr lang="en-US" sz="1050" dirty="0"/>
          </a:p>
        </p:txBody>
      </p:sp>
      <p:sp>
        <p:nvSpPr>
          <p:cNvPr id="4" name="Shape 2"/>
          <p:cNvSpPr/>
          <p:nvPr/>
        </p:nvSpPr>
        <p:spPr>
          <a:xfrm>
            <a:off x="320040" y="749808"/>
            <a:ext cx="4114800" cy="4133088"/>
          </a:xfrm>
          <a:prstGeom prst="rect">
            <a:avLst/>
          </a:prstGeom>
          <a:solidFill>
            <a:srgbClr val="0D7C7B">
              <a:alpha val="6000"/>
            </a:srgbClr>
          </a:solidFill>
          <a:ln w="76200">
            <a:solidFill>
              <a:srgbClr val="FFFF00"/>
            </a:solidFill>
            <a:prstDash val="solid"/>
          </a:ln>
        </p:spPr>
      </p:sp>
      <p:sp>
        <p:nvSpPr>
          <p:cNvPr id="5" name="Shape 3"/>
          <p:cNvSpPr/>
          <p:nvPr/>
        </p:nvSpPr>
        <p:spPr>
          <a:xfrm>
            <a:off x="320040" y="749808"/>
            <a:ext cx="4114800" cy="347472"/>
          </a:xfrm>
          <a:prstGeom prst="rect">
            <a:avLst/>
          </a:prstGeom>
          <a:solidFill>
            <a:srgbClr val="0D7C7B"/>
          </a:solidFill>
          <a:ln/>
        </p:spPr>
      </p:sp>
      <p:sp>
        <p:nvSpPr>
          <p:cNvPr id="6" name="Text 4"/>
          <p:cNvSpPr/>
          <p:nvPr/>
        </p:nvSpPr>
        <p:spPr>
          <a:xfrm>
            <a:off x="457200" y="786384"/>
            <a:ext cx="3858768"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Five-Layer Composite Score</a:t>
            </a:r>
            <a:endParaRPr lang="en-US" sz="1100" dirty="0"/>
          </a:p>
        </p:txBody>
      </p:sp>
      <p:sp>
        <p:nvSpPr>
          <p:cNvPr id="7" name="Text 5"/>
          <p:cNvSpPr/>
          <p:nvPr/>
        </p:nvSpPr>
        <p:spPr>
          <a:xfrm>
            <a:off x="411480" y="11887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EJ &amp; Regulatory</a:t>
            </a:r>
            <a:endParaRPr lang="en-US" sz="950" dirty="0"/>
          </a:p>
        </p:txBody>
      </p:sp>
      <p:sp>
        <p:nvSpPr>
          <p:cNvPr id="8" name="Text 6"/>
          <p:cNvSpPr/>
          <p:nvPr/>
        </p:nvSpPr>
        <p:spPr>
          <a:xfrm>
            <a:off x="2468880" y="1188720"/>
            <a:ext cx="475488" cy="219456"/>
          </a:xfrm>
          <a:prstGeom prst="rect">
            <a:avLst/>
          </a:prstGeom>
          <a:noFill/>
          <a:ln/>
        </p:spPr>
        <p:txBody>
          <a:bodyPr wrap="square" lIns="0" tIns="0" rIns="0" bIns="0" rtlCol="0" anchor="ctr"/>
          <a:lstStyle/>
          <a:p>
            <a:pPr algn="r" indent="0" marL="0">
              <a:buNone/>
            </a:pPr>
            <a:r>
              <a:rPr lang="en-US" sz="1100" b="1" dirty="0">
                <a:solidFill>
                  <a:srgbClr val="A83D28"/>
                </a:solidFill>
                <a:latin typeface="Calibri" pitchFamily="34" charset="0"/>
                <a:ea typeface="Calibri" pitchFamily="34" charset="-122"/>
                <a:cs typeface="Calibri" pitchFamily="34" charset="-120"/>
              </a:rPr>
              <a:t>25/25</a:t>
            </a:r>
            <a:endParaRPr lang="en-US" sz="1100" dirty="0"/>
          </a:p>
        </p:txBody>
      </p:sp>
      <p:sp>
        <p:nvSpPr>
          <p:cNvPr id="9" name="Shape 7"/>
          <p:cNvSpPr/>
          <p:nvPr/>
        </p:nvSpPr>
        <p:spPr>
          <a:xfrm>
            <a:off x="411480" y="1426464"/>
            <a:ext cx="3931920" cy="109728"/>
          </a:xfrm>
          <a:prstGeom prst="rect">
            <a:avLst/>
          </a:prstGeom>
          <a:solidFill>
            <a:srgbClr val="E5EAF1"/>
          </a:solidFill>
          <a:ln/>
        </p:spPr>
      </p:sp>
      <p:sp>
        <p:nvSpPr>
          <p:cNvPr id="10" name="Shape 8"/>
          <p:cNvSpPr/>
          <p:nvPr/>
        </p:nvSpPr>
        <p:spPr>
          <a:xfrm>
            <a:off x="411480" y="1426464"/>
            <a:ext cx="3931920" cy="109728"/>
          </a:xfrm>
          <a:prstGeom prst="rect">
            <a:avLst/>
          </a:prstGeom>
          <a:solidFill>
            <a:srgbClr val="A83D28"/>
          </a:solidFill>
          <a:ln/>
        </p:spPr>
      </p:sp>
      <p:sp>
        <p:nvSpPr>
          <p:cNvPr id="11" name="Text 9"/>
          <p:cNvSpPr/>
          <p:nvPr/>
        </p:nvSpPr>
        <p:spPr>
          <a:xfrm>
            <a:off x="411480" y="16459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Grid Feasibility</a:t>
            </a:r>
            <a:endParaRPr lang="en-US" sz="950" dirty="0"/>
          </a:p>
        </p:txBody>
      </p:sp>
      <p:sp>
        <p:nvSpPr>
          <p:cNvPr id="12" name="Text 10"/>
          <p:cNvSpPr/>
          <p:nvPr/>
        </p:nvSpPr>
        <p:spPr>
          <a:xfrm>
            <a:off x="2468880" y="1645920"/>
            <a:ext cx="475488" cy="219456"/>
          </a:xfrm>
          <a:prstGeom prst="rect">
            <a:avLst/>
          </a:prstGeom>
          <a:noFill/>
          <a:ln/>
        </p:spPr>
        <p:txBody>
          <a:bodyPr wrap="square" lIns="0" tIns="0" rIns="0" bIns="0" rtlCol="0" anchor="ctr"/>
          <a:lstStyle/>
          <a:p>
            <a:pPr algn="r" indent="0" marL="0">
              <a:buNone/>
            </a:pPr>
            <a:r>
              <a:rPr lang="en-US" sz="1100" b="1" dirty="0">
                <a:solidFill>
                  <a:srgbClr val="0D7C7B"/>
                </a:solidFill>
                <a:latin typeface="Calibri" pitchFamily="34" charset="0"/>
                <a:ea typeface="Calibri" pitchFamily="34" charset="-122"/>
                <a:cs typeface="Calibri" pitchFamily="34" charset="-120"/>
              </a:rPr>
              <a:t>25/25</a:t>
            </a:r>
            <a:endParaRPr lang="en-US" sz="1100" dirty="0"/>
          </a:p>
        </p:txBody>
      </p:sp>
      <p:sp>
        <p:nvSpPr>
          <p:cNvPr id="13" name="Shape 11"/>
          <p:cNvSpPr/>
          <p:nvPr/>
        </p:nvSpPr>
        <p:spPr>
          <a:xfrm>
            <a:off x="411480" y="1883664"/>
            <a:ext cx="3931920" cy="109728"/>
          </a:xfrm>
          <a:prstGeom prst="rect">
            <a:avLst/>
          </a:prstGeom>
          <a:solidFill>
            <a:srgbClr val="E5EAF1"/>
          </a:solidFill>
          <a:ln/>
        </p:spPr>
      </p:sp>
      <p:sp>
        <p:nvSpPr>
          <p:cNvPr id="14" name="Shape 12"/>
          <p:cNvSpPr/>
          <p:nvPr/>
        </p:nvSpPr>
        <p:spPr>
          <a:xfrm>
            <a:off x="411480" y="1883664"/>
            <a:ext cx="3931920" cy="109728"/>
          </a:xfrm>
          <a:prstGeom prst="rect">
            <a:avLst/>
          </a:prstGeom>
          <a:solidFill>
            <a:srgbClr val="0D7C7B"/>
          </a:solidFill>
          <a:ln/>
        </p:spPr>
      </p:sp>
      <p:sp>
        <p:nvSpPr>
          <p:cNvPr id="15" name="Text 13"/>
          <p:cNvSpPr/>
          <p:nvPr/>
        </p:nvSpPr>
        <p:spPr>
          <a:xfrm>
            <a:off x="411480" y="21031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Zoning &amp; Permitting</a:t>
            </a:r>
            <a:endParaRPr lang="en-US" sz="950" dirty="0"/>
          </a:p>
        </p:txBody>
      </p:sp>
      <p:sp>
        <p:nvSpPr>
          <p:cNvPr id="16" name="Text 14"/>
          <p:cNvSpPr/>
          <p:nvPr/>
        </p:nvSpPr>
        <p:spPr>
          <a:xfrm>
            <a:off x="2468880" y="2103120"/>
            <a:ext cx="475488" cy="219456"/>
          </a:xfrm>
          <a:prstGeom prst="rect">
            <a:avLst/>
          </a:prstGeom>
          <a:noFill/>
          <a:ln/>
        </p:spPr>
        <p:txBody>
          <a:bodyPr wrap="square" lIns="0" tIns="0" rIns="0" bIns="0" rtlCol="0" anchor="ctr"/>
          <a:lstStyle/>
          <a:p>
            <a:pPr algn="r" indent="0" marL="0">
              <a:buNone/>
            </a:pPr>
            <a:r>
              <a:rPr lang="en-US" sz="1100" b="1" dirty="0">
                <a:solidFill>
                  <a:srgbClr val="3A5278"/>
                </a:solidFill>
                <a:latin typeface="Calibri" pitchFamily="34" charset="0"/>
                <a:ea typeface="Calibri" pitchFamily="34" charset="-122"/>
                <a:cs typeface="Calibri" pitchFamily="34" charset="-120"/>
              </a:rPr>
              <a:t>22/25</a:t>
            </a:r>
            <a:endParaRPr lang="en-US" sz="1100" dirty="0"/>
          </a:p>
        </p:txBody>
      </p:sp>
      <p:sp>
        <p:nvSpPr>
          <p:cNvPr id="17" name="Shape 15"/>
          <p:cNvSpPr/>
          <p:nvPr/>
        </p:nvSpPr>
        <p:spPr>
          <a:xfrm>
            <a:off x="411480" y="2340864"/>
            <a:ext cx="3931920" cy="109728"/>
          </a:xfrm>
          <a:prstGeom prst="rect">
            <a:avLst/>
          </a:prstGeom>
          <a:solidFill>
            <a:srgbClr val="E5EAF1"/>
          </a:solidFill>
          <a:ln/>
        </p:spPr>
      </p:sp>
      <p:sp>
        <p:nvSpPr>
          <p:cNvPr id="18" name="Shape 16"/>
          <p:cNvSpPr/>
          <p:nvPr/>
        </p:nvSpPr>
        <p:spPr>
          <a:xfrm>
            <a:off x="411480" y="2340864"/>
            <a:ext cx="3460090" cy="109728"/>
          </a:xfrm>
          <a:prstGeom prst="rect">
            <a:avLst/>
          </a:prstGeom>
          <a:solidFill>
            <a:srgbClr val="3A5278"/>
          </a:solidFill>
          <a:ln/>
        </p:spPr>
      </p:sp>
      <p:sp>
        <p:nvSpPr>
          <p:cNvPr id="19" name="Text 17"/>
          <p:cNvSpPr/>
          <p:nvPr/>
        </p:nvSpPr>
        <p:spPr>
          <a:xfrm>
            <a:off x="411480" y="25603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Physical Feasibility</a:t>
            </a:r>
            <a:endParaRPr lang="en-US" sz="950" dirty="0"/>
          </a:p>
        </p:txBody>
      </p:sp>
      <p:sp>
        <p:nvSpPr>
          <p:cNvPr id="20" name="Text 18"/>
          <p:cNvSpPr/>
          <p:nvPr/>
        </p:nvSpPr>
        <p:spPr>
          <a:xfrm>
            <a:off x="2468880" y="2560320"/>
            <a:ext cx="475488" cy="219456"/>
          </a:xfrm>
          <a:prstGeom prst="rect">
            <a:avLst/>
          </a:prstGeom>
          <a:noFill/>
          <a:ln/>
        </p:spPr>
        <p:txBody>
          <a:bodyPr wrap="square" lIns="0" tIns="0" rIns="0" bIns="0" rtlCol="0" anchor="ctr"/>
          <a:lstStyle/>
          <a:p>
            <a:pPr algn="r" indent="0" marL="0">
              <a:buNone/>
            </a:pPr>
            <a:r>
              <a:rPr lang="en-US" sz="1100" b="1" dirty="0">
                <a:solidFill>
                  <a:srgbClr val="2A6145"/>
                </a:solidFill>
                <a:latin typeface="Calibri" pitchFamily="34" charset="0"/>
                <a:ea typeface="Calibri" pitchFamily="34" charset="-122"/>
                <a:cs typeface="Calibri" pitchFamily="34" charset="-120"/>
              </a:rPr>
              <a:t>24/25</a:t>
            </a:r>
            <a:endParaRPr lang="en-US" sz="1100" dirty="0"/>
          </a:p>
        </p:txBody>
      </p:sp>
      <p:sp>
        <p:nvSpPr>
          <p:cNvPr id="21" name="Shape 19"/>
          <p:cNvSpPr/>
          <p:nvPr/>
        </p:nvSpPr>
        <p:spPr>
          <a:xfrm>
            <a:off x="411480" y="2798064"/>
            <a:ext cx="3931920" cy="109728"/>
          </a:xfrm>
          <a:prstGeom prst="rect">
            <a:avLst/>
          </a:prstGeom>
          <a:solidFill>
            <a:srgbClr val="E5EAF1"/>
          </a:solidFill>
          <a:ln/>
        </p:spPr>
      </p:sp>
      <p:sp>
        <p:nvSpPr>
          <p:cNvPr id="22" name="Shape 20"/>
          <p:cNvSpPr/>
          <p:nvPr/>
        </p:nvSpPr>
        <p:spPr>
          <a:xfrm>
            <a:off x="411480" y="2798064"/>
            <a:ext cx="3774643" cy="109728"/>
          </a:xfrm>
          <a:prstGeom prst="rect">
            <a:avLst/>
          </a:prstGeom>
          <a:solidFill>
            <a:srgbClr val="2A6145"/>
          </a:solidFill>
          <a:ln/>
        </p:spPr>
      </p:sp>
      <p:sp>
        <p:nvSpPr>
          <p:cNvPr id="23" name="Text 21"/>
          <p:cNvSpPr/>
          <p:nvPr/>
        </p:nvSpPr>
        <p:spPr>
          <a:xfrm>
            <a:off x="411480" y="30175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Revenue Potential</a:t>
            </a:r>
            <a:endParaRPr lang="en-US" sz="950" dirty="0"/>
          </a:p>
        </p:txBody>
      </p:sp>
      <p:sp>
        <p:nvSpPr>
          <p:cNvPr id="24" name="Text 22"/>
          <p:cNvSpPr/>
          <p:nvPr/>
        </p:nvSpPr>
        <p:spPr>
          <a:xfrm>
            <a:off x="2468880" y="3017520"/>
            <a:ext cx="475488" cy="219456"/>
          </a:xfrm>
          <a:prstGeom prst="rect">
            <a:avLst/>
          </a:prstGeom>
          <a:noFill/>
          <a:ln/>
        </p:spPr>
        <p:txBody>
          <a:bodyPr wrap="square" lIns="0" tIns="0" rIns="0" bIns="0" rtlCol="0" anchor="ctr"/>
          <a:lstStyle/>
          <a:p>
            <a:pPr algn="r" indent="0" marL="0">
              <a:buNone/>
            </a:pPr>
            <a:r>
              <a:rPr lang="en-US" sz="1100" b="1" dirty="0">
                <a:solidFill>
                  <a:srgbClr val="C68A17"/>
                </a:solidFill>
                <a:latin typeface="Calibri" pitchFamily="34" charset="0"/>
                <a:ea typeface="Calibri" pitchFamily="34" charset="-122"/>
                <a:cs typeface="Calibri" pitchFamily="34" charset="-120"/>
              </a:rPr>
              <a:t>23/25</a:t>
            </a:r>
            <a:endParaRPr lang="en-US" sz="1100" dirty="0"/>
          </a:p>
        </p:txBody>
      </p:sp>
      <p:sp>
        <p:nvSpPr>
          <p:cNvPr id="25" name="Shape 23"/>
          <p:cNvSpPr/>
          <p:nvPr/>
        </p:nvSpPr>
        <p:spPr>
          <a:xfrm>
            <a:off x="411480" y="3255264"/>
            <a:ext cx="3931920" cy="109728"/>
          </a:xfrm>
          <a:prstGeom prst="rect">
            <a:avLst/>
          </a:prstGeom>
          <a:solidFill>
            <a:srgbClr val="E5EAF1"/>
          </a:solidFill>
          <a:ln/>
        </p:spPr>
      </p:sp>
      <p:sp>
        <p:nvSpPr>
          <p:cNvPr id="26" name="Shape 24"/>
          <p:cNvSpPr/>
          <p:nvPr/>
        </p:nvSpPr>
        <p:spPr>
          <a:xfrm>
            <a:off x="411480" y="3255264"/>
            <a:ext cx="3617366" cy="109728"/>
          </a:xfrm>
          <a:prstGeom prst="rect">
            <a:avLst/>
          </a:prstGeom>
          <a:solidFill>
            <a:srgbClr val="C68A17"/>
          </a:solidFill>
          <a:ln/>
        </p:spPr>
      </p:sp>
      <p:sp>
        <p:nvSpPr>
          <p:cNvPr id="27" name="Shape 25"/>
          <p:cNvSpPr/>
          <p:nvPr/>
        </p:nvSpPr>
        <p:spPr>
          <a:xfrm>
            <a:off x="384048" y="3493008"/>
            <a:ext cx="3977640" cy="420624"/>
          </a:xfrm>
          <a:prstGeom prst="rect">
            <a:avLst/>
          </a:prstGeom>
          <a:solidFill>
            <a:srgbClr val="0D7C7B"/>
          </a:solidFill>
          <a:ln/>
        </p:spPr>
      </p:sp>
      <p:sp>
        <p:nvSpPr>
          <p:cNvPr id="28" name="Text 26"/>
          <p:cNvSpPr/>
          <p:nvPr/>
        </p:nvSpPr>
        <p:spPr>
          <a:xfrm>
            <a:off x="502920" y="3538728"/>
            <a:ext cx="219456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COMPOSITE TOTAL</a:t>
            </a:r>
            <a:endParaRPr lang="en-US" sz="1100" dirty="0"/>
          </a:p>
        </p:txBody>
      </p:sp>
      <p:sp>
        <p:nvSpPr>
          <p:cNvPr id="29" name="Text 27"/>
          <p:cNvSpPr/>
          <p:nvPr/>
        </p:nvSpPr>
        <p:spPr>
          <a:xfrm>
            <a:off x="2651760" y="3511296"/>
            <a:ext cx="1645920" cy="384048"/>
          </a:xfrm>
          <a:prstGeom prst="rect">
            <a:avLst/>
          </a:prstGeom>
          <a:noFill/>
          <a:ln/>
        </p:spPr>
        <p:txBody>
          <a:bodyPr wrap="square" lIns="0" tIns="0" rIns="0" bIns="0" rtlCol="0" anchor="ctr"/>
          <a:lstStyle/>
          <a:p>
            <a:pPr algn="r" indent="0" marL="0">
              <a:buNone/>
            </a:pPr>
            <a:r>
              <a:rPr lang="en-US" sz="2000" b="1" dirty="0">
                <a:solidFill>
                  <a:srgbClr val="F0B429"/>
                </a:solidFill>
                <a:latin typeface="Calibri" pitchFamily="34" charset="0"/>
                <a:ea typeface="Calibri" pitchFamily="34" charset="-122"/>
                <a:cs typeface="Calibri" pitchFamily="34" charset="-120"/>
              </a:rPr>
              <a:t>119 / 125</a:t>
            </a:r>
            <a:endParaRPr lang="en-US" sz="2000" dirty="0"/>
          </a:p>
        </p:txBody>
      </p:sp>
      <p:sp>
        <p:nvSpPr>
          <p:cNvPr id="30" name="Shape 28"/>
          <p:cNvSpPr/>
          <p:nvPr/>
        </p:nvSpPr>
        <p:spPr>
          <a:xfrm>
            <a:off x="384048" y="3986784"/>
            <a:ext cx="3977640" cy="822960"/>
          </a:xfrm>
          <a:prstGeom prst="rect">
            <a:avLst/>
          </a:prstGeom>
          <a:solidFill>
            <a:srgbClr val="F4F1EB"/>
          </a:solidFill>
          <a:ln/>
        </p:spPr>
      </p:sp>
      <p:sp>
        <p:nvSpPr>
          <p:cNvPr id="31" name="Text 29"/>
          <p:cNvSpPr/>
          <p:nvPr/>
        </p:nvSpPr>
        <p:spPr>
          <a:xfrm>
            <a:off x="475488" y="4023360"/>
            <a:ext cx="1005840" cy="182880"/>
          </a:xfrm>
          <a:prstGeom prst="rect">
            <a:avLst/>
          </a:prstGeom>
          <a:noFill/>
          <a:ln/>
        </p:spPr>
        <p:txBody>
          <a:bodyPr wrap="square" lIns="0" tIns="0" rIns="0" bIns="0" rtlCol="0" anchor="ctr"/>
          <a:lstStyle/>
          <a:p>
            <a:pPr indent="0" marL="0">
              <a:buNone/>
            </a:pPr>
            <a:r>
              <a:rPr lang="en-US" sz="800" b="1" dirty="0">
                <a:solidFill>
                  <a:srgbClr val="0D7C7B"/>
                </a:solidFill>
                <a:latin typeface="Calibri" pitchFamily="34" charset="0"/>
                <a:ea typeface="Calibri" pitchFamily="34" charset="-122"/>
                <a:cs typeface="Calibri" pitchFamily="34" charset="-120"/>
              </a:rPr>
              <a:t>Address:</a:t>
            </a:r>
            <a:endParaRPr lang="en-US" sz="800" dirty="0"/>
          </a:p>
        </p:txBody>
      </p:sp>
      <p:sp>
        <p:nvSpPr>
          <p:cNvPr id="32" name="Text 30"/>
          <p:cNvSpPr/>
          <p:nvPr/>
        </p:nvSpPr>
        <p:spPr>
          <a:xfrm>
            <a:off x="1508760" y="4023360"/>
            <a:ext cx="2724912" cy="182880"/>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231 Beacham Street, Everett, MA 02149</a:t>
            </a:r>
            <a:endParaRPr lang="en-US" sz="800" dirty="0"/>
          </a:p>
        </p:txBody>
      </p:sp>
      <p:sp>
        <p:nvSpPr>
          <p:cNvPr id="33" name="Text 31"/>
          <p:cNvSpPr/>
          <p:nvPr/>
        </p:nvSpPr>
        <p:spPr>
          <a:xfrm>
            <a:off x="475488" y="4215384"/>
            <a:ext cx="1005840" cy="182880"/>
          </a:xfrm>
          <a:prstGeom prst="rect">
            <a:avLst/>
          </a:prstGeom>
          <a:noFill/>
          <a:ln/>
        </p:spPr>
        <p:txBody>
          <a:bodyPr wrap="square" lIns="0" tIns="0" rIns="0" bIns="0" rtlCol="0" anchor="ctr"/>
          <a:lstStyle/>
          <a:p>
            <a:pPr indent="0" marL="0">
              <a:buNone/>
            </a:pPr>
            <a:r>
              <a:rPr lang="en-US" sz="800" b="1" dirty="0">
                <a:solidFill>
                  <a:srgbClr val="0D7C7B"/>
                </a:solidFill>
                <a:latin typeface="Calibri" pitchFamily="34" charset="0"/>
                <a:ea typeface="Calibri" pitchFamily="34" charset="-122"/>
                <a:cs typeface="Calibri" pitchFamily="34" charset="-120"/>
              </a:rPr>
              <a:t>Zone / Use:</a:t>
            </a:r>
            <a:endParaRPr lang="en-US" sz="800" dirty="0"/>
          </a:p>
        </p:txBody>
      </p:sp>
      <p:sp>
        <p:nvSpPr>
          <p:cNvPr id="34" name="Text 32"/>
          <p:cNvSpPr/>
          <p:nvPr/>
        </p:nvSpPr>
        <p:spPr>
          <a:xfrm>
            <a:off x="1508760" y="4215384"/>
            <a:ext cx="2724912" cy="182880"/>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I-2 Heavy Industrial · Brownfield parcel</a:t>
            </a:r>
            <a:endParaRPr lang="en-US" sz="800" dirty="0"/>
          </a:p>
        </p:txBody>
      </p:sp>
      <p:sp>
        <p:nvSpPr>
          <p:cNvPr id="35" name="Text 33"/>
          <p:cNvSpPr/>
          <p:nvPr/>
        </p:nvSpPr>
        <p:spPr>
          <a:xfrm>
            <a:off x="475488" y="4407408"/>
            <a:ext cx="1005840" cy="182880"/>
          </a:xfrm>
          <a:prstGeom prst="rect">
            <a:avLst/>
          </a:prstGeom>
          <a:noFill/>
          <a:ln/>
        </p:spPr>
        <p:txBody>
          <a:bodyPr wrap="square" lIns="0" tIns="0" rIns="0" bIns="0" rtlCol="0" anchor="ctr"/>
          <a:lstStyle/>
          <a:p>
            <a:pPr indent="0" marL="0">
              <a:buNone/>
            </a:pPr>
            <a:r>
              <a:rPr lang="en-US" sz="800" b="1" dirty="0">
                <a:solidFill>
                  <a:srgbClr val="0D7C7B"/>
                </a:solidFill>
                <a:latin typeface="Calibri" pitchFamily="34" charset="0"/>
                <a:ea typeface="Calibri" pitchFamily="34" charset="-122"/>
                <a:cs typeface="Calibri" pitchFamily="34" charset="-120"/>
              </a:rPr>
              <a:t>Grid Access:</a:t>
            </a:r>
            <a:endParaRPr lang="en-US" sz="800" dirty="0"/>
          </a:p>
        </p:txBody>
      </p:sp>
      <p:sp>
        <p:nvSpPr>
          <p:cNvPr id="36" name="Text 34"/>
          <p:cNvSpPr/>
          <p:nvPr/>
        </p:nvSpPr>
        <p:spPr>
          <a:xfrm>
            <a:off x="1508760" y="4407408"/>
            <a:ext cx="2724912" cy="182880"/>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0.2 mi to Eversource Mystic 345 kV substation</a:t>
            </a:r>
            <a:endParaRPr lang="en-US" sz="800" dirty="0"/>
          </a:p>
        </p:txBody>
      </p:sp>
      <p:sp>
        <p:nvSpPr>
          <p:cNvPr id="37" name="Text 35"/>
          <p:cNvSpPr/>
          <p:nvPr/>
        </p:nvSpPr>
        <p:spPr>
          <a:xfrm>
            <a:off x="475488" y="4599432"/>
            <a:ext cx="1005840" cy="182880"/>
          </a:xfrm>
          <a:prstGeom prst="rect">
            <a:avLst/>
          </a:prstGeom>
          <a:noFill/>
          <a:ln/>
        </p:spPr>
        <p:txBody>
          <a:bodyPr wrap="square" lIns="0" tIns="0" rIns="0" bIns="0" rtlCol="0" anchor="ctr"/>
          <a:lstStyle/>
          <a:p>
            <a:pPr indent="0" marL="0">
              <a:buNone/>
            </a:pPr>
            <a:r>
              <a:rPr lang="en-US" sz="800" b="1" dirty="0">
                <a:solidFill>
                  <a:srgbClr val="0D7C7B"/>
                </a:solidFill>
                <a:latin typeface="Calibri" pitchFamily="34" charset="0"/>
                <a:ea typeface="Calibri" pitchFamily="34" charset="-122"/>
                <a:cs typeface="Calibri" pitchFamily="34" charset="-120"/>
              </a:rPr>
              <a:t>ISO-NE Zone:</a:t>
            </a:r>
            <a:endParaRPr lang="en-US" sz="800" dirty="0"/>
          </a:p>
        </p:txBody>
      </p:sp>
      <p:sp>
        <p:nvSpPr>
          <p:cNvPr id="38" name="Text 36"/>
          <p:cNvSpPr/>
          <p:nvPr/>
        </p:nvSpPr>
        <p:spPr>
          <a:xfrm>
            <a:off x="1508760" y="4599432"/>
            <a:ext cx="2724912" cy="182880"/>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SENE · Feeder-level connection ($2.0M interconnection)</a:t>
            </a:r>
            <a:endParaRPr lang="en-US" sz="800" dirty="0"/>
          </a:p>
        </p:txBody>
      </p:sp>
      <p:sp>
        <p:nvSpPr>
          <p:cNvPr id="39" name="Shape 37"/>
          <p:cNvSpPr/>
          <p:nvPr/>
        </p:nvSpPr>
        <p:spPr>
          <a:xfrm>
            <a:off x="4572000" y="749808"/>
            <a:ext cx="4279392" cy="413308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40" name="Shape 38"/>
          <p:cNvSpPr/>
          <p:nvPr/>
        </p:nvSpPr>
        <p:spPr>
          <a:xfrm>
            <a:off x="4572000" y="749808"/>
            <a:ext cx="4279392" cy="347472"/>
          </a:xfrm>
          <a:prstGeom prst="rect">
            <a:avLst/>
          </a:prstGeom>
          <a:solidFill>
            <a:srgbClr val="0E2040"/>
          </a:solidFill>
          <a:ln/>
        </p:spPr>
      </p:sp>
      <p:sp>
        <p:nvSpPr>
          <p:cNvPr id="41" name="Text 39"/>
          <p:cNvSpPr/>
          <p:nvPr/>
        </p:nvSpPr>
        <p:spPr>
          <a:xfrm>
            <a:off x="4709160" y="786384"/>
            <a:ext cx="402336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Financial Model — Site Analysis (Model-Confirmed)</a:t>
            </a:r>
            <a:endParaRPr lang="en-US" sz="1100" dirty="0"/>
          </a:p>
        </p:txBody>
      </p:sp>
      <p:sp>
        <p:nvSpPr>
          <p:cNvPr id="42" name="Shape 40"/>
          <p:cNvSpPr/>
          <p:nvPr/>
        </p:nvSpPr>
        <p:spPr>
          <a:xfrm>
            <a:off x="4645152" y="1188720"/>
            <a:ext cx="4133088" cy="530352"/>
          </a:xfrm>
          <a:prstGeom prst="rect">
            <a:avLst/>
          </a:prstGeom>
          <a:solidFill>
            <a:srgbClr val="0D7C7B">
              <a:alpha val="9000"/>
            </a:srgbClr>
          </a:solidFill>
          <a:ln/>
          <a:effectLst>
            <a:outerShdw sx="100000" sy="100000" kx="0" ky="0" algn="bl" rotWithShape="0" blurRad="101600" dist="38100" dir="8100000">
              <a:srgbClr val="000000">
                <a:alpha val="13000"/>
              </a:srgbClr>
            </a:outerShdw>
          </a:effectLst>
        </p:spPr>
      </p:sp>
      <p:sp>
        <p:nvSpPr>
          <p:cNvPr id="43" name="Text 41"/>
          <p:cNvSpPr/>
          <p:nvPr/>
        </p:nvSpPr>
        <p:spPr>
          <a:xfrm>
            <a:off x="4709160" y="1225296"/>
            <a:ext cx="1508760" cy="384048"/>
          </a:xfrm>
          <a:prstGeom prst="rect">
            <a:avLst/>
          </a:prstGeom>
          <a:noFill/>
          <a:ln/>
        </p:spPr>
        <p:txBody>
          <a:bodyPr wrap="square" lIns="0" tIns="0" rIns="0" bIns="0" rtlCol="0" anchor="ctr"/>
          <a:lstStyle/>
          <a:p>
            <a:pPr algn="ctr" indent="0" marL="0">
              <a:buNone/>
            </a:pPr>
            <a:r>
              <a:rPr lang="en-US" sz="2000" b="1" dirty="0">
                <a:solidFill>
                  <a:srgbClr val="0D7C7B"/>
                </a:solidFill>
                <a:latin typeface="Calibri" pitchFamily="34" charset="0"/>
                <a:ea typeface="Calibri" pitchFamily="34" charset="-122"/>
                <a:cs typeface="Calibri" pitchFamily="34" charset="-120"/>
              </a:rPr>
              <a:t>15 MW</a:t>
            </a:r>
            <a:endParaRPr lang="en-US" sz="2000" dirty="0"/>
          </a:p>
        </p:txBody>
      </p:sp>
      <p:sp>
        <p:nvSpPr>
          <p:cNvPr id="44" name="Text 42"/>
          <p:cNvSpPr/>
          <p:nvPr/>
        </p:nvSpPr>
        <p:spPr>
          <a:xfrm>
            <a:off x="6281928" y="128016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Modeled Capacity (4hr · feeder-constrained)</a:t>
            </a:r>
            <a:endParaRPr lang="en-US" sz="850" dirty="0"/>
          </a:p>
        </p:txBody>
      </p:sp>
      <p:sp>
        <p:nvSpPr>
          <p:cNvPr id="45" name="Shape 43"/>
          <p:cNvSpPr/>
          <p:nvPr/>
        </p:nvSpPr>
        <p:spPr>
          <a:xfrm>
            <a:off x="4645152" y="1783080"/>
            <a:ext cx="4133088" cy="530352"/>
          </a:xfrm>
          <a:prstGeom prst="rect">
            <a:avLst/>
          </a:prstGeom>
          <a:solidFill>
            <a:srgbClr val="11988F">
              <a:alpha val="9000"/>
            </a:srgbClr>
          </a:solidFill>
          <a:ln/>
          <a:effectLst>
            <a:outerShdw sx="100000" sy="100000" kx="0" ky="0" algn="bl" rotWithShape="0" blurRad="101600" dist="38100" dir="8100000">
              <a:srgbClr val="000000">
                <a:alpha val="13000"/>
              </a:srgbClr>
            </a:outerShdw>
          </a:effectLst>
        </p:spPr>
      </p:sp>
      <p:sp>
        <p:nvSpPr>
          <p:cNvPr id="46" name="Text 44"/>
          <p:cNvSpPr/>
          <p:nvPr/>
        </p:nvSpPr>
        <p:spPr>
          <a:xfrm>
            <a:off x="4709160" y="1819656"/>
            <a:ext cx="1508760" cy="384048"/>
          </a:xfrm>
          <a:prstGeom prst="rect">
            <a:avLst/>
          </a:prstGeom>
          <a:noFill/>
          <a:ln/>
        </p:spPr>
        <p:txBody>
          <a:bodyPr wrap="square" lIns="0" tIns="0" rIns="0" bIns="0" rtlCol="0" anchor="ctr"/>
          <a:lstStyle/>
          <a:p>
            <a:pPr algn="ctr" indent="0" marL="0">
              <a:buNone/>
            </a:pPr>
            <a:r>
              <a:rPr lang="en-US" sz="2000" b="1" dirty="0">
                <a:solidFill>
                  <a:srgbClr val="11988F"/>
                </a:solidFill>
                <a:latin typeface="Calibri" pitchFamily="34" charset="0"/>
                <a:ea typeface="Calibri" pitchFamily="34" charset="-122"/>
                <a:cs typeface="Calibri" pitchFamily="34" charset="-120"/>
              </a:rPr>
              <a:t>60 MWh</a:t>
            </a:r>
            <a:endParaRPr lang="en-US" sz="2000" dirty="0"/>
          </a:p>
        </p:txBody>
      </p:sp>
      <p:sp>
        <p:nvSpPr>
          <p:cNvPr id="47" name="Text 45"/>
          <p:cNvSpPr/>
          <p:nvPr/>
        </p:nvSpPr>
        <p:spPr>
          <a:xfrm>
            <a:off x="6281928" y="187452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Energy Storage (4-hour system)</a:t>
            </a:r>
            <a:endParaRPr lang="en-US" sz="850" dirty="0"/>
          </a:p>
        </p:txBody>
      </p:sp>
      <p:sp>
        <p:nvSpPr>
          <p:cNvPr id="48" name="Shape 46"/>
          <p:cNvSpPr/>
          <p:nvPr/>
        </p:nvSpPr>
        <p:spPr>
          <a:xfrm>
            <a:off x="4645152" y="2377440"/>
            <a:ext cx="4133088" cy="530352"/>
          </a:xfrm>
          <a:prstGeom prst="rect">
            <a:avLst/>
          </a:prstGeom>
          <a:solidFill>
            <a:srgbClr val="3A5278">
              <a:alpha val="9000"/>
            </a:srgbClr>
          </a:solidFill>
          <a:ln/>
          <a:effectLst>
            <a:outerShdw sx="100000" sy="100000" kx="0" ky="0" algn="bl" rotWithShape="0" blurRad="101600" dist="38100" dir="8100000">
              <a:srgbClr val="000000">
                <a:alpha val="13000"/>
              </a:srgbClr>
            </a:outerShdw>
          </a:effectLst>
        </p:spPr>
      </p:sp>
      <p:sp>
        <p:nvSpPr>
          <p:cNvPr id="49" name="Text 47"/>
          <p:cNvSpPr/>
          <p:nvPr/>
        </p:nvSpPr>
        <p:spPr>
          <a:xfrm>
            <a:off x="4709160" y="2414016"/>
            <a:ext cx="1508760" cy="384048"/>
          </a:xfrm>
          <a:prstGeom prst="rect">
            <a:avLst/>
          </a:prstGeom>
          <a:noFill/>
          <a:ln/>
        </p:spPr>
        <p:txBody>
          <a:bodyPr wrap="square" lIns="0" tIns="0" rIns="0" bIns="0" rtlCol="0" anchor="ctr"/>
          <a:lstStyle/>
          <a:p>
            <a:pPr algn="ctr" indent="0" marL="0">
              <a:buNone/>
            </a:pPr>
            <a:r>
              <a:rPr lang="en-US" sz="2000" b="1" dirty="0">
                <a:solidFill>
                  <a:srgbClr val="3A5278"/>
                </a:solidFill>
                <a:latin typeface="Calibri" pitchFamily="34" charset="0"/>
                <a:ea typeface="Calibri" pitchFamily="34" charset="-122"/>
                <a:cs typeface="Calibri" pitchFamily="34" charset="-120"/>
              </a:rPr>
              <a:t>$25.1M</a:t>
            </a:r>
            <a:endParaRPr lang="en-US" sz="2000" dirty="0"/>
          </a:p>
        </p:txBody>
      </p:sp>
      <p:sp>
        <p:nvSpPr>
          <p:cNvPr id="50" name="Text 48"/>
          <p:cNvSpPr/>
          <p:nvPr/>
        </p:nvSpPr>
        <p:spPr>
          <a:xfrm>
            <a:off x="6281928" y="246888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Gross CAPEX ($18M battery + $2M IC + $3.1M other)</a:t>
            </a:r>
            <a:endParaRPr lang="en-US" sz="850" dirty="0"/>
          </a:p>
        </p:txBody>
      </p:sp>
      <p:sp>
        <p:nvSpPr>
          <p:cNvPr id="51" name="Shape 49"/>
          <p:cNvSpPr/>
          <p:nvPr/>
        </p:nvSpPr>
        <p:spPr>
          <a:xfrm>
            <a:off x="4645152" y="2971800"/>
            <a:ext cx="4133088" cy="530352"/>
          </a:xfrm>
          <a:prstGeom prst="rect">
            <a:avLst/>
          </a:prstGeom>
          <a:solidFill>
            <a:srgbClr val="2A6145">
              <a:alpha val="9000"/>
            </a:srgbClr>
          </a:solidFill>
          <a:ln/>
          <a:effectLst>
            <a:outerShdw sx="100000" sy="100000" kx="0" ky="0" algn="bl" rotWithShape="0" blurRad="101600" dist="38100" dir="8100000">
              <a:srgbClr val="000000">
                <a:alpha val="13000"/>
              </a:srgbClr>
            </a:outerShdw>
          </a:effectLst>
        </p:spPr>
      </p:sp>
      <p:sp>
        <p:nvSpPr>
          <p:cNvPr id="52" name="Text 50"/>
          <p:cNvSpPr/>
          <p:nvPr/>
        </p:nvSpPr>
        <p:spPr>
          <a:xfrm>
            <a:off x="4709160" y="3008376"/>
            <a:ext cx="1508760" cy="384048"/>
          </a:xfrm>
          <a:prstGeom prst="rect">
            <a:avLst/>
          </a:prstGeom>
          <a:noFill/>
          <a:ln/>
        </p:spPr>
        <p:txBody>
          <a:bodyPr wrap="square" lIns="0" tIns="0" rIns="0" bIns="0" rtlCol="0" anchor="ctr"/>
          <a:lstStyle/>
          <a:p>
            <a:pPr algn="ctr" indent="0" marL="0">
              <a:buNone/>
            </a:pPr>
            <a:r>
              <a:rPr lang="en-US" sz="2000" b="1" dirty="0">
                <a:solidFill>
                  <a:srgbClr val="2A6145"/>
                </a:solidFill>
                <a:latin typeface="Calibri" pitchFamily="34" charset="0"/>
                <a:ea typeface="Calibri" pitchFamily="34" charset="-122"/>
                <a:cs typeface="Calibri" pitchFamily="34" charset="-120"/>
              </a:rPr>
              <a:t>$15.1M</a:t>
            </a:r>
            <a:endParaRPr lang="en-US" sz="2000" dirty="0"/>
          </a:p>
        </p:txBody>
      </p:sp>
      <p:sp>
        <p:nvSpPr>
          <p:cNvPr id="53" name="Text 51"/>
          <p:cNvSpPr/>
          <p:nvPr/>
        </p:nvSpPr>
        <p:spPr>
          <a:xfrm>
            <a:off x="6281928" y="306324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Net CAPEX after 40% ITC ($10.1M ITC value)</a:t>
            </a:r>
            <a:endParaRPr lang="en-US" sz="850" dirty="0"/>
          </a:p>
        </p:txBody>
      </p:sp>
      <p:sp>
        <p:nvSpPr>
          <p:cNvPr id="54" name="Shape 52"/>
          <p:cNvSpPr/>
          <p:nvPr/>
        </p:nvSpPr>
        <p:spPr>
          <a:xfrm>
            <a:off x="4645152" y="3566160"/>
            <a:ext cx="4133088" cy="530352"/>
          </a:xfrm>
          <a:prstGeom prst="rect">
            <a:avLst/>
          </a:prstGeom>
          <a:solidFill>
            <a:srgbClr val="A83D28">
              <a:alpha val="9000"/>
            </a:srgbClr>
          </a:solidFill>
          <a:ln/>
          <a:effectLst>
            <a:outerShdw sx="100000" sy="100000" kx="0" ky="0" algn="bl" rotWithShape="0" blurRad="101600" dist="38100" dir="8100000">
              <a:srgbClr val="000000">
                <a:alpha val="13000"/>
              </a:srgbClr>
            </a:outerShdw>
          </a:effectLst>
        </p:spPr>
      </p:sp>
      <p:sp>
        <p:nvSpPr>
          <p:cNvPr id="55" name="Text 53"/>
          <p:cNvSpPr/>
          <p:nvPr/>
        </p:nvSpPr>
        <p:spPr>
          <a:xfrm>
            <a:off x="4709160" y="3602736"/>
            <a:ext cx="1508760" cy="384048"/>
          </a:xfrm>
          <a:prstGeom prst="rect">
            <a:avLst/>
          </a:prstGeom>
          <a:noFill/>
          <a:ln/>
        </p:spPr>
        <p:txBody>
          <a:bodyPr wrap="square" lIns="0" tIns="0" rIns="0" bIns="0" rtlCol="0" anchor="ctr"/>
          <a:lstStyle/>
          <a:p>
            <a:pPr algn="ctr" indent="0" marL="0">
              <a:buNone/>
            </a:pPr>
            <a:r>
              <a:rPr lang="en-US" sz="2000" b="1" dirty="0">
                <a:solidFill>
                  <a:srgbClr val="A83D28"/>
                </a:solidFill>
                <a:latin typeface="Calibri" pitchFamily="34" charset="0"/>
                <a:ea typeface="Calibri" pitchFamily="34" charset="-122"/>
                <a:cs typeface="Calibri" pitchFamily="34" charset="-120"/>
              </a:rPr>
              <a:t>−$2.2M</a:t>
            </a:r>
            <a:endParaRPr lang="en-US" sz="2000" dirty="0"/>
          </a:p>
        </p:txBody>
      </p:sp>
      <p:sp>
        <p:nvSpPr>
          <p:cNvPr id="56" name="Text 54"/>
          <p:cNvSpPr/>
          <p:nvPr/>
        </p:nvSpPr>
        <p:spPr>
          <a:xfrm>
            <a:off x="6281928" y="365760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NPV @ 8% WACC · IRR: 5.93% · Payback: 10.4 yrs</a:t>
            </a:r>
            <a:endParaRPr lang="en-US" sz="850" dirty="0"/>
          </a:p>
        </p:txBody>
      </p:sp>
      <p:sp>
        <p:nvSpPr>
          <p:cNvPr id="57" name="Shape 55"/>
          <p:cNvSpPr/>
          <p:nvPr/>
        </p:nvSpPr>
        <p:spPr>
          <a:xfrm>
            <a:off x="4645152" y="4178808"/>
            <a:ext cx="4133088" cy="640080"/>
          </a:xfrm>
          <a:prstGeom prst="rect">
            <a:avLst/>
          </a:prstGeom>
          <a:solidFill>
            <a:srgbClr val="A83D28">
              <a:alpha val="15000"/>
            </a:srgbClr>
          </a:solidFill>
          <a:ln/>
        </p:spPr>
      </p:sp>
      <p:sp>
        <p:nvSpPr>
          <p:cNvPr id="58" name="Shape 56"/>
          <p:cNvSpPr/>
          <p:nvPr/>
        </p:nvSpPr>
        <p:spPr>
          <a:xfrm>
            <a:off x="4645152" y="4178808"/>
            <a:ext cx="4133088" cy="164592"/>
          </a:xfrm>
          <a:prstGeom prst="rect">
            <a:avLst/>
          </a:prstGeom>
          <a:solidFill>
            <a:srgbClr val="A83D28"/>
          </a:solidFill>
          <a:ln/>
        </p:spPr>
      </p:sp>
      <p:sp>
        <p:nvSpPr>
          <p:cNvPr id="59" name="Text 57"/>
          <p:cNvSpPr/>
          <p:nvPr/>
        </p:nvSpPr>
        <p:spPr>
          <a:xfrm>
            <a:off x="4709160" y="4197096"/>
            <a:ext cx="4023360"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INVESTMENT VERDICT: CONDITIONALLY VIABLE — NOT STANDALONE INVESTABLE</a:t>
            </a:r>
            <a:endParaRPr lang="en-US" sz="800" dirty="0"/>
          </a:p>
        </p:txBody>
      </p:sp>
      <p:sp>
        <p:nvSpPr>
          <p:cNvPr id="60" name="Text 58"/>
          <p:cNvSpPr/>
          <p:nvPr/>
        </p:nvSpPr>
        <p:spPr>
          <a:xfrm>
            <a:off x="4709160" y="4352544"/>
            <a:ext cx="4005072" cy="438912"/>
          </a:xfrm>
          <a:prstGeom prst="rect">
            <a:avLst/>
          </a:prstGeom>
          <a:noFill/>
          <a:ln/>
        </p:spPr>
        <p:txBody>
          <a:bodyPr wrap="square" rtlCol="0" anchor="ctr"/>
          <a:lstStyle/>
          <a:p>
            <a:pPr indent="0" marL="0">
              <a:lnSpc>
                <a:spcPct val="120000"/>
              </a:lnSpc>
              <a:buNone/>
            </a:pPr>
            <a:r>
              <a:rPr lang="en-US" sz="780" dirty="0">
                <a:solidFill>
                  <a:srgbClr val="09182B"/>
                </a:solidFill>
                <a:latin typeface="Calibri" pitchFamily="34" charset="0"/>
                <a:ea typeface="Calibri" pitchFamily="34" charset="-122"/>
                <a:cs typeface="Calibri" pitchFamily="34" charset="-120"/>
              </a:rPr>
              <a:t>At $130/kW-yr merchant revenue: negative NPV, 5.9% IRR. Requires Section 83E contracted revenue or CPS optimization above $150/kW-yr threshold. At 50% ITC + $150/kW-yr revenue: project turns viable. First-phase feeder project; scale expansion requires transmission interconnection study.</a:t>
            </a:r>
            <a:endParaRPr lang="en-US" sz="780" dirty="0"/>
          </a:p>
        </p:txBody>
      </p:sp>
      <p:sp>
        <p:nvSpPr>
          <p:cNvPr id="61" name="Shape 59"/>
          <p:cNvSpPr/>
          <p:nvPr/>
        </p:nvSpPr>
        <p:spPr>
          <a:xfrm>
            <a:off x="0" y="4864608"/>
            <a:ext cx="9144000" cy="274320"/>
          </a:xfrm>
          <a:prstGeom prst="rect">
            <a:avLst/>
          </a:prstGeom>
          <a:solidFill>
            <a:srgbClr val="09182B"/>
          </a:solidFill>
          <a:ln/>
        </p:spPr>
      </p:sp>
      <p:sp>
        <p:nvSpPr>
          <p:cNvPr id="62" name="Text 60"/>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BESS Financial Model — 231 Beacham Street, Everett (April 2026) · MassGIS OEJE 2020 EJ Population Layer · Eversource Hosting Capacity Map · MA Household Economic Burden Index · DOER Model Bylaw (Oct 2025) · ISO-NE SENE Zone Data</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A83D28"/>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SITE SELECTION #2 — 283 EASTERN AVENUE, CHELSEA, MA  ·  TOOL SCORE: 113/125  ·  100 MW / 400 MWh</a:t>
            </a:r>
            <a:endParaRPr lang="en-US" sz="1050" dirty="0"/>
          </a:p>
        </p:txBody>
      </p:sp>
      <p:sp>
        <p:nvSpPr>
          <p:cNvPr id="4" name="Shape 2"/>
          <p:cNvSpPr/>
          <p:nvPr/>
        </p:nvSpPr>
        <p:spPr>
          <a:xfrm>
            <a:off x="320040" y="749808"/>
            <a:ext cx="4114800" cy="4133088"/>
          </a:xfrm>
          <a:prstGeom prst="rect">
            <a:avLst/>
          </a:prstGeom>
          <a:solidFill>
            <a:srgbClr val="A83D28">
              <a:alpha val="6000"/>
            </a:srgbClr>
          </a:solidFill>
          <a:ln w="76200">
            <a:solidFill>
              <a:srgbClr val="FFFF00"/>
            </a:solidFill>
            <a:prstDash val="solid"/>
          </a:ln>
        </p:spPr>
      </p:sp>
      <p:sp>
        <p:nvSpPr>
          <p:cNvPr id="5" name="Shape 3"/>
          <p:cNvSpPr/>
          <p:nvPr/>
        </p:nvSpPr>
        <p:spPr>
          <a:xfrm>
            <a:off x="320040" y="749808"/>
            <a:ext cx="4114800" cy="347472"/>
          </a:xfrm>
          <a:prstGeom prst="rect">
            <a:avLst/>
          </a:prstGeom>
          <a:solidFill>
            <a:srgbClr val="A83D28"/>
          </a:solidFill>
          <a:ln/>
        </p:spPr>
      </p:sp>
      <p:sp>
        <p:nvSpPr>
          <p:cNvPr id="6" name="Text 4"/>
          <p:cNvSpPr/>
          <p:nvPr/>
        </p:nvSpPr>
        <p:spPr>
          <a:xfrm>
            <a:off x="457200" y="786384"/>
            <a:ext cx="3858768"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Five-Layer Composite Score</a:t>
            </a:r>
            <a:endParaRPr lang="en-US" sz="1100" dirty="0"/>
          </a:p>
        </p:txBody>
      </p:sp>
      <p:sp>
        <p:nvSpPr>
          <p:cNvPr id="7" name="Text 5"/>
          <p:cNvSpPr/>
          <p:nvPr/>
        </p:nvSpPr>
        <p:spPr>
          <a:xfrm>
            <a:off x="411480" y="11887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EJ &amp; Regulatory</a:t>
            </a:r>
            <a:endParaRPr lang="en-US" sz="950" dirty="0"/>
          </a:p>
        </p:txBody>
      </p:sp>
      <p:sp>
        <p:nvSpPr>
          <p:cNvPr id="8" name="Text 6"/>
          <p:cNvSpPr/>
          <p:nvPr/>
        </p:nvSpPr>
        <p:spPr>
          <a:xfrm>
            <a:off x="2468880" y="1188720"/>
            <a:ext cx="475488" cy="219456"/>
          </a:xfrm>
          <a:prstGeom prst="rect">
            <a:avLst/>
          </a:prstGeom>
          <a:noFill/>
          <a:ln/>
        </p:spPr>
        <p:txBody>
          <a:bodyPr wrap="square" lIns="0" tIns="0" rIns="0" bIns="0" rtlCol="0" anchor="ctr"/>
          <a:lstStyle/>
          <a:p>
            <a:pPr algn="r" indent="0" marL="0">
              <a:buNone/>
            </a:pPr>
            <a:r>
              <a:rPr lang="en-US" sz="1100" b="1" dirty="0">
                <a:solidFill>
                  <a:srgbClr val="A83D28"/>
                </a:solidFill>
                <a:latin typeface="Calibri" pitchFamily="34" charset="0"/>
                <a:ea typeface="Calibri" pitchFamily="34" charset="-122"/>
                <a:cs typeface="Calibri" pitchFamily="34" charset="-120"/>
              </a:rPr>
              <a:t>25/25</a:t>
            </a:r>
            <a:endParaRPr lang="en-US" sz="1100" dirty="0"/>
          </a:p>
        </p:txBody>
      </p:sp>
      <p:sp>
        <p:nvSpPr>
          <p:cNvPr id="9" name="Shape 7"/>
          <p:cNvSpPr/>
          <p:nvPr/>
        </p:nvSpPr>
        <p:spPr>
          <a:xfrm>
            <a:off x="411480" y="1426464"/>
            <a:ext cx="3931920" cy="109728"/>
          </a:xfrm>
          <a:prstGeom prst="rect">
            <a:avLst/>
          </a:prstGeom>
          <a:solidFill>
            <a:srgbClr val="E5EAF1"/>
          </a:solidFill>
          <a:ln/>
        </p:spPr>
      </p:sp>
      <p:sp>
        <p:nvSpPr>
          <p:cNvPr id="10" name="Shape 8"/>
          <p:cNvSpPr/>
          <p:nvPr/>
        </p:nvSpPr>
        <p:spPr>
          <a:xfrm>
            <a:off x="411480" y="1426464"/>
            <a:ext cx="3931920" cy="109728"/>
          </a:xfrm>
          <a:prstGeom prst="rect">
            <a:avLst/>
          </a:prstGeom>
          <a:solidFill>
            <a:srgbClr val="A83D28"/>
          </a:solidFill>
          <a:ln/>
        </p:spPr>
      </p:sp>
      <p:sp>
        <p:nvSpPr>
          <p:cNvPr id="11" name="Text 9"/>
          <p:cNvSpPr/>
          <p:nvPr/>
        </p:nvSpPr>
        <p:spPr>
          <a:xfrm>
            <a:off x="411480" y="16459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Grid Feasibility</a:t>
            </a:r>
            <a:endParaRPr lang="en-US" sz="950" dirty="0"/>
          </a:p>
        </p:txBody>
      </p:sp>
      <p:sp>
        <p:nvSpPr>
          <p:cNvPr id="12" name="Text 10"/>
          <p:cNvSpPr/>
          <p:nvPr/>
        </p:nvSpPr>
        <p:spPr>
          <a:xfrm>
            <a:off x="2468880" y="1645920"/>
            <a:ext cx="475488" cy="219456"/>
          </a:xfrm>
          <a:prstGeom prst="rect">
            <a:avLst/>
          </a:prstGeom>
          <a:noFill/>
          <a:ln/>
        </p:spPr>
        <p:txBody>
          <a:bodyPr wrap="square" lIns="0" tIns="0" rIns="0" bIns="0" rtlCol="0" anchor="ctr"/>
          <a:lstStyle/>
          <a:p>
            <a:pPr algn="r" indent="0" marL="0">
              <a:buNone/>
            </a:pPr>
            <a:r>
              <a:rPr lang="en-US" sz="1100" b="1" dirty="0">
                <a:solidFill>
                  <a:srgbClr val="0D7C7B"/>
                </a:solidFill>
                <a:latin typeface="Calibri" pitchFamily="34" charset="0"/>
                <a:ea typeface="Calibri" pitchFamily="34" charset="-122"/>
                <a:cs typeface="Calibri" pitchFamily="34" charset="-120"/>
              </a:rPr>
              <a:t>23/25</a:t>
            </a:r>
            <a:endParaRPr lang="en-US" sz="1100" dirty="0"/>
          </a:p>
        </p:txBody>
      </p:sp>
      <p:sp>
        <p:nvSpPr>
          <p:cNvPr id="13" name="Shape 11"/>
          <p:cNvSpPr/>
          <p:nvPr/>
        </p:nvSpPr>
        <p:spPr>
          <a:xfrm>
            <a:off x="411480" y="1883664"/>
            <a:ext cx="3931920" cy="109728"/>
          </a:xfrm>
          <a:prstGeom prst="rect">
            <a:avLst/>
          </a:prstGeom>
          <a:solidFill>
            <a:srgbClr val="E5EAF1"/>
          </a:solidFill>
          <a:ln/>
        </p:spPr>
      </p:sp>
      <p:sp>
        <p:nvSpPr>
          <p:cNvPr id="14" name="Shape 12"/>
          <p:cNvSpPr/>
          <p:nvPr/>
        </p:nvSpPr>
        <p:spPr>
          <a:xfrm>
            <a:off x="411480" y="1883664"/>
            <a:ext cx="3617366" cy="109728"/>
          </a:xfrm>
          <a:prstGeom prst="rect">
            <a:avLst/>
          </a:prstGeom>
          <a:solidFill>
            <a:srgbClr val="0D7C7B"/>
          </a:solidFill>
          <a:ln/>
        </p:spPr>
      </p:sp>
      <p:sp>
        <p:nvSpPr>
          <p:cNvPr id="15" name="Text 13"/>
          <p:cNvSpPr/>
          <p:nvPr/>
        </p:nvSpPr>
        <p:spPr>
          <a:xfrm>
            <a:off x="411480" y="21031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Zoning &amp; Permitting</a:t>
            </a:r>
            <a:endParaRPr lang="en-US" sz="950" dirty="0"/>
          </a:p>
        </p:txBody>
      </p:sp>
      <p:sp>
        <p:nvSpPr>
          <p:cNvPr id="16" name="Text 14"/>
          <p:cNvSpPr/>
          <p:nvPr/>
        </p:nvSpPr>
        <p:spPr>
          <a:xfrm>
            <a:off x="2468880" y="2103120"/>
            <a:ext cx="475488" cy="219456"/>
          </a:xfrm>
          <a:prstGeom prst="rect">
            <a:avLst/>
          </a:prstGeom>
          <a:noFill/>
          <a:ln/>
        </p:spPr>
        <p:txBody>
          <a:bodyPr wrap="square" lIns="0" tIns="0" rIns="0" bIns="0" rtlCol="0" anchor="ctr"/>
          <a:lstStyle/>
          <a:p>
            <a:pPr algn="r" indent="0" marL="0">
              <a:buNone/>
            </a:pPr>
            <a:r>
              <a:rPr lang="en-US" sz="1100" b="1" dirty="0">
                <a:solidFill>
                  <a:srgbClr val="3A5278"/>
                </a:solidFill>
                <a:latin typeface="Calibri" pitchFamily="34" charset="0"/>
                <a:ea typeface="Calibri" pitchFamily="34" charset="-122"/>
                <a:cs typeface="Calibri" pitchFamily="34" charset="-120"/>
              </a:rPr>
              <a:t>20/25</a:t>
            </a:r>
            <a:endParaRPr lang="en-US" sz="1100" dirty="0"/>
          </a:p>
        </p:txBody>
      </p:sp>
      <p:sp>
        <p:nvSpPr>
          <p:cNvPr id="17" name="Shape 15"/>
          <p:cNvSpPr/>
          <p:nvPr/>
        </p:nvSpPr>
        <p:spPr>
          <a:xfrm>
            <a:off x="411480" y="2340864"/>
            <a:ext cx="3931920" cy="109728"/>
          </a:xfrm>
          <a:prstGeom prst="rect">
            <a:avLst/>
          </a:prstGeom>
          <a:solidFill>
            <a:srgbClr val="E5EAF1"/>
          </a:solidFill>
          <a:ln/>
        </p:spPr>
      </p:sp>
      <p:sp>
        <p:nvSpPr>
          <p:cNvPr id="18" name="Shape 16"/>
          <p:cNvSpPr/>
          <p:nvPr/>
        </p:nvSpPr>
        <p:spPr>
          <a:xfrm>
            <a:off x="411480" y="2340864"/>
            <a:ext cx="3145536" cy="109728"/>
          </a:xfrm>
          <a:prstGeom prst="rect">
            <a:avLst/>
          </a:prstGeom>
          <a:solidFill>
            <a:srgbClr val="3A5278"/>
          </a:solidFill>
          <a:ln/>
        </p:spPr>
      </p:sp>
      <p:sp>
        <p:nvSpPr>
          <p:cNvPr id="19" name="Text 17"/>
          <p:cNvSpPr/>
          <p:nvPr/>
        </p:nvSpPr>
        <p:spPr>
          <a:xfrm>
            <a:off x="411480" y="25603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Physical Feasibility</a:t>
            </a:r>
            <a:endParaRPr lang="en-US" sz="950" dirty="0"/>
          </a:p>
        </p:txBody>
      </p:sp>
      <p:sp>
        <p:nvSpPr>
          <p:cNvPr id="20" name="Text 18"/>
          <p:cNvSpPr/>
          <p:nvPr/>
        </p:nvSpPr>
        <p:spPr>
          <a:xfrm>
            <a:off x="2468880" y="2560320"/>
            <a:ext cx="475488" cy="219456"/>
          </a:xfrm>
          <a:prstGeom prst="rect">
            <a:avLst/>
          </a:prstGeom>
          <a:noFill/>
          <a:ln/>
        </p:spPr>
        <p:txBody>
          <a:bodyPr wrap="square" lIns="0" tIns="0" rIns="0" bIns="0" rtlCol="0" anchor="ctr"/>
          <a:lstStyle/>
          <a:p>
            <a:pPr algn="r" indent="0" marL="0">
              <a:buNone/>
            </a:pPr>
            <a:r>
              <a:rPr lang="en-US" sz="1100" b="1" dirty="0">
                <a:solidFill>
                  <a:srgbClr val="2A6145"/>
                </a:solidFill>
                <a:latin typeface="Calibri" pitchFamily="34" charset="0"/>
                <a:ea typeface="Calibri" pitchFamily="34" charset="-122"/>
                <a:cs typeface="Calibri" pitchFamily="34" charset="-120"/>
              </a:rPr>
              <a:t>21/25</a:t>
            </a:r>
            <a:endParaRPr lang="en-US" sz="1100" dirty="0"/>
          </a:p>
        </p:txBody>
      </p:sp>
      <p:sp>
        <p:nvSpPr>
          <p:cNvPr id="21" name="Shape 19"/>
          <p:cNvSpPr/>
          <p:nvPr/>
        </p:nvSpPr>
        <p:spPr>
          <a:xfrm>
            <a:off x="411480" y="2798064"/>
            <a:ext cx="3931920" cy="109728"/>
          </a:xfrm>
          <a:prstGeom prst="rect">
            <a:avLst/>
          </a:prstGeom>
          <a:solidFill>
            <a:srgbClr val="E5EAF1"/>
          </a:solidFill>
          <a:ln/>
        </p:spPr>
      </p:sp>
      <p:sp>
        <p:nvSpPr>
          <p:cNvPr id="22" name="Shape 20"/>
          <p:cNvSpPr/>
          <p:nvPr/>
        </p:nvSpPr>
        <p:spPr>
          <a:xfrm>
            <a:off x="411480" y="2798064"/>
            <a:ext cx="3302813" cy="109728"/>
          </a:xfrm>
          <a:prstGeom prst="rect">
            <a:avLst/>
          </a:prstGeom>
          <a:solidFill>
            <a:srgbClr val="2A6145"/>
          </a:solidFill>
          <a:ln/>
        </p:spPr>
      </p:sp>
      <p:sp>
        <p:nvSpPr>
          <p:cNvPr id="23" name="Text 21"/>
          <p:cNvSpPr/>
          <p:nvPr/>
        </p:nvSpPr>
        <p:spPr>
          <a:xfrm>
            <a:off x="411480" y="3017520"/>
            <a:ext cx="2011680" cy="219456"/>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Revenue Potential</a:t>
            </a:r>
            <a:endParaRPr lang="en-US" sz="950" dirty="0"/>
          </a:p>
        </p:txBody>
      </p:sp>
      <p:sp>
        <p:nvSpPr>
          <p:cNvPr id="24" name="Text 22"/>
          <p:cNvSpPr/>
          <p:nvPr/>
        </p:nvSpPr>
        <p:spPr>
          <a:xfrm>
            <a:off x="2468880" y="3017520"/>
            <a:ext cx="475488" cy="219456"/>
          </a:xfrm>
          <a:prstGeom prst="rect">
            <a:avLst/>
          </a:prstGeom>
          <a:noFill/>
          <a:ln/>
        </p:spPr>
        <p:txBody>
          <a:bodyPr wrap="square" lIns="0" tIns="0" rIns="0" bIns="0" rtlCol="0" anchor="ctr"/>
          <a:lstStyle/>
          <a:p>
            <a:pPr algn="r" indent="0" marL="0">
              <a:buNone/>
            </a:pPr>
            <a:r>
              <a:rPr lang="en-US" sz="1100" b="1" dirty="0">
                <a:solidFill>
                  <a:srgbClr val="C68A17"/>
                </a:solidFill>
                <a:latin typeface="Calibri" pitchFamily="34" charset="0"/>
                <a:ea typeface="Calibri" pitchFamily="34" charset="-122"/>
                <a:cs typeface="Calibri" pitchFamily="34" charset="-120"/>
              </a:rPr>
              <a:t>24/25</a:t>
            </a:r>
            <a:endParaRPr lang="en-US" sz="1100" dirty="0"/>
          </a:p>
        </p:txBody>
      </p:sp>
      <p:sp>
        <p:nvSpPr>
          <p:cNvPr id="25" name="Shape 23"/>
          <p:cNvSpPr/>
          <p:nvPr/>
        </p:nvSpPr>
        <p:spPr>
          <a:xfrm>
            <a:off x="411480" y="3255264"/>
            <a:ext cx="3931920" cy="109728"/>
          </a:xfrm>
          <a:prstGeom prst="rect">
            <a:avLst/>
          </a:prstGeom>
          <a:solidFill>
            <a:srgbClr val="E5EAF1"/>
          </a:solidFill>
          <a:ln/>
        </p:spPr>
      </p:sp>
      <p:sp>
        <p:nvSpPr>
          <p:cNvPr id="26" name="Shape 24"/>
          <p:cNvSpPr/>
          <p:nvPr/>
        </p:nvSpPr>
        <p:spPr>
          <a:xfrm>
            <a:off x="411480" y="3255264"/>
            <a:ext cx="3774643" cy="109728"/>
          </a:xfrm>
          <a:prstGeom prst="rect">
            <a:avLst/>
          </a:prstGeom>
          <a:solidFill>
            <a:srgbClr val="C68A17"/>
          </a:solidFill>
          <a:ln/>
        </p:spPr>
      </p:sp>
      <p:sp>
        <p:nvSpPr>
          <p:cNvPr id="27" name="Shape 25"/>
          <p:cNvSpPr/>
          <p:nvPr/>
        </p:nvSpPr>
        <p:spPr>
          <a:xfrm>
            <a:off x="384048" y="3493008"/>
            <a:ext cx="3977640" cy="420624"/>
          </a:xfrm>
          <a:prstGeom prst="rect">
            <a:avLst/>
          </a:prstGeom>
          <a:solidFill>
            <a:srgbClr val="A83D28"/>
          </a:solidFill>
          <a:ln/>
        </p:spPr>
      </p:sp>
      <p:sp>
        <p:nvSpPr>
          <p:cNvPr id="28" name="Text 26"/>
          <p:cNvSpPr/>
          <p:nvPr/>
        </p:nvSpPr>
        <p:spPr>
          <a:xfrm>
            <a:off x="502920" y="3538728"/>
            <a:ext cx="219456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COMPOSITE TOTAL</a:t>
            </a:r>
            <a:endParaRPr lang="en-US" sz="1100" dirty="0"/>
          </a:p>
        </p:txBody>
      </p:sp>
      <p:sp>
        <p:nvSpPr>
          <p:cNvPr id="29" name="Text 27"/>
          <p:cNvSpPr/>
          <p:nvPr/>
        </p:nvSpPr>
        <p:spPr>
          <a:xfrm>
            <a:off x="2651760" y="3511296"/>
            <a:ext cx="1645920" cy="384048"/>
          </a:xfrm>
          <a:prstGeom prst="rect">
            <a:avLst/>
          </a:prstGeom>
          <a:noFill/>
          <a:ln/>
        </p:spPr>
        <p:txBody>
          <a:bodyPr wrap="square" lIns="0" tIns="0" rIns="0" bIns="0" rtlCol="0" anchor="ctr"/>
          <a:lstStyle/>
          <a:p>
            <a:pPr algn="r" indent="0" marL="0">
              <a:buNone/>
            </a:pPr>
            <a:r>
              <a:rPr lang="en-US" sz="2000" b="1" dirty="0">
                <a:solidFill>
                  <a:srgbClr val="F0B429"/>
                </a:solidFill>
                <a:latin typeface="Calibri" pitchFamily="34" charset="0"/>
                <a:ea typeface="Calibri" pitchFamily="34" charset="-122"/>
                <a:cs typeface="Calibri" pitchFamily="34" charset="-120"/>
              </a:rPr>
              <a:t>113 / 125</a:t>
            </a:r>
            <a:endParaRPr lang="en-US" sz="2000" dirty="0"/>
          </a:p>
        </p:txBody>
      </p:sp>
      <p:sp>
        <p:nvSpPr>
          <p:cNvPr id="30" name="Shape 28"/>
          <p:cNvSpPr/>
          <p:nvPr/>
        </p:nvSpPr>
        <p:spPr>
          <a:xfrm>
            <a:off x="384048" y="3986784"/>
            <a:ext cx="3977640" cy="822960"/>
          </a:xfrm>
          <a:prstGeom prst="rect">
            <a:avLst/>
          </a:prstGeom>
          <a:solidFill>
            <a:srgbClr val="F4F1EB"/>
          </a:solidFill>
          <a:ln/>
        </p:spPr>
      </p:sp>
      <p:sp>
        <p:nvSpPr>
          <p:cNvPr id="31" name="Text 29"/>
          <p:cNvSpPr/>
          <p:nvPr/>
        </p:nvSpPr>
        <p:spPr>
          <a:xfrm>
            <a:off x="475488" y="4023360"/>
            <a:ext cx="1005840" cy="182880"/>
          </a:xfrm>
          <a:prstGeom prst="rect">
            <a:avLst/>
          </a:prstGeom>
          <a:noFill/>
          <a:ln/>
        </p:spPr>
        <p:txBody>
          <a:bodyPr wrap="square" lIns="0" tIns="0" rIns="0" bIns="0" rtlCol="0" anchor="ctr"/>
          <a:lstStyle/>
          <a:p>
            <a:pPr indent="0" marL="0">
              <a:buNone/>
            </a:pPr>
            <a:r>
              <a:rPr lang="en-US" sz="800" b="1" dirty="0">
                <a:solidFill>
                  <a:srgbClr val="A83D28"/>
                </a:solidFill>
                <a:latin typeface="Calibri" pitchFamily="34" charset="0"/>
                <a:ea typeface="Calibri" pitchFamily="34" charset="-122"/>
                <a:cs typeface="Calibri" pitchFamily="34" charset="-120"/>
              </a:rPr>
              <a:t>Address:</a:t>
            </a:r>
            <a:endParaRPr lang="en-US" sz="800" dirty="0"/>
          </a:p>
        </p:txBody>
      </p:sp>
      <p:sp>
        <p:nvSpPr>
          <p:cNvPr id="32" name="Text 30"/>
          <p:cNvSpPr/>
          <p:nvPr/>
        </p:nvSpPr>
        <p:spPr>
          <a:xfrm>
            <a:off x="1508760" y="4023360"/>
            <a:ext cx="2724912" cy="182880"/>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283 Eastern Avenue, Chelsea, MA 02150</a:t>
            </a:r>
            <a:endParaRPr lang="en-US" sz="800" dirty="0"/>
          </a:p>
        </p:txBody>
      </p:sp>
      <p:sp>
        <p:nvSpPr>
          <p:cNvPr id="33" name="Text 31"/>
          <p:cNvSpPr/>
          <p:nvPr/>
        </p:nvSpPr>
        <p:spPr>
          <a:xfrm>
            <a:off x="475488" y="4215384"/>
            <a:ext cx="1005840" cy="182880"/>
          </a:xfrm>
          <a:prstGeom prst="rect">
            <a:avLst/>
          </a:prstGeom>
          <a:noFill/>
          <a:ln/>
        </p:spPr>
        <p:txBody>
          <a:bodyPr wrap="square" lIns="0" tIns="0" rIns="0" bIns="0" rtlCol="0" anchor="ctr"/>
          <a:lstStyle/>
          <a:p>
            <a:pPr indent="0" marL="0">
              <a:buNone/>
            </a:pPr>
            <a:r>
              <a:rPr lang="en-US" sz="800" b="1" dirty="0">
                <a:solidFill>
                  <a:srgbClr val="A83D28"/>
                </a:solidFill>
                <a:latin typeface="Calibri" pitchFamily="34" charset="0"/>
                <a:ea typeface="Calibri" pitchFamily="34" charset="-122"/>
                <a:cs typeface="Calibri" pitchFamily="34" charset="-120"/>
              </a:rPr>
              <a:t>Zone / Use:</a:t>
            </a:r>
            <a:endParaRPr lang="en-US" sz="800" dirty="0"/>
          </a:p>
        </p:txBody>
      </p:sp>
      <p:sp>
        <p:nvSpPr>
          <p:cNvPr id="34" name="Text 32"/>
          <p:cNvSpPr/>
          <p:nvPr/>
        </p:nvSpPr>
        <p:spPr>
          <a:xfrm>
            <a:off x="1508760" y="4215384"/>
            <a:ext cx="2724912" cy="182880"/>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I-1/I-2 Industrial · Urban industrial parcel</a:t>
            </a:r>
            <a:endParaRPr lang="en-US" sz="800" dirty="0"/>
          </a:p>
        </p:txBody>
      </p:sp>
      <p:sp>
        <p:nvSpPr>
          <p:cNvPr id="35" name="Text 33"/>
          <p:cNvSpPr/>
          <p:nvPr/>
        </p:nvSpPr>
        <p:spPr>
          <a:xfrm>
            <a:off x="475488" y="4407408"/>
            <a:ext cx="1005840" cy="182880"/>
          </a:xfrm>
          <a:prstGeom prst="rect">
            <a:avLst/>
          </a:prstGeom>
          <a:noFill/>
          <a:ln/>
        </p:spPr>
        <p:txBody>
          <a:bodyPr wrap="square" lIns="0" tIns="0" rIns="0" bIns="0" rtlCol="0" anchor="ctr"/>
          <a:lstStyle/>
          <a:p>
            <a:pPr indent="0" marL="0">
              <a:buNone/>
            </a:pPr>
            <a:r>
              <a:rPr lang="en-US" sz="800" b="1" dirty="0">
                <a:solidFill>
                  <a:srgbClr val="A83D28"/>
                </a:solidFill>
                <a:latin typeface="Calibri" pitchFamily="34" charset="0"/>
                <a:ea typeface="Calibri" pitchFamily="34" charset="-122"/>
                <a:cs typeface="Calibri" pitchFamily="34" charset="-120"/>
              </a:rPr>
              <a:t>Grid Access:</a:t>
            </a:r>
            <a:endParaRPr lang="en-US" sz="800" dirty="0"/>
          </a:p>
        </p:txBody>
      </p:sp>
      <p:sp>
        <p:nvSpPr>
          <p:cNvPr id="36" name="Text 34"/>
          <p:cNvSpPr/>
          <p:nvPr/>
        </p:nvSpPr>
        <p:spPr>
          <a:xfrm>
            <a:off x="1508760" y="4407408"/>
            <a:ext cx="2724912" cy="182880"/>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0.4 mi to Eversource Chelsea electrical substation</a:t>
            </a:r>
            <a:endParaRPr lang="en-US" sz="800" dirty="0"/>
          </a:p>
        </p:txBody>
      </p:sp>
      <p:sp>
        <p:nvSpPr>
          <p:cNvPr id="37" name="Text 35"/>
          <p:cNvSpPr/>
          <p:nvPr/>
        </p:nvSpPr>
        <p:spPr>
          <a:xfrm>
            <a:off x="475488" y="4599432"/>
            <a:ext cx="1005840" cy="182880"/>
          </a:xfrm>
          <a:prstGeom prst="rect">
            <a:avLst/>
          </a:prstGeom>
          <a:noFill/>
          <a:ln/>
        </p:spPr>
        <p:txBody>
          <a:bodyPr wrap="square" lIns="0" tIns="0" rIns="0" bIns="0" rtlCol="0" anchor="ctr"/>
          <a:lstStyle/>
          <a:p>
            <a:pPr indent="0" marL="0">
              <a:buNone/>
            </a:pPr>
            <a:r>
              <a:rPr lang="en-US" sz="800" b="1" dirty="0">
                <a:solidFill>
                  <a:srgbClr val="A83D28"/>
                </a:solidFill>
                <a:latin typeface="Calibri" pitchFamily="34" charset="0"/>
                <a:ea typeface="Calibri" pitchFamily="34" charset="-122"/>
                <a:cs typeface="Calibri" pitchFamily="34" charset="-120"/>
              </a:rPr>
              <a:t>ISO-NE Zone:</a:t>
            </a:r>
            <a:endParaRPr lang="en-US" sz="800" dirty="0"/>
          </a:p>
        </p:txBody>
      </p:sp>
      <p:sp>
        <p:nvSpPr>
          <p:cNvPr id="38" name="Text 36"/>
          <p:cNvSpPr/>
          <p:nvPr/>
        </p:nvSpPr>
        <p:spPr>
          <a:xfrm>
            <a:off x="1508760" y="4599432"/>
            <a:ext cx="2724912" cy="182880"/>
          </a:xfrm>
          <a:prstGeom prst="rect">
            <a:avLst/>
          </a:prstGeom>
          <a:noFill/>
          <a:ln/>
        </p:spPr>
        <p:txBody>
          <a:bodyPr wrap="square" lIns="0" tIns="0" rIns="0" bIns="0" rtlCol="0" anchor="ctr"/>
          <a:lstStyle/>
          <a:p>
            <a:pPr indent="0" marL="0">
              <a:buNone/>
            </a:pPr>
            <a:r>
              <a:rPr lang="en-US" sz="800" dirty="0">
                <a:solidFill>
                  <a:srgbClr val="09182B"/>
                </a:solidFill>
                <a:latin typeface="Calibri" pitchFamily="34" charset="0"/>
                <a:ea typeface="Calibri" pitchFamily="34" charset="-122"/>
                <a:cs typeface="Calibri" pitchFamily="34" charset="-120"/>
              </a:rPr>
              <a:t>SENE · Substation-scale connection ($12M interconnection)</a:t>
            </a:r>
            <a:endParaRPr lang="en-US" sz="800" dirty="0"/>
          </a:p>
        </p:txBody>
      </p:sp>
      <p:sp>
        <p:nvSpPr>
          <p:cNvPr id="39" name="Shape 37"/>
          <p:cNvSpPr/>
          <p:nvPr/>
        </p:nvSpPr>
        <p:spPr>
          <a:xfrm>
            <a:off x="4572000" y="749808"/>
            <a:ext cx="4279392" cy="413308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40" name="Shape 38"/>
          <p:cNvSpPr/>
          <p:nvPr/>
        </p:nvSpPr>
        <p:spPr>
          <a:xfrm>
            <a:off x="4572000" y="749808"/>
            <a:ext cx="4279392" cy="347472"/>
          </a:xfrm>
          <a:prstGeom prst="rect">
            <a:avLst/>
          </a:prstGeom>
          <a:solidFill>
            <a:srgbClr val="0E2040"/>
          </a:solidFill>
          <a:ln/>
        </p:spPr>
      </p:sp>
      <p:sp>
        <p:nvSpPr>
          <p:cNvPr id="41" name="Text 39"/>
          <p:cNvSpPr/>
          <p:nvPr/>
        </p:nvSpPr>
        <p:spPr>
          <a:xfrm>
            <a:off x="4709160" y="786384"/>
            <a:ext cx="402336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Financial Model — Site Analysis (Model-Confirmed)</a:t>
            </a:r>
            <a:endParaRPr lang="en-US" sz="1100" dirty="0"/>
          </a:p>
        </p:txBody>
      </p:sp>
      <p:sp>
        <p:nvSpPr>
          <p:cNvPr id="42" name="Shape 40"/>
          <p:cNvSpPr/>
          <p:nvPr/>
        </p:nvSpPr>
        <p:spPr>
          <a:xfrm>
            <a:off x="4645152" y="1188720"/>
            <a:ext cx="4133088" cy="530352"/>
          </a:xfrm>
          <a:prstGeom prst="rect">
            <a:avLst/>
          </a:prstGeom>
          <a:solidFill>
            <a:srgbClr val="A83D28">
              <a:alpha val="9000"/>
            </a:srgbClr>
          </a:solidFill>
          <a:ln/>
          <a:effectLst>
            <a:outerShdw sx="100000" sy="100000" kx="0" ky="0" algn="bl" rotWithShape="0" blurRad="101600" dist="38100" dir="8100000">
              <a:srgbClr val="000000">
                <a:alpha val="13000"/>
              </a:srgbClr>
            </a:outerShdw>
          </a:effectLst>
        </p:spPr>
      </p:sp>
      <p:sp>
        <p:nvSpPr>
          <p:cNvPr id="43" name="Text 41"/>
          <p:cNvSpPr/>
          <p:nvPr/>
        </p:nvSpPr>
        <p:spPr>
          <a:xfrm>
            <a:off x="4709160" y="1225296"/>
            <a:ext cx="1508760" cy="384048"/>
          </a:xfrm>
          <a:prstGeom prst="rect">
            <a:avLst/>
          </a:prstGeom>
          <a:noFill/>
          <a:ln/>
        </p:spPr>
        <p:txBody>
          <a:bodyPr wrap="square" lIns="0" tIns="0" rIns="0" bIns="0" rtlCol="0" anchor="ctr"/>
          <a:lstStyle/>
          <a:p>
            <a:pPr algn="ctr" indent="0" marL="0">
              <a:buNone/>
            </a:pPr>
            <a:r>
              <a:rPr lang="en-US" sz="2000" b="1" dirty="0">
                <a:solidFill>
                  <a:srgbClr val="A83D28"/>
                </a:solidFill>
                <a:latin typeface="Calibri" pitchFamily="34" charset="0"/>
                <a:ea typeface="Calibri" pitchFamily="34" charset="-122"/>
                <a:cs typeface="Calibri" pitchFamily="34" charset="-120"/>
              </a:rPr>
              <a:t>100 MW</a:t>
            </a:r>
            <a:endParaRPr lang="en-US" sz="2000" dirty="0"/>
          </a:p>
        </p:txBody>
      </p:sp>
      <p:sp>
        <p:nvSpPr>
          <p:cNvPr id="44" name="Text 42"/>
          <p:cNvSpPr/>
          <p:nvPr/>
        </p:nvSpPr>
        <p:spPr>
          <a:xfrm>
            <a:off x="6281928" y="128016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Modeled Capacity (4hr · substation-scale)</a:t>
            </a:r>
            <a:endParaRPr lang="en-US" sz="850" dirty="0"/>
          </a:p>
        </p:txBody>
      </p:sp>
      <p:sp>
        <p:nvSpPr>
          <p:cNvPr id="45" name="Shape 43"/>
          <p:cNvSpPr/>
          <p:nvPr/>
        </p:nvSpPr>
        <p:spPr>
          <a:xfrm>
            <a:off x="4645152" y="1783080"/>
            <a:ext cx="4133088" cy="530352"/>
          </a:xfrm>
          <a:prstGeom prst="rect">
            <a:avLst/>
          </a:prstGeom>
          <a:solidFill>
            <a:srgbClr val="B84A2F">
              <a:alpha val="9000"/>
            </a:srgbClr>
          </a:solidFill>
          <a:ln/>
          <a:effectLst>
            <a:outerShdw sx="100000" sy="100000" kx="0" ky="0" algn="bl" rotWithShape="0" blurRad="101600" dist="38100" dir="8100000">
              <a:srgbClr val="000000">
                <a:alpha val="13000"/>
              </a:srgbClr>
            </a:outerShdw>
          </a:effectLst>
        </p:spPr>
      </p:sp>
      <p:sp>
        <p:nvSpPr>
          <p:cNvPr id="46" name="Text 44"/>
          <p:cNvSpPr/>
          <p:nvPr/>
        </p:nvSpPr>
        <p:spPr>
          <a:xfrm>
            <a:off x="4709160" y="1819656"/>
            <a:ext cx="1508760" cy="384048"/>
          </a:xfrm>
          <a:prstGeom prst="rect">
            <a:avLst/>
          </a:prstGeom>
          <a:noFill/>
          <a:ln/>
        </p:spPr>
        <p:txBody>
          <a:bodyPr wrap="square" lIns="0" tIns="0" rIns="0" bIns="0" rtlCol="0" anchor="ctr"/>
          <a:lstStyle/>
          <a:p>
            <a:pPr algn="ctr" indent="0" marL="0">
              <a:buNone/>
            </a:pPr>
            <a:r>
              <a:rPr lang="en-US" sz="2000" b="1" dirty="0">
                <a:solidFill>
                  <a:srgbClr val="B84A2F"/>
                </a:solidFill>
                <a:latin typeface="Calibri" pitchFamily="34" charset="0"/>
                <a:ea typeface="Calibri" pitchFamily="34" charset="-122"/>
                <a:cs typeface="Calibri" pitchFamily="34" charset="-120"/>
              </a:rPr>
              <a:t>400 MWh</a:t>
            </a:r>
            <a:endParaRPr lang="en-US" sz="2000" dirty="0"/>
          </a:p>
        </p:txBody>
      </p:sp>
      <p:sp>
        <p:nvSpPr>
          <p:cNvPr id="47" name="Text 45"/>
          <p:cNvSpPr/>
          <p:nvPr/>
        </p:nvSpPr>
        <p:spPr>
          <a:xfrm>
            <a:off x="6281928" y="187452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Energy Storage (4-hour system)</a:t>
            </a:r>
            <a:endParaRPr lang="en-US" sz="850" dirty="0"/>
          </a:p>
        </p:txBody>
      </p:sp>
      <p:sp>
        <p:nvSpPr>
          <p:cNvPr id="48" name="Shape 46"/>
          <p:cNvSpPr/>
          <p:nvPr/>
        </p:nvSpPr>
        <p:spPr>
          <a:xfrm>
            <a:off x="4645152" y="2377440"/>
            <a:ext cx="4133088" cy="530352"/>
          </a:xfrm>
          <a:prstGeom prst="rect">
            <a:avLst/>
          </a:prstGeom>
          <a:solidFill>
            <a:srgbClr val="3A5278">
              <a:alpha val="9000"/>
            </a:srgbClr>
          </a:solidFill>
          <a:ln/>
          <a:effectLst>
            <a:outerShdw sx="100000" sy="100000" kx="0" ky="0" algn="bl" rotWithShape="0" blurRad="101600" dist="38100" dir="8100000">
              <a:srgbClr val="000000">
                <a:alpha val="13000"/>
              </a:srgbClr>
            </a:outerShdw>
          </a:effectLst>
        </p:spPr>
      </p:sp>
      <p:sp>
        <p:nvSpPr>
          <p:cNvPr id="49" name="Text 47"/>
          <p:cNvSpPr/>
          <p:nvPr/>
        </p:nvSpPr>
        <p:spPr>
          <a:xfrm>
            <a:off x="4709160" y="2414016"/>
            <a:ext cx="1508760" cy="384048"/>
          </a:xfrm>
          <a:prstGeom prst="rect">
            <a:avLst/>
          </a:prstGeom>
          <a:noFill/>
          <a:ln/>
        </p:spPr>
        <p:txBody>
          <a:bodyPr wrap="square" lIns="0" tIns="0" rIns="0" bIns="0" rtlCol="0" anchor="ctr"/>
          <a:lstStyle/>
          <a:p>
            <a:pPr algn="ctr" indent="0" marL="0">
              <a:buNone/>
            </a:pPr>
            <a:r>
              <a:rPr lang="en-US" sz="2000" b="1" dirty="0">
                <a:solidFill>
                  <a:srgbClr val="3A5278"/>
                </a:solidFill>
                <a:latin typeface="Calibri" pitchFamily="34" charset="0"/>
                <a:ea typeface="Calibri" pitchFamily="34" charset="-122"/>
                <a:cs typeface="Calibri" pitchFamily="34" charset="-120"/>
              </a:rPr>
              <a:t>$144M</a:t>
            </a:r>
            <a:endParaRPr lang="en-US" sz="2000" dirty="0"/>
          </a:p>
        </p:txBody>
      </p:sp>
      <p:sp>
        <p:nvSpPr>
          <p:cNvPr id="50" name="Text 48"/>
          <p:cNvSpPr/>
          <p:nvPr/>
        </p:nvSpPr>
        <p:spPr>
          <a:xfrm>
            <a:off x="6281928" y="246888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Gross CAPEX ($112M battery + $12M IC + $20M other)</a:t>
            </a:r>
            <a:endParaRPr lang="en-US" sz="850" dirty="0"/>
          </a:p>
        </p:txBody>
      </p:sp>
      <p:sp>
        <p:nvSpPr>
          <p:cNvPr id="51" name="Shape 49"/>
          <p:cNvSpPr/>
          <p:nvPr/>
        </p:nvSpPr>
        <p:spPr>
          <a:xfrm>
            <a:off x="4645152" y="2971800"/>
            <a:ext cx="4133088" cy="530352"/>
          </a:xfrm>
          <a:prstGeom prst="rect">
            <a:avLst/>
          </a:prstGeom>
          <a:solidFill>
            <a:srgbClr val="2A6145">
              <a:alpha val="9000"/>
            </a:srgbClr>
          </a:solidFill>
          <a:ln/>
          <a:effectLst>
            <a:outerShdw sx="100000" sy="100000" kx="0" ky="0" algn="bl" rotWithShape="0" blurRad="101600" dist="38100" dir="8100000">
              <a:srgbClr val="000000">
                <a:alpha val="13000"/>
              </a:srgbClr>
            </a:outerShdw>
          </a:effectLst>
        </p:spPr>
      </p:sp>
      <p:sp>
        <p:nvSpPr>
          <p:cNvPr id="52" name="Text 50"/>
          <p:cNvSpPr/>
          <p:nvPr/>
        </p:nvSpPr>
        <p:spPr>
          <a:xfrm>
            <a:off x="4709160" y="3008376"/>
            <a:ext cx="1508760" cy="384048"/>
          </a:xfrm>
          <a:prstGeom prst="rect">
            <a:avLst/>
          </a:prstGeom>
          <a:noFill/>
          <a:ln/>
        </p:spPr>
        <p:txBody>
          <a:bodyPr wrap="square" lIns="0" tIns="0" rIns="0" bIns="0" rtlCol="0" anchor="ctr"/>
          <a:lstStyle/>
          <a:p>
            <a:pPr algn="ctr" indent="0" marL="0">
              <a:buNone/>
            </a:pPr>
            <a:r>
              <a:rPr lang="en-US" sz="2000" b="1" dirty="0">
                <a:solidFill>
                  <a:srgbClr val="2A6145"/>
                </a:solidFill>
                <a:latin typeface="Calibri" pitchFamily="34" charset="0"/>
                <a:ea typeface="Calibri" pitchFamily="34" charset="-122"/>
                <a:cs typeface="Calibri" pitchFamily="34" charset="-120"/>
              </a:rPr>
              <a:t>$86.4M</a:t>
            </a:r>
            <a:endParaRPr lang="en-US" sz="2000" dirty="0"/>
          </a:p>
        </p:txBody>
      </p:sp>
      <p:sp>
        <p:nvSpPr>
          <p:cNvPr id="53" name="Text 51"/>
          <p:cNvSpPr/>
          <p:nvPr/>
        </p:nvSpPr>
        <p:spPr>
          <a:xfrm>
            <a:off x="6281928" y="306324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Net CAPEX after 40% ITC ($57.6M ITC value)</a:t>
            </a:r>
            <a:endParaRPr lang="en-US" sz="850" dirty="0"/>
          </a:p>
        </p:txBody>
      </p:sp>
      <p:sp>
        <p:nvSpPr>
          <p:cNvPr id="54" name="Shape 52"/>
          <p:cNvSpPr/>
          <p:nvPr/>
        </p:nvSpPr>
        <p:spPr>
          <a:xfrm>
            <a:off x="4645152" y="3566160"/>
            <a:ext cx="4133088" cy="530352"/>
          </a:xfrm>
          <a:prstGeom prst="rect">
            <a:avLst/>
          </a:prstGeom>
          <a:solidFill>
            <a:srgbClr val="0D7C7B">
              <a:alpha val="9000"/>
            </a:srgbClr>
          </a:solidFill>
          <a:ln/>
          <a:effectLst>
            <a:outerShdw sx="100000" sy="100000" kx="0" ky="0" algn="bl" rotWithShape="0" blurRad="101600" dist="38100" dir="8100000">
              <a:srgbClr val="000000">
                <a:alpha val="13000"/>
              </a:srgbClr>
            </a:outerShdw>
          </a:effectLst>
        </p:spPr>
      </p:sp>
      <p:sp>
        <p:nvSpPr>
          <p:cNvPr id="55" name="Text 53"/>
          <p:cNvSpPr/>
          <p:nvPr/>
        </p:nvSpPr>
        <p:spPr>
          <a:xfrm>
            <a:off x="4709160" y="3602736"/>
            <a:ext cx="1508760" cy="384048"/>
          </a:xfrm>
          <a:prstGeom prst="rect">
            <a:avLst/>
          </a:prstGeom>
          <a:noFill/>
          <a:ln/>
        </p:spPr>
        <p:txBody>
          <a:bodyPr wrap="square" lIns="0" tIns="0" rIns="0" bIns="0" rtlCol="0" anchor="ctr"/>
          <a:lstStyle/>
          <a:p>
            <a:pPr algn="ctr" indent="0" marL="0">
              <a:buNone/>
            </a:pPr>
            <a:r>
              <a:rPr lang="en-US" sz="2000" b="1" dirty="0">
                <a:solidFill>
                  <a:srgbClr val="0D7C7B"/>
                </a:solidFill>
                <a:latin typeface="Calibri" pitchFamily="34" charset="0"/>
                <a:ea typeface="Calibri" pitchFamily="34" charset="-122"/>
                <a:cs typeface="Calibri" pitchFamily="34" charset="-120"/>
              </a:rPr>
              <a:t>+$5.4M</a:t>
            </a:r>
            <a:endParaRPr lang="en-US" sz="2000" dirty="0"/>
          </a:p>
        </p:txBody>
      </p:sp>
      <p:sp>
        <p:nvSpPr>
          <p:cNvPr id="56" name="Text 54"/>
          <p:cNvSpPr/>
          <p:nvPr/>
        </p:nvSpPr>
        <p:spPr>
          <a:xfrm>
            <a:off x="6281928" y="3657600"/>
            <a:ext cx="2441448" cy="347472"/>
          </a:xfrm>
          <a:prstGeom prst="rect">
            <a:avLst/>
          </a:prstGeom>
          <a:noFill/>
          <a:ln/>
        </p:spPr>
        <p:txBody>
          <a:bodyPr wrap="square" lIns="0" tIns="0" rIns="0" bIns="0" rtlCol="0" anchor="ctr"/>
          <a:lstStyle/>
          <a:p>
            <a:pPr indent="0" marL="0">
              <a:lnSpc>
                <a:spcPct val="120000"/>
              </a:lnSpc>
              <a:buNone/>
            </a:pPr>
            <a:r>
              <a:rPr lang="en-US" sz="850" dirty="0">
                <a:solidFill>
                  <a:srgbClr val="09182B"/>
                </a:solidFill>
                <a:latin typeface="Calibri" pitchFamily="34" charset="0"/>
                <a:ea typeface="Calibri" pitchFamily="34" charset="-122"/>
                <a:cs typeface="Calibri" pitchFamily="34" charset="-120"/>
              </a:rPr>
              <a:t>NPV @ 8% WACC · IRR: 8.84% · Payback: 8.5 yrs</a:t>
            </a:r>
            <a:endParaRPr lang="en-US" sz="850" dirty="0"/>
          </a:p>
        </p:txBody>
      </p:sp>
      <p:sp>
        <p:nvSpPr>
          <p:cNvPr id="57" name="Shape 55"/>
          <p:cNvSpPr/>
          <p:nvPr/>
        </p:nvSpPr>
        <p:spPr>
          <a:xfrm>
            <a:off x="4645152" y="4178808"/>
            <a:ext cx="4133088" cy="640080"/>
          </a:xfrm>
          <a:prstGeom prst="rect">
            <a:avLst/>
          </a:prstGeom>
          <a:solidFill>
            <a:srgbClr val="0D7C7B">
              <a:alpha val="15000"/>
            </a:srgbClr>
          </a:solidFill>
          <a:ln/>
        </p:spPr>
      </p:sp>
      <p:sp>
        <p:nvSpPr>
          <p:cNvPr id="58" name="Shape 56"/>
          <p:cNvSpPr/>
          <p:nvPr/>
        </p:nvSpPr>
        <p:spPr>
          <a:xfrm>
            <a:off x="4645152" y="4160520"/>
            <a:ext cx="4133088" cy="164592"/>
          </a:xfrm>
          <a:prstGeom prst="rect">
            <a:avLst/>
          </a:prstGeom>
          <a:solidFill>
            <a:srgbClr val="0D7C7B"/>
          </a:solidFill>
          <a:ln/>
        </p:spPr>
      </p:sp>
      <p:sp>
        <p:nvSpPr>
          <p:cNvPr id="59" name="Text 57"/>
          <p:cNvSpPr/>
          <p:nvPr/>
        </p:nvSpPr>
        <p:spPr>
          <a:xfrm>
            <a:off x="4709160" y="4178808"/>
            <a:ext cx="4023360" cy="14630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INVESTMENT VERDICT: CONDITIONALLY VIABLE — LEVERAGE UNLOCKS 12–15% EQUITY IRR</a:t>
            </a:r>
            <a:endParaRPr lang="en-US" sz="800" dirty="0"/>
          </a:p>
        </p:txBody>
      </p:sp>
      <p:sp>
        <p:nvSpPr>
          <p:cNvPr id="60" name="Text 58"/>
          <p:cNvSpPr/>
          <p:nvPr/>
        </p:nvSpPr>
        <p:spPr>
          <a:xfrm>
            <a:off x="4709160" y="4334256"/>
            <a:ext cx="4005072" cy="457200"/>
          </a:xfrm>
          <a:prstGeom prst="rect">
            <a:avLst/>
          </a:prstGeom>
          <a:noFill/>
          <a:ln/>
        </p:spPr>
        <p:txBody>
          <a:bodyPr wrap="square" rtlCol="0" anchor="ctr"/>
          <a:lstStyle/>
          <a:p>
            <a:pPr indent="0" marL="0">
              <a:lnSpc>
                <a:spcPct val="120000"/>
              </a:lnSpc>
              <a:buNone/>
            </a:pPr>
            <a:r>
              <a:rPr lang="en-US" sz="780" dirty="0">
                <a:solidFill>
                  <a:srgbClr val="09182B"/>
                </a:solidFill>
                <a:latin typeface="Calibri" pitchFamily="34" charset="0"/>
                <a:ea typeface="Calibri" pitchFamily="34" charset="-122"/>
                <a:cs typeface="Calibri" pitchFamily="34" charset="-120"/>
              </a:rPr>
              <a:t>At $130/kW-yr: +$5.4M NPV, 8.84% IRR. Leverage (50–65% debt at 5.5–7.5%) pushes equity IRR to 12–15%. Requires contracted or partially hedged revenue. $12M interconnection is primary gating risk — cost escalation to &gt;$20M approaches breakeven. Section 83E CPEC contract would confirm bankability.</a:t>
            </a:r>
            <a:endParaRPr lang="en-US" sz="780" dirty="0"/>
          </a:p>
        </p:txBody>
      </p:sp>
      <p:sp>
        <p:nvSpPr>
          <p:cNvPr id="61" name="Shape 59"/>
          <p:cNvSpPr/>
          <p:nvPr/>
        </p:nvSpPr>
        <p:spPr>
          <a:xfrm>
            <a:off x="0" y="4864608"/>
            <a:ext cx="9144000" cy="274320"/>
          </a:xfrm>
          <a:prstGeom prst="rect">
            <a:avLst/>
          </a:prstGeom>
          <a:solidFill>
            <a:srgbClr val="09182B"/>
          </a:solidFill>
          <a:ln/>
        </p:spPr>
      </p:sp>
      <p:sp>
        <p:nvSpPr>
          <p:cNvPr id="62" name="Text 60"/>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BESS Financial Model — 283 Eastern Avenue, Chelsea (April 2026) · MassGIS OEJE 2020 EJ Population Layer · Eversource Hosting Capacity Map · MA Household Economic Burden Index · DOER Model Bylaw (Oct 2025) · ISO-NE SENE Zone Data</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FINANCIAL COMPARISON: MODEL-VALIDATED INVESTMENT PROFILES — EVERETT vs. CHELSEA</a:t>
            </a:r>
            <a:endParaRPr lang="en-US" sz="1100" dirty="0"/>
          </a:p>
        </p:txBody>
      </p:sp>
      <p:sp>
        <p:nvSpPr>
          <p:cNvPr id="4" name="Text 2"/>
          <p:cNvSpPr/>
          <p:nvPr/>
        </p:nvSpPr>
        <p:spPr>
          <a:xfrm>
            <a:off x="347472" y="731520"/>
            <a:ext cx="8503920" cy="201168"/>
          </a:xfrm>
          <a:prstGeom prst="rect">
            <a:avLst/>
          </a:prstGeom>
          <a:noFill/>
          <a:ln/>
        </p:spPr>
        <p:txBody>
          <a:bodyPr wrap="square" rtlCol="0" anchor="ctr"/>
          <a:lstStyle/>
          <a:p>
            <a:pPr indent="0" marL="0">
              <a:buNone/>
            </a:pPr>
            <a:r>
              <a:rPr lang="en-US" sz="900" i="1" dirty="0">
                <a:solidFill>
                  <a:srgbClr val="617283"/>
                </a:solidFill>
                <a:latin typeface="Calibri" pitchFamily="34" charset="0"/>
                <a:ea typeface="Calibri" pitchFamily="34" charset="-122"/>
                <a:cs typeface="Calibri" pitchFamily="34" charset="-120"/>
              </a:rPr>
              <a:t>All figures drawn directly from project financial screening models (April 2026) · Revenue: $130/kW-yr · ITC: 40% (PWA + domestic content) · WACC: 8% unlevered</a:t>
            </a:r>
            <a:endParaRPr lang="en-US" sz="900" dirty="0"/>
          </a:p>
        </p:txBody>
      </p:sp>
      <p:sp>
        <p:nvSpPr>
          <p:cNvPr id="5" name="Shape 3"/>
          <p:cNvSpPr/>
          <p:nvPr/>
        </p:nvSpPr>
        <p:spPr>
          <a:xfrm>
            <a:off x="320040" y="987552"/>
            <a:ext cx="4160520" cy="3950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987552"/>
            <a:ext cx="4160520" cy="475488"/>
          </a:xfrm>
          <a:prstGeom prst="rect">
            <a:avLst/>
          </a:prstGeom>
          <a:solidFill>
            <a:srgbClr val="0D7C7B"/>
          </a:solidFill>
          <a:ln/>
        </p:spPr>
      </p:sp>
      <p:sp>
        <p:nvSpPr>
          <p:cNvPr id="7" name="Text 5"/>
          <p:cNvSpPr/>
          <p:nvPr/>
        </p:nvSpPr>
        <p:spPr>
          <a:xfrm>
            <a:off x="438912" y="1005840"/>
            <a:ext cx="3200400" cy="256032"/>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231 Beacham St, Everett</a:t>
            </a:r>
            <a:endParaRPr lang="en-US" sz="1500" dirty="0"/>
          </a:p>
        </p:txBody>
      </p:sp>
      <p:sp>
        <p:nvSpPr>
          <p:cNvPr id="8" name="Text 6"/>
          <p:cNvSpPr/>
          <p:nvPr/>
        </p:nvSpPr>
        <p:spPr>
          <a:xfrm>
            <a:off x="438912" y="1261872"/>
            <a:ext cx="3200400" cy="16459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15 MW / 60 MWh · 4hr · Score 119/125</a:t>
            </a:r>
            <a:endParaRPr lang="en-US" sz="950" dirty="0"/>
          </a:p>
        </p:txBody>
      </p:sp>
      <p:sp>
        <p:nvSpPr>
          <p:cNvPr id="9" name="Shape 7"/>
          <p:cNvSpPr/>
          <p:nvPr/>
        </p:nvSpPr>
        <p:spPr>
          <a:xfrm>
            <a:off x="2926080" y="1024128"/>
            <a:ext cx="1481328" cy="384048"/>
          </a:xfrm>
          <a:prstGeom prst="rect">
            <a:avLst/>
          </a:prstGeom>
          <a:solidFill>
            <a:srgbClr val="A83D28"/>
          </a:solidFill>
          <a:ln/>
        </p:spPr>
      </p:sp>
      <p:sp>
        <p:nvSpPr>
          <p:cNvPr id="10" name="Text 8"/>
          <p:cNvSpPr/>
          <p:nvPr/>
        </p:nvSpPr>
        <p:spPr>
          <a:xfrm>
            <a:off x="2944368" y="1042416"/>
            <a:ext cx="1444752"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NOT INVESTABLE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merchant basis</a:t>
            </a:r>
            <a:endParaRPr lang="en-US" sz="800" dirty="0"/>
          </a:p>
        </p:txBody>
      </p:sp>
      <p:sp>
        <p:nvSpPr>
          <p:cNvPr id="11" name="Shape 9"/>
          <p:cNvSpPr/>
          <p:nvPr/>
        </p:nvSpPr>
        <p:spPr>
          <a:xfrm>
            <a:off x="384048" y="1508760"/>
            <a:ext cx="4023360" cy="274320"/>
          </a:xfrm>
          <a:prstGeom prst="rect">
            <a:avLst/>
          </a:prstGeom>
          <a:solidFill>
            <a:srgbClr val="FFFFFF"/>
          </a:solidFill>
          <a:ln/>
        </p:spPr>
      </p:sp>
      <p:sp>
        <p:nvSpPr>
          <p:cNvPr id="12" name="Text 10"/>
          <p:cNvSpPr/>
          <p:nvPr/>
        </p:nvSpPr>
        <p:spPr>
          <a:xfrm>
            <a:off x="475488" y="1536192"/>
            <a:ext cx="2011680" cy="219456"/>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Gross CAPEX</a:t>
            </a:r>
            <a:endParaRPr lang="en-US" sz="1000" dirty="0"/>
          </a:p>
        </p:txBody>
      </p:sp>
      <p:sp>
        <p:nvSpPr>
          <p:cNvPr id="13" name="Text 11"/>
          <p:cNvSpPr/>
          <p:nvPr/>
        </p:nvSpPr>
        <p:spPr>
          <a:xfrm>
            <a:off x="2514600" y="1536192"/>
            <a:ext cx="1810512" cy="219456"/>
          </a:xfrm>
          <a:prstGeom prst="rect">
            <a:avLst/>
          </a:prstGeom>
          <a:noFill/>
          <a:ln/>
        </p:spPr>
        <p:txBody>
          <a:bodyPr wrap="square" lIns="0" tIns="0" rIns="0" bIns="0" rtlCol="0" anchor="ctr"/>
          <a:lstStyle/>
          <a:p>
            <a:pPr algn="r" indent="0" marL="0">
              <a:buNone/>
            </a:pPr>
            <a:r>
              <a:rPr lang="en-US" sz="1000" b="1" dirty="0">
                <a:solidFill>
                  <a:srgbClr val="09182B"/>
                </a:solidFill>
                <a:latin typeface="Calibri" pitchFamily="34" charset="0"/>
                <a:ea typeface="Calibri" pitchFamily="34" charset="-122"/>
                <a:cs typeface="Calibri" pitchFamily="34" charset="-120"/>
              </a:rPr>
              <a:t>$25,130,000</a:t>
            </a:r>
            <a:endParaRPr lang="en-US" sz="1000" dirty="0"/>
          </a:p>
        </p:txBody>
      </p:sp>
      <p:sp>
        <p:nvSpPr>
          <p:cNvPr id="14" name="Shape 12"/>
          <p:cNvSpPr/>
          <p:nvPr/>
        </p:nvSpPr>
        <p:spPr>
          <a:xfrm>
            <a:off x="384048" y="1801368"/>
            <a:ext cx="4023360" cy="274320"/>
          </a:xfrm>
          <a:prstGeom prst="rect">
            <a:avLst/>
          </a:prstGeom>
          <a:solidFill>
            <a:srgbClr val="E5EAF1"/>
          </a:solidFill>
          <a:ln/>
        </p:spPr>
      </p:sp>
      <p:sp>
        <p:nvSpPr>
          <p:cNvPr id="15" name="Text 13"/>
          <p:cNvSpPr/>
          <p:nvPr/>
        </p:nvSpPr>
        <p:spPr>
          <a:xfrm>
            <a:off x="475488" y="1828800"/>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ITC (40%)</a:t>
            </a:r>
            <a:endParaRPr lang="en-US" sz="950" dirty="0"/>
          </a:p>
        </p:txBody>
      </p:sp>
      <p:sp>
        <p:nvSpPr>
          <p:cNvPr id="16" name="Text 14"/>
          <p:cNvSpPr/>
          <p:nvPr/>
        </p:nvSpPr>
        <p:spPr>
          <a:xfrm>
            <a:off x="2514600" y="1828800"/>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−$10,052,000</a:t>
            </a:r>
            <a:endParaRPr lang="en-US" sz="950" dirty="0"/>
          </a:p>
        </p:txBody>
      </p:sp>
      <p:sp>
        <p:nvSpPr>
          <p:cNvPr id="17" name="Shape 15"/>
          <p:cNvSpPr/>
          <p:nvPr/>
        </p:nvSpPr>
        <p:spPr>
          <a:xfrm>
            <a:off x="384048" y="2093976"/>
            <a:ext cx="4023360" cy="274320"/>
          </a:xfrm>
          <a:prstGeom prst="rect">
            <a:avLst/>
          </a:prstGeom>
          <a:solidFill>
            <a:srgbClr val="FFFFFF"/>
          </a:solidFill>
          <a:ln/>
        </p:spPr>
      </p:sp>
      <p:sp>
        <p:nvSpPr>
          <p:cNvPr id="18" name="Text 16"/>
          <p:cNvSpPr/>
          <p:nvPr/>
        </p:nvSpPr>
        <p:spPr>
          <a:xfrm>
            <a:off x="475488" y="2121408"/>
            <a:ext cx="2011680" cy="219456"/>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Net CAPEX</a:t>
            </a:r>
            <a:endParaRPr lang="en-US" sz="1000" dirty="0"/>
          </a:p>
        </p:txBody>
      </p:sp>
      <p:sp>
        <p:nvSpPr>
          <p:cNvPr id="19" name="Text 17"/>
          <p:cNvSpPr/>
          <p:nvPr/>
        </p:nvSpPr>
        <p:spPr>
          <a:xfrm>
            <a:off x="2514600" y="2121408"/>
            <a:ext cx="1810512" cy="219456"/>
          </a:xfrm>
          <a:prstGeom prst="rect">
            <a:avLst/>
          </a:prstGeom>
          <a:noFill/>
          <a:ln/>
        </p:spPr>
        <p:txBody>
          <a:bodyPr wrap="square" lIns="0" tIns="0" rIns="0" bIns="0" rtlCol="0" anchor="ctr"/>
          <a:lstStyle/>
          <a:p>
            <a:pPr algn="r" indent="0" marL="0">
              <a:buNone/>
            </a:pPr>
            <a:r>
              <a:rPr lang="en-US" sz="1000" b="1" dirty="0">
                <a:solidFill>
                  <a:srgbClr val="09182B"/>
                </a:solidFill>
                <a:latin typeface="Calibri" pitchFamily="34" charset="0"/>
                <a:ea typeface="Calibri" pitchFamily="34" charset="-122"/>
                <a:cs typeface="Calibri" pitchFamily="34" charset="-120"/>
              </a:rPr>
              <a:t>$15,078,000</a:t>
            </a:r>
            <a:endParaRPr lang="en-US" sz="1000" dirty="0"/>
          </a:p>
        </p:txBody>
      </p:sp>
      <p:sp>
        <p:nvSpPr>
          <p:cNvPr id="20" name="Shape 18"/>
          <p:cNvSpPr/>
          <p:nvPr/>
        </p:nvSpPr>
        <p:spPr>
          <a:xfrm>
            <a:off x="384048" y="2395728"/>
            <a:ext cx="4023360" cy="18288"/>
          </a:xfrm>
          <a:prstGeom prst="rect">
            <a:avLst/>
          </a:prstGeom>
          <a:solidFill>
            <a:srgbClr val="E5EAF1"/>
          </a:solidFill>
          <a:ln/>
        </p:spPr>
      </p:sp>
      <p:sp>
        <p:nvSpPr>
          <p:cNvPr id="21" name="Shape 19"/>
          <p:cNvSpPr/>
          <p:nvPr/>
        </p:nvSpPr>
        <p:spPr>
          <a:xfrm>
            <a:off x="384048" y="2679192"/>
            <a:ext cx="4023360" cy="274320"/>
          </a:xfrm>
          <a:prstGeom prst="rect">
            <a:avLst/>
          </a:prstGeom>
          <a:solidFill>
            <a:srgbClr val="FFFFFF"/>
          </a:solidFill>
          <a:ln/>
        </p:spPr>
      </p:sp>
      <p:sp>
        <p:nvSpPr>
          <p:cNvPr id="22" name="Text 20"/>
          <p:cNvSpPr/>
          <p:nvPr/>
        </p:nvSpPr>
        <p:spPr>
          <a:xfrm>
            <a:off x="475488" y="2706624"/>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Year 1 Revenue</a:t>
            </a:r>
            <a:endParaRPr lang="en-US" sz="950" dirty="0"/>
          </a:p>
        </p:txBody>
      </p:sp>
      <p:sp>
        <p:nvSpPr>
          <p:cNvPr id="23" name="Text 21"/>
          <p:cNvSpPr/>
          <p:nvPr/>
        </p:nvSpPr>
        <p:spPr>
          <a:xfrm>
            <a:off x="2514600" y="2706624"/>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$1,950,000</a:t>
            </a:r>
            <a:endParaRPr lang="en-US" sz="950" dirty="0"/>
          </a:p>
        </p:txBody>
      </p:sp>
      <p:sp>
        <p:nvSpPr>
          <p:cNvPr id="24" name="Shape 22"/>
          <p:cNvSpPr/>
          <p:nvPr/>
        </p:nvSpPr>
        <p:spPr>
          <a:xfrm>
            <a:off x="384048" y="2971800"/>
            <a:ext cx="4023360" cy="274320"/>
          </a:xfrm>
          <a:prstGeom prst="rect">
            <a:avLst/>
          </a:prstGeom>
          <a:solidFill>
            <a:srgbClr val="E5EAF1"/>
          </a:solidFill>
          <a:ln/>
        </p:spPr>
      </p:sp>
      <p:sp>
        <p:nvSpPr>
          <p:cNvPr id="25" name="Text 23"/>
          <p:cNvSpPr/>
          <p:nvPr/>
        </p:nvSpPr>
        <p:spPr>
          <a:xfrm>
            <a:off x="475488" y="2999232"/>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Year 1 O&amp;M (2%)</a:t>
            </a:r>
            <a:endParaRPr lang="en-US" sz="950" dirty="0"/>
          </a:p>
        </p:txBody>
      </p:sp>
      <p:sp>
        <p:nvSpPr>
          <p:cNvPr id="26" name="Text 24"/>
          <p:cNvSpPr/>
          <p:nvPr/>
        </p:nvSpPr>
        <p:spPr>
          <a:xfrm>
            <a:off x="2514600" y="2999232"/>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$502,600</a:t>
            </a:r>
            <a:endParaRPr lang="en-US" sz="950" dirty="0"/>
          </a:p>
        </p:txBody>
      </p:sp>
      <p:sp>
        <p:nvSpPr>
          <p:cNvPr id="27" name="Shape 25"/>
          <p:cNvSpPr/>
          <p:nvPr/>
        </p:nvSpPr>
        <p:spPr>
          <a:xfrm>
            <a:off x="384048" y="3264408"/>
            <a:ext cx="4023360" cy="274320"/>
          </a:xfrm>
          <a:prstGeom prst="rect">
            <a:avLst/>
          </a:prstGeom>
          <a:solidFill>
            <a:srgbClr val="FFFFFF"/>
          </a:solidFill>
          <a:ln/>
        </p:spPr>
      </p:sp>
      <p:sp>
        <p:nvSpPr>
          <p:cNvPr id="28" name="Text 26"/>
          <p:cNvSpPr/>
          <p:nvPr/>
        </p:nvSpPr>
        <p:spPr>
          <a:xfrm>
            <a:off x="475488" y="3291840"/>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Year 1 EBITDA</a:t>
            </a:r>
            <a:endParaRPr lang="en-US" sz="950" dirty="0"/>
          </a:p>
        </p:txBody>
      </p:sp>
      <p:sp>
        <p:nvSpPr>
          <p:cNvPr id="29" name="Text 27"/>
          <p:cNvSpPr/>
          <p:nvPr/>
        </p:nvSpPr>
        <p:spPr>
          <a:xfrm>
            <a:off x="2514600" y="3291840"/>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$1,447,400</a:t>
            </a:r>
            <a:endParaRPr lang="en-US" sz="950" dirty="0"/>
          </a:p>
        </p:txBody>
      </p:sp>
      <p:sp>
        <p:nvSpPr>
          <p:cNvPr id="30" name="Shape 28"/>
          <p:cNvSpPr/>
          <p:nvPr/>
        </p:nvSpPr>
        <p:spPr>
          <a:xfrm>
            <a:off x="384048" y="3566160"/>
            <a:ext cx="4023360" cy="18288"/>
          </a:xfrm>
          <a:prstGeom prst="rect">
            <a:avLst/>
          </a:prstGeom>
          <a:solidFill>
            <a:srgbClr val="E5EAF1"/>
          </a:solidFill>
          <a:ln/>
        </p:spPr>
      </p:sp>
      <p:sp>
        <p:nvSpPr>
          <p:cNvPr id="31" name="Shape 29"/>
          <p:cNvSpPr/>
          <p:nvPr/>
        </p:nvSpPr>
        <p:spPr>
          <a:xfrm>
            <a:off x="384048" y="3849624"/>
            <a:ext cx="4023360" cy="274320"/>
          </a:xfrm>
          <a:prstGeom prst="rect">
            <a:avLst/>
          </a:prstGeom>
          <a:solidFill>
            <a:srgbClr val="FFFFFF"/>
          </a:solidFill>
          <a:ln/>
        </p:spPr>
      </p:sp>
      <p:sp>
        <p:nvSpPr>
          <p:cNvPr id="32" name="Text 30"/>
          <p:cNvSpPr/>
          <p:nvPr/>
        </p:nvSpPr>
        <p:spPr>
          <a:xfrm>
            <a:off x="475488" y="3877056"/>
            <a:ext cx="2011680" cy="219456"/>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NPV @ 8% WACC</a:t>
            </a:r>
            <a:endParaRPr lang="en-US" sz="1000" dirty="0"/>
          </a:p>
        </p:txBody>
      </p:sp>
      <p:sp>
        <p:nvSpPr>
          <p:cNvPr id="33" name="Text 31"/>
          <p:cNvSpPr/>
          <p:nvPr/>
        </p:nvSpPr>
        <p:spPr>
          <a:xfrm>
            <a:off x="2514600" y="3877056"/>
            <a:ext cx="1810512" cy="219456"/>
          </a:xfrm>
          <a:prstGeom prst="rect">
            <a:avLst/>
          </a:prstGeom>
          <a:noFill/>
          <a:ln/>
        </p:spPr>
        <p:txBody>
          <a:bodyPr wrap="square" lIns="0" tIns="0" rIns="0" bIns="0" rtlCol="0" anchor="ctr"/>
          <a:lstStyle/>
          <a:p>
            <a:pPr algn="r" indent="0" marL="0">
              <a:buNone/>
            </a:pPr>
            <a:r>
              <a:rPr lang="en-US" sz="1000" b="1" dirty="0">
                <a:solidFill>
                  <a:srgbClr val="A83D28"/>
                </a:solidFill>
                <a:latin typeface="Calibri" pitchFamily="34" charset="0"/>
                <a:ea typeface="Calibri" pitchFamily="34" charset="-122"/>
                <a:cs typeface="Calibri" pitchFamily="34" charset="-120"/>
              </a:rPr>
              <a:t>−$2,198,134</a:t>
            </a:r>
            <a:endParaRPr lang="en-US" sz="1000" dirty="0"/>
          </a:p>
        </p:txBody>
      </p:sp>
      <p:sp>
        <p:nvSpPr>
          <p:cNvPr id="34" name="Shape 32"/>
          <p:cNvSpPr/>
          <p:nvPr/>
        </p:nvSpPr>
        <p:spPr>
          <a:xfrm>
            <a:off x="384048" y="4142232"/>
            <a:ext cx="4023360" cy="274320"/>
          </a:xfrm>
          <a:prstGeom prst="rect">
            <a:avLst/>
          </a:prstGeom>
          <a:solidFill>
            <a:srgbClr val="E5EAF1"/>
          </a:solidFill>
          <a:ln/>
        </p:spPr>
      </p:sp>
      <p:sp>
        <p:nvSpPr>
          <p:cNvPr id="35" name="Text 33"/>
          <p:cNvSpPr/>
          <p:nvPr/>
        </p:nvSpPr>
        <p:spPr>
          <a:xfrm>
            <a:off x="475488" y="4169664"/>
            <a:ext cx="2011680" cy="219456"/>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Unlevered IRR</a:t>
            </a:r>
            <a:endParaRPr lang="en-US" sz="1000" dirty="0"/>
          </a:p>
        </p:txBody>
      </p:sp>
      <p:sp>
        <p:nvSpPr>
          <p:cNvPr id="36" name="Text 34"/>
          <p:cNvSpPr/>
          <p:nvPr/>
        </p:nvSpPr>
        <p:spPr>
          <a:xfrm>
            <a:off x="2514600" y="4169664"/>
            <a:ext cx="1810512" cy="219456"/>
          </a:xfrm>
          <a:prstGeom prst="rect">
            <a:avLst/>
          </a:prstGeom>
          <a:noFill/>
          <a:ln/>
        </p:spPr>
        <p:txBody>
          <a:bodyPr wrap="square" lIns="0" tIns="0" rIns="0" bIns="0" rtlCol="0" anchor="ctr"/>
          <a:lstStyle/>
          <a:p>
            <a:pPr algn="r" indent="0" marL="0">
              <a:buNone/>
            </a:pPr>
            <a:r>
              <a:rPr lang="en-US" sz="1000" b="1" dirty="0">
                <a:solidFill>
                  <a:srgbClr val="09182B"/>
                </a:solidFill>
                <a:latin typeface="Calibri" pitchFamily="34" charset="0"/>
                <a:ea typeface="Calibri" pitchFamily="34" charset="-122"/>
                <a:cs typeface="Calibri" pitchFamily="34" charset="-120"/>
              </a:rPr>
              <a:t>5.93%</a:t>
            </a:r>
            <a:endParaRPr lang="en-US" sz="1000" dirty="0"/>
          </a:p>
        </p:txBody>
      </p:sp>
      <p:sp>
        <p:nvSpPr>
          <p:cNvPr id="37" name="Shape 35"/>
          <p:cNvSpPr/>
          <p:nvPr/>
        </p:nvSpPr>
        <p:spPr>
          <a:xfrm>
            <a:off x="384048" y="4434840"/>
            <a:ext cx="4023360" cy="274320"/>
          </a:xfrm>
          <a:prstGeom prst="rect">
            <a:avLst/>
          </a:prstGeom>
          <a:solidFill>
            <a:srgbClr val="FFFFFF"/>
          </a:solidFill>
          <a:ln/>
        </p:spPr>
      </p:sp>
      <p:sp>
        <p:nvSpPr>
          <p:cNvPr id="38" name="Text 36"/>
          <p:cNvSpPr/>
          <p:nvPr/>
        </p:nvSpPr>
        <p:spPr>
          <a:xfrm>
            <a:off x="475488" y="4462272"/>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Payback</a:t>
            </a:r>
            <a:endParaRPr lang="en-US" sz="950" dirty="0"/>
          </a:p>
        </p:txBody>
      </p:sp>
      <p:sp>
        <p:nvSpPr>
          <p:cNvPr id="39" name="Text 37"/>
          <p:cNvSpPr/>
          <p:nvPr/>
        </p:nvSpPr>
        <p:spPr>
          <a:xfrm>
            <a:off x="2514600" y="4462272"/>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10.4 years</a:t>
            </a:r>
            <a:endParaRPr lang="en-US" sz="950" dirty="0"/>
          </a:p>
        </p:txBody>
      </p:sp>
      <p:sp>
        <p:nvSpPr>
          <p:cNvPr id="40" name="Shape 38"/>
          <p:cNvSpPr/>
          <p:nvPr/>
        </p:nvSpPr>
        <p:spPr>
          <a:xfrm>
            <a:off x="384048" y="4645152"/>
            <a:ext cx="4023360" cy="237744"/>
          </a:xfrm>
          <a:prstGeom prst="rect">
            <a:avLst/>
          </a:prstGeom>
          <a:solidFill>
            <a:srgbClr val="A83D28">
              <a:alpha val="12000"/>
            </a:srgbClr>
          </a:solidFill>
          <a:ln/>
        </p:spPr>
      </p:sp>
      <p:sp>
        <p:nvSpPr>
          <p:cNvPr id="41" name="Text 39"/>
          <p:cNvSpPr/>
          <p:nvPr/>
        </p:nvSpPr>
        <p:spPr>
          <a:xfrm>
            <a:off x="475488" y="4672584"/>
            <a:ext cx="3840480" cy="182880"/>
          </a:xfrm>
          <a:prstGeom prst="rect">
            <a:avLst/>
          </a:prstGeom>
          <a:noFill/>
          <a:ln/>
        </p:spPr>
        <p:txBody>
          <a:bodyPr wrap="square" lIns="0" tIns="0" rIns="0" bIns="0" rtlCol="0" anchor="ctr"/>
          <a:lstStyle/>
          <a:p>
            <a:pPr indent="0" marL="0">
              <a:buNone/>
            </a:pPr>
            <a:r>
              <a:rPr lang="en-US" sz="800" b="1" dirty="0">
                <a:solidFill>
                  <a:srgbClr val="A83D28"/>
                </a:solidFill>
                <a:latin typeface="Calibri" pitchFamily="34" charset="0"/>
                <a:ea typeface="Calibri" pitchFamily="34" charset="-122"/>
                <a:cs typeface="Calibri" pitchFamily="34" charset="-120"/>
              </a:rPr>
              <a:t>Viability threshold: &gt;$150/kW-yr revenue OR 50% ITC → NPV turns positive (+$2.3M at 50% ITC)</a:t>
            </a:r>
            <a:endParaRPr lang="en-US" sz="800" dirty="0"/>
          </a:p>
        </p:txBody>
      </p:sp>
      <p:sp>
        <p:nvSpPr>
          <p:cNvPr id="42" name="Shape 40"/>
          <p:cNvSpPr/>
          <p:nvPr/>
        </p:nvSpPr>
        <p:spPr>
          <a:xfrm>
            <a:off x="4663440" y="987552"/>
            <a:ext cx="4160520" cy="3950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43" name="Shape 41"/>
          <p:cNvSpPr/>
          <p:nvPr/>
        </p:nvSpPr>
        <p:spPr>
          <a:xfrm>
            <a:off x="4663440" y="987552"/>
            <a:ext cx="4160520" cy="475488"/>
          </a:xfrm>
          <a:prstGeom prst="rect">
            <a:avLst/>
          </a:prstGeom>
          <a:solidFill>
            <a:srgbClr val="A83D28"/>
          </a:solidFill>
          <a:ln/>
        </p:spPr>
      </p:sp>
      <p:sp>
        <p:nvSpPr>
          <p:cNvPr id="44" name="Text 42"/>
          <p:cNvSpPr/>
          <p:nvPr/>
        </p:nvSpPr>
        <p:spPr>
          <a:xfrm>
            <a:off x="4773168" y="1005840"/>
            <a:ext cx="3200400" cy="256032"/>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283 Eastern Ave, Chelsea</a:t>
            </a:r>
            <a:endParaRPr lang="en-US" sz="1500" dirty="0"/>
          </a:p>
        </p:txBody>
      </p:sp>
      <p:sp>
        <p:nvSpPr>
          <p:cNvPr id="45" name="Text 43"/>
          <p:cNvSpPr/>
          <p:nvPr/>
        </p:nvSpPr>
        <p:spPr>
          <a:xfrm>
            <a:off x="4773168" y="1261872"/>
            <a:ext cx="3200400" cy="16459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100 MW / 400 MWh · 4hr · Score 113/125</a:t>
            </a:r>
            <a:endParaRPr lang="en-US" sz="950" dirty="0"/>
          </a:p>
        </p:txBody>
      </p:sp>
      <p:sp>
        <p:nvSpPr>
          <p:cNvPr id="46" name="Shape 44"/>
          <p:cNvSpPr/>
          <p:nvPr/>
        </p:nvSpPr>
        <p:spPr>
          <a:xfrm>
            <a:off x="7269480" y="1024128"/>
            <a:ext cx="1481328" cy="384048"/>
          </a:xfrm>
          <a:prstGeom prst="rect">
            <a:avLst/>
          </a:prstGeom>
          <a:solidFill>
            <a:srgbClr val="0D7C7B"/>
          </a:solidFill>
          <a:ln/>
        </p:spPr>
      </p:sp>
      <p:sp>
        <p:nvSpPr>
          <p:cNvPr id="47" name="Text 45"/>
          <p:cNvSpPr/>
          <p:nvPr/>
        </p:nvSpPr>
        <p:spPr>
          <a:xfrm>
            <a:off x="7287768" y="1042416"/>
            <a:ext cx="1444752"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CONDITIONALLY</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VIABLE</a:t>
            </a:r>
            <a:endParaRPr lang="en-US" sz="800" dirty="0"/>
          </a:p>
        </p:txBody>
      </p:sp>
      <p:sp>
        <p:nvSpPr>
          <p:cNvPr id="48" name="Shape 46"/>
          <p:cNvSpPr/>
          <p:nvPr/>
        </p:nvSpPr>
        <p:spPr>
          <a:xfrm>
            <a:off x="4727448" y="1508760"/>
            <a:ext cx="4023360" cy="274320"/>
          </a:xfrm>
          <a:prstGeom prst="rect">
            <a:avLst/>
          </a:prstGeom>
          <a:solidFill>
            <a:srgbClr val="FFFFFF"/>
          </a:solidFill>
          <a:ln/>
        </p:spPr>
      </p:sp>
      <p:sp>
        <p:nvSpPr>
          <p:cNvPr id="49" name="Text 47"/>
          <p:cNvSpPr/>
          <p:nvPr/>
        </p:nvSpPr>
        <p:spPr>
          <a:xfrm>
            <a:off x="4818888" y="1536192"/>
            <a:ext cx="2011680" cy="219456"/>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Gross CAPEX</a:t>
            </a:r>
            <a:endParaRPr lang="en-US" sz="1000" dirty="0"/>
          </a:p>
        </p:txBody>
      </p:sp>
      <p:sp>
        <p:nvSpPr>
          <p:cNvPr id="50" name="Text 48"/>
          <p:cNvSpPr/>
          <p:nvPr/>
        </p:nvSpPr>
        <p:spPr>
          <a:xfrm>
            <a:off x="6858000" y="1536192"/>
            <a:ext cx="1810512" cy="219456"/>
          </a:xfrm>
          <a:prstGeom prst="rect">
            <a:avLst/>
          </a:prstGeom>
          <a:noFill/>
          <a:ln/>
        </p:spPr>
        <p:txBody>
          <a:bodyPr wrap="square" lIns="0" tIns="0" rIns="0" bIns="0" rtlCol="0" anchor="ctr"/>
          <a:lstStyle/>
          <a:p>
            <a:pPr algn="r" indent="0" marL="0">
              <a:buNone/>
            </a:pPr>
            <a:r>
              <a:rPr lang="en-US" sz="1000" b="1" dirty="0">
                <a:solidFill>
                  <a:srgbClr val="09182B"/>
                </a:solidFill>
                <a:latin typeface="Calibri" pitchFamily="34" charset="0"/>
                <a:ea typeface="Calibri" pitchFamily="34" charset="-122"/>
                <a:cs typeface="Calibri" pitchFamily="34" charset="-120"/>
              </a:rPr>
              <a:t>$144,000,000</a:t>
            </a:r>
            <a:endParaRPr lang="en-US" sz="1000" dirty="0"/>
          </a:p>
        </p:txBody>
      </p:sp>
      <p:sp>
        <p:nvSpPr>
          <p:cNvPr id="51" name="Shape 49"/>
          <p:cNvSpPr/>
          <p:nvPr/>
        </p:nvSpPr>
        <p:spPr>
          <a:xfrm>
            <a:off x="4727448" y="1801368"/>
            <a:ext cx="4023360" cy="274320"/>
          </a:xfrm>
          <a:prstGeom prst="rect">
            <a:avLst/>
          </a:prstGeom>
          <a:solidFill>
            <a:srgbClr val="E5EAF1"/>
          </a:solidFill>
          <a:ln/>
        </p:spPr>
      </p:sp>
      <p:sp>
        <p:nvSpPr>
          <p:cNvPr id="52" name="Text 50"/>
          <p:cNvSpPr/>
          <p:nvPr/>
        </p:nvSpPr>
        <p:spPr>
          <a:xfrm>
            <a:off x="4818888" y="1828800"/>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ITC (40%)</a:t>
            </a:r>
            <a:endParaRPr lang="en-US" sz="950" dirty="0"/>
          </a:p>
        </p:txBody>
      </p:sp>
      <p:sp>
        <p:nvSpPr>
          <p:cNvPr id="53" name="Text 51"/>
          <p:cNvSpPr/>
          <p:nvPr/>
        </p:nvSpPr>
        <p:spPr>
          <a:xfrm>
            <a:off x="6858000" y="1828800"/>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−$57,600,000</a:t>
            </a:r>
            <a:endParaRPr lang="en-US" sz="950" dirty="0"/>
          </a:p>
        </p:txBody>
      </p:sp>
      <p:sp>
        <p:nvSpPr>
          <p:cNvPr id="54" name="Shape 52"/>
          <p:cNvSpPr/>
          <p:nvPr/>
        </p:nvSpPr>
        <p:spPr>
          <a:xfrm>
            <a:off x="4727448" y="2093976"/>
            <a:ext cx="4023360" cy="274320"/>
          </a:xfrm>
          <a:prstGeom prst="rect">
            <a:avLst/>
          </a:prstGeom>
          <a:solidFill>
            <a:srgbClr val="FFFFFF"/>
          </a:solidFill>
          <a:ln/>
        </p:spPr>
      </p:sp>
      <p:sp>
        <p:nvSpPr>
          <p:cNvPr id="55" name="Text 53"/>
          <p:cNvSpPr/>
          <p:nvPr/>
        </p:nvSpPr>
        <p:spPr>
          <a:xfrm>
            <a:off x="4818888" y="2121408"/>
            <a:ext cx="2011680" cy="219456"/>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Net CAPEX</a:t>
            </a:r>
            <a:endParaRPr lang="en-US" sz="1000" dirty="0"/>
          </a:p>
        </p:txBody>
      </p:sp>
      <p:sp>
        <p:nvSpPr>
          <p:cNvPr id="56" name="Text 54"/>
          <p:cNvSpPr/>
          <p:nvPr/>
        </p:nvSpPr>
        <p:spPr>
          <a:xfrm>
            <a:off x="6858000" y="2121408"/>
            <a:ext cx="1810512" cy="219456"/>
          </a:xfrm>
          <a:prstGeom prst="rect">
            <a:avLst/>
          </a:prstGeom>
          <a:noFill/>
          <a:ln/>
        </p:spPr>
        <p:txBody>
          <a:bodyPr wrap="square" lIns="0" tIns="0" rIns="0" bIns="0" rtlCol="0" anchor="ctr"/>
          <a:lstStyle/>
          <a:p>
            <a:pPr algn="r" indent="0" marL="0">
              <a:buNone/>
            </a:pPr>
            <a:r>
              <a:rPr lang="en-US" sz="1000" b="1" dirty="0">
                <a:solidFill>
                  <a:srgbClr val="09182B"/>
                </a:solidFill>
                <a:latin typeface="Calibri" pitchFamily="34" charset="0"/>
                <a:ea typeface="Calibri" pitchFamily="34" charset="-122"/>
                <a:cs typeface="Calibri" pitchFamily="34" charset="-120"/>
              </a:rPr>
              <a:t>$86,400,000</a:t>
            </a:r>
            <a:endParaRPr lang="en-US" sz="1000" dirty="0"/>
          </a:p>
        </p:txBody>
      </p:sp>
      <p:sp>
        <p:nvSpPr>
          <p:cNvPr id="57" name="Shape 55"/>
          <p:cNvSpPr/>
          <p:nvPr/>
        </p:nvSpPr>
        <p:spPr>
          <a:xfrm>
            <a:off x="4727448" y="2395728"/>
            <a:ext cx="4023360" cy="18288"/>
          </a:xfrm>
          <a:prstGeom prst="rect">
            <a:avLst/>
          </a:prstGeom>
          <a:solidFill>
            <a:srgbClr val="E5EAF1"/>
          </a:solidFill>
          <a:ln/>
        </p:spPr>
      </p:sp>
      <p:sp>
        <p:nvSpPr>
          <p:cNvPr id="58" name="Shape 56"/>
          <p:cNvSpPr/>
          <p:nvPr/>
        </p:nvSpPr>
        <p:spPr>
          <a:xfrm>
            <a:off x="4727448" y="2679192"/>
            <a:ext cx="4023360" cy="274320"/>
          </a:xfrm>
          <a:prstGeom prst="rect">
            <a:avLst/>
          </a:prstGeom>
          <a:solidFill>
            <a:srgbClr val="FFFFFF"/>
          </a:solidFill>
          <a:ln/>
        </p:spPr>
      </p:sp>
      <p:sp>
        <p:nvSpPr>
          <p:cNvPr id="59" name="Text 57"/>
          <p:cNvSpPr/>
          <p:nvPr/>
        </p:nvSpPr>
        <p:spPr>
          <a:xfrm>
            <a:off x="4818888" y="2706624"/>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Year 1 Revenue</a:t>
            </a:r>
            <a:endParaRPr lang="en-US" sz="950" dirty="0"/>
          </a:p>
        </p:txBody>
      </p:sp>
      <p:sp>
        <p:nvSpPr>
          <p:cNvPr id="60" name="Text 58"/>
          <p:cNvSpPr/>
          <p:nvPr/>
        </p:nvSpPr>
        <p:spPr>
          <a:xfrm>
            <a:off x="6858000" y="2706624"/>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$13,000,000</a:t>
            </a:r>
            <a:endParaRPr lang="en-US" sz="950" dirty="0"/>
          </a:p>
        </p:txBody>
      </p:sp>
      <p:sp>
        <p:nvSpPr>
          <p:cNvPr id="61" name="Shape 59"/>
          <p:cNvSpPr/>
          <p:nvPr/>
        </p:nvSpPr>
        <p:spPr>
          <a:xfrm>
            <a:off x="4727448" y="2971800"/>
            <a:ext cx="4023360" cy="274320"/>
          </a:xfrm>
          <a:prstGeom prst="rect">
            <a:avLst/>
          </a:prstGeom>
          <a:solidFill>
            <a:srgbClr val="E5EAF1"/>
          </a:solidFill>
          <a:ln/>
        </p:spPr>
      </p:sp>
      <p:sp>
        <p:nvSpPr>
          <p:cNvPr id="62" name="Text 60"/>
          <p:cNvSpPr/>
          <p:nvPr/>
        </p:nvSpPr>
        <p:spPr>
          <a:xfrm>
            <a:off x="4818888" y="2999232"/>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Year 1 O&amp;M (2%)</a:t>
            </a:r>
            <a:endParaRPr lang="en-US" sz="950" dirty="0"/>
          </a:p>
        </p:txBody>
      </p:sp>
      <p:sp>
        <p:nvSpPr>
          <p:cNvPr id="63" name="Text 61"/>
          <p:cNvSpPr/>
          <p:nvPr/>
        </p:nvSpPr>
        <p:spPr>
          <a:xfrm>
            <a:off x="6858000" y="2999232"/>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$2,880,000</a:t>
            </a:r>
            <a:endParaRPr lang="en-US" sz="950" dirty="0"/>
          </a:p>
        </p:txBody>
      </p:sp>
      <p:sp>
        <p:nvSpPr>
          <p:cNvPr id="64" name="Shape 62"/>
          <p:cNvSpPr/>
          <p:nvPr/>
        </p:nvSpPr>
        <p:spPr>
          <a:xfrm>
            <a:off x="4727448" y="3264408"/>
            <a:ext cx="4023360" cy="274320"/>
          </a:xfrm>
          <a:prstGeom prst="rect">
            <a:avLst/>
          </a:prstGeom>
          <a:solidFill>
            <a:srgbClr val="FFFFFF"/>
          </a:solidFill>
          <a:ln/>
        </p:spPr>
      </p:sp>
      <p:sp>
        <p:nvSpPr>
          <p:cNvPr id="65" name="Text 63"/>
          <p:cNvSpPr/>
          <p:nvPr/>
        </p:nvSpPr>
        <p:spPr>
          <a:xfrm>
            <a:off x="4818888" y="3291840"/>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Year 1 EBITDA</a:t>
            </a:r>
            <a:endParaRPr lang="en-US" sz="950" dirty="0"/>
          </a:p>
        </p:txBody>
      </p:sp>
      <p:sp>
        <p:nvSpPr>
          <p:cNvPr id="66" name="Text 64"/>
          <p:cNvSpPr/>
          <p:nvPr/>
        </p:nvSpPr>
        <p:spPr>
          <a:xfrm>
            <a:off x="6858000" y="3291840"/>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$10,120,000</a:t>
            </a:r>
            <a:endParaRPr lang="en-US" sz="950" dirty="0"/>
          </a:p>
        </p:txBody>
      </p:sp>
      <p:sp>
        <p:nvSpPr>
          <p:cNvPr id="67" name="Shape 65"/>
          <p:cNvSpPr/>
          <p:nvPr/>
        </p:nvSpPr>
        <p:spPr>
          <a:xfrm>
            <a:off x="4727448" y="3566160"/>
            <a:ext cx="4023360" cy="18288"/>
          </a:xfrm>
          <a:prstGeom prst="rect">
            <a:avLst/>
          </a:prstGeom>
          <a:solidFill>
            <a:srgbClr val="E5EAF1"/>
          </a:solidFill>
          <a:ln/>
        </p:spPr>
      </p:sp>
      <p:sp>
        <p:nvSpPr>
          <p:cNvPr id="68" name="Shape 66"/>
          <p:cNvSpPr/>
          <p:nvPr/>
        </p:nvSpPr>
        <p:spPr>
          <a:xfrm>
            <a:off x="4727448" y="3849624"/>
            <a:ext cx="4023360" cy="274320"/>
          </a:xfrm>
          <a:prstGeom prst="rect">
            <a:avLst/>
          </a:prstGeom>
          <a:solidFill>
            <a:srgbClr val="FFFFFF"/>
          </a:solidFill>
          <a:ln/>
        </p:spPr>
      </p:sp>
      <p:sp>
        <p:nvSpPr>
          <p:cNvPr id="69" name="Text 67"/>
          <p:cNvSpPr/>
          <p:nvPr/>
        </p:nvSpPr>
        <p:spPr>
          <a:xfrm>
            <a:off x="4818888" y="3877056"/>
            <a:ext cx="2011680" cy="219456"/>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NPV @ 8% WACC</a:t>
            </a:r>
            <a:endParaRPr lang="en-US" sz="1000" dirty="0"/>
          </a:p>
        </p:txBody>
      </p:sp>
      <p:sp>
        <p:nvSpPr>
          <p:cNvPr id="70" name="Text 68"/>
          <p:cNvSpPr/>
          <p:nvPr/>
        </p:nvSpPr>
        <p:spPr>
          <a:xfrm>
            <a:off x="6858000" y="3877056"/>
            <a:ext cx="1810512" cy="219456"/>
          </a:xfrm>
          <a:prstGeom prst="rect">
            <a:avLst/>
          </a:prstGeom>
          <a:noFill/>
          <a:ln/>
        </p:spPr>
        <p:txBody>
          <a:bodyPr wrap="square" lIns="0" tIns="0" rIns="0" bIns="0" rtlCol="0" anchor="ctr"/>
          <a:lstStyle/>
          <a:p>
            <a:pPr algn="r" indent="0" marL="0">
              <a:buNone/>
            </a:pPr>
            <a:r>
              <a:rPr lang="en-US" sz="1000" b="1" dirty="0">
                <a:solidFill>
                  <a:srgbClr val="0D7C7B"/>
                </a:solidFill>
                <a:latin typeface="Calibri" pitchFamily="34" charset="0"/>
                <a:ea typeface="Calibri" pitchFamily="34" charset="-122"/>
                <a:cs typeface="Calibri" pitchFamily="34" charset="-120"/>
              </a:rPr>
              <a:t>+$5,365,186</a:t>
            </a:r>
            <a:endParaRPr lang="en-US" sz="1000" dirty="0"/>
          </a:p>
        </p:txBody>
      </p:sp>
      <p:sp>
        <p:nvSpPr>
          <p:cNvPr id="71" name="Shape 69"/>
          <p:cNvSpPr/>
          <p:nvPr/>
        </p:nvSpPr>
        <p:spPr>
          <a:xfrm>
            <a:off x="4727448" y="4142232"/>
            <a:ext cx="4023360" cy="274320"/>
          </a:xfrm>
          <a:prstGeom prst="rect">
            <a:avLst/>
          </a:prstGeom>
          <a:solidFill>
            <a:srgbClr val="E5EAF1"/>
          </a:solidFill>
          <a:ln/>
        </p:spPr>
      </p:sp>
      <p:sp>
        <p:nvSpPr>
          <p:cNvPr id="72" name="Text 70"/>
          <p:cNvSpPr/>
          <p:nvPr/>
        </p:nvSpPr>
        <p:spPr>
          <a:xfrm>
            <a:off x="4818888" y="4169664"/>
            <a:ext cx="2011680" cy="219456"/>
          </a:xfrm>
          <a:prstGeom prst="rect">
            <a:avLst/>
          </a:prstGeom>
          <a:noFill/>
          <a:ln/>
        </p:spPr>
        <p:txBody>
          <a:bodyPr wrap="square" lIns="0" tIns="0" rIns="0" bIns="0" rtlCol="0" anchor="ctr"/>
          <a:lstStyle/>
          <a:p>
            <a:pPr indent="0" marL="0">
              <a:buNone/>
            </a:pPr>
            <a:r>
              <a:rPr lang="en-US" sz="1000" b="1" dirty="0">
                <a:solidFill>
                  <a:srgbClr val="09182B"/>
                </a:solidFill>
                <a:latin typeface="Calibri" pitchFamily="34" charset="0"/>
                <a:ea typeface="Calibri" pitchFamily="34" charset="-122"/>
                <a:cs typeface="Calibri" pitchFamily="34" charset="-120"/>
              </a:rPr>
              <a:t>Unlevered IRR</a:t>
            </a:r>
            <a:endParaRPr lang="en-US" sz="1000" dirty="0"/>
          </a:p>
        </p:txBody>
      </p:sp>
      <p:sp>
        <p:nvSpPr>
          <p:cNvPr id="73" name="Text 71"/>
          <p:cNvSpPr/>
          <p:nvPr/>
        </p:nvSpPr>
        <p:spPr>
          <a:xfrm>
            <a:off x="6858000" y="4169664"/>
            <a:ext cx="1810512" cy="219456"/>
          </a:xfrm>
          <a:prstGeom prst="rect">
            <a:avLst/>
          </a:prstGeom>
          <a:noFill/>
          <a:ln/>
        </p:spPr>
        <p:txBody>
          <a:bodyPr wrap="square" lIns="0" tIns="0" rIns="0" bIns="0" rtlCol="0" anchor="ctr"/>
          <a:lstStyle/>
          <a:p>
            <a:pPr algn="r" indent="0" marL="0">
              <a:buNone/>
            </a:pPr>
            <a:r>
              <a:rPr lang="en-US" sz="1000" b="1" dirty="0">
                <a:solidFill>
                  <a:srgbClr val="09182B"/>
                </a:solidFill>
                <a:latin typeface="Calibri" pitchFamily="34" charset="0"/>
                <a:ea typeface="Calibri" pitchFamily="34" charset="-122"/>
                <a:cs typeface="Calibri" pitchFamily="34" charset="-120"/>
              </a:rPr>
              <a:t>8.84%</a:t>
            </a:r>
            <a:endParaRPr lang="en-US" sz="1000" dirty="0"/>
          </a:p>
        </p:txBody>
      </p:sp>
      <p:sp>
        <p:nvSpPr>
          <p:cNvPr id="74" name="Shape 72"/>
          <p:cNvSpPr/>
          <p:nvPr/>
        </p:nvSpPr>
        <p:spPr>
          <a:xfrm>
            <a:off x="4727448" y="4434840"/>
            <a:ext cx="4023360" cy="274320"/>
          </a:xfrm>
          <a:prstGeom prst="rect">
            <a:avLst/>
          </a:prstGeom>
          <a:solidFill>
            <a:srgbClr val="FFFFFF"/>
          </a:solidFill>
          <a:ln/>
        </p:spPr>
      </p:sp>
      <p:sp>
        <p:nvSpPr>
          <p:cNvPr id="75" name="Text 73"/>
          <p:cNvSpPr/>
          <p:nvPr/>
        </p:nvSpPr>
        <p:spPr>
          <a:xfrm>
            <a:off x="4818888" y="4462272"/>
            <a:ext cx="2011680" cy="219456"/>
          </a:xfrm>
          <a:prstGeom prst="rect">
            <a:avLst/>
          </a:prstGeom>
          <a:noFill/>
          <a:ln/>
        </p:spPr>
        <p:txBody>
          <a:bodyPr wrap="square" lIns="0" tIns="0" rIns="0" bIns="0" rtlCol="0" anchor="ctr"/>
          <a:lstStyle/>
          <a:p>
            <a:pPr indent="0" marL="0">
              <a:buNone/>
            </a:pPr>
            <a:r>
              <a:rPr lang="en-US" sz="950" dirty="0">
                <a:solidFill>
                  <a:srgbClr val="617283"/>
                </a:solidFill>
                <a:latin typeface="Calibri" pitchFamily="34" charset="0"/>
                <a:ea typeface="Calibri" pitchFamily="34" charset="-122"/>
                <a:cs typeface="Calibri" pitchFamily="34" charset="-120"/>
              </a:rPr>
              <a:t>Payback</a:t>
            </a:r>
            <a:endParaRPr lang="en-US" sz="950" dirty="0"/>
          </a:p>
        </p:txBody>
      </p:sp>
      <p:sp>
        <p:nvSpPr>
          <p:cNvPr id="76" name="Text 74"/>
          <p:cNvSpPr/>
          <p:nvPr/>
        </p:nvSpPr>
        <p:spPr>
          <a:xfrm>
            <a:off x="6858000" y="4462272"/>
            <a:ext cx="1810512" cy="219456"/>
          </a:xfrm>
          <a:prstGeom prst="rect">
            <a:avLst/>
          </a:prstGeom>
          <a:noFill/>
          <a:ln/>
        </p:spPr>
        <p:txBody>
          <a:bodyPr wrap="square" lIns="0" tIns="0" rIns="0" bIns="0" rtlCol="0" anchor="ctr"/>
          <a:lstStyle/>
          <a:p>
            <a:pPr algn="r" indent="0" marL="0">
              <a:buNone/>
            </a:pPr>
            <a:r>
              <a:rPr lang="en-US" sz="950" dirty="0">
                <a:solidFill>
                  <a:srgbClr val="617283"/>
                </a:solidFill>
                <a:latin typeface="Calibri" pitchFamily="34" charset="0"/>
                <a:ea typeface="Calibri" pitchFamily="34" charset="-122"/>
                <a:cs typeface="Calibri" pitchFamily="34" charset="-120"/>
              </a:rPr>
              <a:t>8.5 years</a:t>
            </a:r>
            <a:endParaRPr lang="en-US" sz="950" dirty="0"/>
          </a:p>
        </p:txBody>
      </p:sp>
      <p:sp>
        <p:nvSpPr>
          <p:cNvPr id="77" name="Shape 75"/>
          <p:cNvSpPr/>
          <p:nvPr/>
        </p:nvSpPr>
        <p:spPr>
          <a:xfrm>
            <a:off x="4727448" y="4645152"/>
            <a:ext cx="4023360" cy="237744"/>
          </a:xfrm>
          <a:prstGeom prst="rect">
            <a:avLst/>
          </a:prstGeom>
          <a:solidFill>
            <a:srgbClr val="0D7C7B">
              <a:alpha val="12000"/>
            </a:srgbClr>
          </a:solidFill>
          <a:ln/>
        </p:spPr>
      </p:sp>
      <p:sp>
        <p:nvSpPr>
          <p:cNvPr id="78" name="Text 76"/>
          <p:cNvSpPr/>
          <p:nvPr/>
        </p:nvSpPr>
        <p:spPr>
          <a:xfrm>
            <a:off x="4818888" y="4672584"/>
            <a:ext cx="3840480" cy="182880"/>
          </a:xfrm>
          <a:prstGeom prst="rect">
            <a:avLst/>
          </a:prstGeom>
          <a:noFill/>
          <a:ln/>
        </p:spPr>
        <p:txBody>
          <a:bodyPr wrap="square" lIns="0" tIns="0" rIns="0" bIns="0" rtlCol="0" anchor="ctr"/>
          <a:lstStyle/>
          <a:p>
            <a:pPr indent="0" marL="0">
              <a:buNone/>
            </a:pPr>
            <a:r>
              <a:rPr lang="en-US" sz="800" b="1" dirty="0">
                <a:solidFill>
                  <a:srgbClr val="0D7C7B"/>
                </a:solidFill>
                <a:latin typeface="Calibri" pitchFamily="34" charset="0"/>
                <a:ea typeface="Calibri" pitchFamily="34" charset="-122"/>
                <a:cs typeface="Calibri" pitchFamily="34" charset="-120"/>
              </a:rPr>
              <a:t>Leverage upside: 50–65% debt at 5.5–7.5% → equity IRR 12–15% · At 50% ITC: NPV rises to +$19.3M</a:t>
            </a:r>
            <a:endParaRPr lang="en-US" sz="800" dirty="0"/>
          </a:p>
        </p:txBody>
      </p:sp>
      <p:sp>
        <p:nvSpPr>
          <p:cNvPr id="79" name="Shape 77"/>
          <p:cNvSpPr/>
          <p:nvPr/>
        </p:nvSpPr>
        <p:spPr>
          <a:xfrm>
            <a:off x="0" y="4864608"/>
            <a:ext cx="9144000" cy="274320"/>
          </a:xfrm>
          <a:prstGeom prst="rect">
            <a:avLst/>
          </a:prstGeom>
          <a:solidFill>
            <a:srgbClr val="09182B"/>
          </a:solidFill>
          <a:ln/>
        </p:spPr>
      </p:sp>
      <p:sp>
        <p:nvSpPr>
          <p:cNvPr id="80" name="Text 78"/>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BESS Financial Models — Everett 231 Beacham &amp; Chelsea 283 Eastern (April 2026) · Sensitivity: battery cost vs. revenue IRR; interconnection vs. ITC NPV · Discount rate 8% unlevered · ITC 40% base case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182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PROJECT-LEVEL ECONOMIC IMPACT: WHAT THE TOOL’S SITE SELECTIONS DELIVER</a:t>
            </a:r>
            <a:endParaRPr lang="en-US" sz="1100" dirty="0"/>
          </a:p>
        </p:txBody>
      </p:sp>
      <p:sp>
        <p:nvSpPr>
          <p:cNvPr id="4" name="Shape 2"/>
          <p:cNvSpPr/>
          <p:nvPr/>
        </p:nvSpPr>
        <p:spPr>
          <a:xfrm>
            <a:off x="320040" y="804672"/>
            <a:ext cx="1572768" cy="932688"/>
          </a:xfrm>
          <a:prstGeom prst="rect">
            <a:avLst/>
          </a:prstGeom>
          <a:solidFill>
            <a:srgbClr val="FFFFFF">
              <a:alpha val="10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804672"/>
            <a:ext cx="1572768" cy="45720"/>
          </a:xfrm>
          <a:prstGeom prst="rect">
            <a:avLst/>
          </a:prstGeom>
          <a:solidFill>
            <a:srgbClr val="F0B429"/>
          </a:solidFill>
          <a:ln/>
        </p:spPr>
      </p:sp>
      <p:sp>
        <p:nvSpPr>
          <p:cNvPr id="6" name="Text 4"/>
          <p:cNvSpPr/>
          <p:nvPr/>
        </p:nvSpPr>
        <p:spPr>
          <a:xfrm>
            <a:off x="320040" y="877824"/>
            <a:ext cx="1572768" cy="438912"/>
          </a:xfrm>
          <a:prstGeom prst="rect">
            <a:avLst/>
          </a:prstGeom>
          <a:noFill/>
          <a:ln/>
        </p:spPr>
        <p:txBody>
          <a:bodyPr wrap="square" lIns="0" tIns="0" rIns="0" bIns="0" rtlCol="0" anchor="ctr"/>
          <a:lstStyle/>
          <a:p>
            <a:pPr algn="ctr" indent="0" marL="0">
              <a:buNone/>
            </a:pPr>
            <a:r>
              <a:rPr lang="en-US" sz="2000" b="1" dirty="0">
                <a:solidFill>
                  <a:srgbClr val="F0B429"/>
                </a:solidFill>
                <a:latin typeface="Calibri" pitchFamily="34" charset="0"/>
                <a:ea typeface="Calibri" pitchFamily="34" charset="-122"/>
                <a:cs typeface="Calibri" pitchFamily="34" charset="-120"/>
              </a:rPr>
              <a:t>$169M</a:t>
            </a:r>
            <a:endParaRPr lang="en-US" sz="2000" dirty="0"/>
          </a:p>
        </p:txBody>
      </p:sp>
      <p:sp>
        <p:nvSpPr>
          <p:cNvPr id="7" name="Text 5"/>
          <p:cNvSpPr/>
          <p:nvPr/>
        </p:nvSpPr>
        <p:spPr>
          <a:xfrm>
            <a:off x="320040" y="1335024"/>
            <a:ext cx="1572768" cy="347472"/>
          </a:xfrm>
          <a:prstGeom prst="rect">
            <a:avLst/>
          </a:prstGeom>
          <a:noFill/>
          <a:ln/>
        </p:spPr>
        <p:txBody>
          <a:bodyPr wrap="square" lIns="0" tIns="0" rIns="0" bIns="0" rtlCol="0" anchor="ctr"/>
          <a:lstStyle/>
          <a:p>
            <a:pPr algn="ctr" indent="0" marL="0">
              <a:buNone/>
            </a:pPr>
            <a:r>
              <a:rPr lang="en-US" sz="750" dirty="0">
                <a:solidFill>
                  <a:srgbClr val="A9BAC9"/>
                </a:solidFill>
                <a:latin typeface="Calibri" pitchFamily="34" charset="0"/>
                <a:ea typeface="Calibri" pitchFamily="34" charset="-122"/>
                <a:cs typeface="Calibri" pitchFamily="34" charset="-120"/>
              </a:rPr>
              <a:t>Combined Gross CAPEX (Both Sites)</a:t>
            </a:r>
            <a:endParaRPr lang="en-US" sz="750" dirty="0"/>
          </a:p>
        </p:txBody>
      </p:sp>
      <p:sp>
        <p:nvSpPr>
          <p:cNvPr id="8" name="Shape 6"/>
          <p:cNvSpPr/>
          <p:nvPr/>
        </p:nvSpPr>
        <p:spPr>
          <a:xfrm>
            <a:off x="2057400" y="804672"/>
            <a:ext cx="1572768" cy="932688"/>
          </a:xfrm>
          <a:prstGeom prst="rect">
            <a:avLst/>
          </a:prstGeom>
          <a:solidFill>
            <a:srgbClr val="FFFFFF">
              <a:alpha val="10000"/>
            </a:srgbClr>
          </a:solidFill>
          <a:ln/>
          <a:effectLst>
            <a:outerShdw sx="100000" sy="100000" kx="0" ky="0" algn="bl" rotWithShape="0" blurRad="101600" dist="38100" dir="8100000">
              <a:srgbClr val="000000">
                <a:alpha val="13000"/>
              </a:srgbClr>
            </a:outerShdw>
          </a:effectLst>
        </p:spPr>
      </p:sp>
      <p:sp>
        <p:nvSpPr>
          <p:cNvPr id="9" name="Shape 7"/>
          <p:cNvSpPr/>
          <p:nvPr/>
        </p:nvSpPr>
        <p:spPr>
          <a:xfrm>
            <a:off x="2057400" y="804672"/>
            <a:ext cx="1572768" cy="45720"/>
          </a:xfrm>
          <a:prstGeom prst="rect">
            <a:avLst/>
          </a:prstGeom>
          <a:solidFill>
            <a:srgbClr val="11988F"/>
          </a:solidFill>
          <a:ln/>
        </p:spPr>
      </p:sp>
      <p:sp>
        <p:nvSpPr>
          <p:cNvPr id="10" name="Text 8"/>
          <p:cNvSpPr/>
          <p:nvPr/>
        </p:nvSpPr>
        <p:spPr>
          <a:xfrm>
            <a:off x="2057400" y="877824"/>
            <a:ext cx="1572768" cy="438912"/>
          </a:xfrm>
          <a:prstGeom prst="rect">
            <a:avLst/>
          </a:prstGeom>
          <a:noFill/>
          <a:ln/>
        </p:spPr>
        <p:txBody>
          <a:bodyPr wrap="square" lIns="0" tIns="0" rIns="0" bIns="0" rtlCol="0" anchor="ctr"/>
          <a:lstStyle/>
          <a:p>
            <a:pPr algn="ctr" indent="0" marL="0">
              <a:buNone/>
            </a:pPr>
            <a:r>
              <a:rPr lang="en-US" sz="1700" b="1" dirty="0">
                <a:solidFill>
                  <a:srgbClr val="11988F"/>
                </a:solidFill>
                <a:latin typeface="Calibri" pitchFamily="34" charset="0"/>
                <a:ea typeface="Calibri" pitchFamily="34" charset="-122"/>
                <a:cs typeface="Calibri" pitchFamily="34" charset="-120"/>
              </a:rPr>
              <a:t>$101.5M</a:t>
            </a:r>
            <a:endParaRPr lang="en-US" sz="1700" dirty="0"/>
          </a:p>
        </p:txBody>
      </p:sp>
      <p:sp>
        <p:nvSpPr>
          <p:cNvPr id="11" name="Text 9"/>
          <p:cNvSpPr/>
          <p:nvPr/>
        </p:nvSpPr>
        <p:spPr>
          <a:xfrm>
            <a:off x="2057400" y="1335024"/>
            <a:ext cx="1572768" cy="347472"/>
          </a:xfrm>
          <a:prstGeom prst="rect">
            <a:avLst/>
          </a:prstGeom>
          <a:noFill/>
          <a:ln/>
        </p:spPr>
        <p:txBody>
          <a:bodyPr wrap="square" lIns="0" tIns="0" rIns="0" bIns="0" rtlCol="0" anchor="ctr"/>
          <a:lstStyle/>
          <a:p>
            <a:pPr algn="ctr" indent="0" marL="0">
              <a:buNone/>
            </a:pPr>
            <a:r>
              <a:rPr lang="en-US" sz="750" dirty="0">
                <a:solidFill>
                  <a:srgbClr val="A9BAC9"/>
                </a:solidFill>
                <a:latin typeface="Calibri" pitchFamily="34" charset="0"/>
                <a:ea typeface="Calibri" pitchFamily="34" charset="-122"/>
                <a:cs typeface="Calibri" pitchFamily="34" charset="-120"/>
              </a:rPr>
              <a:t>Net CAPEX at 40% ITC (Combined)</a:t>
            </a:r>
            <a:endParaRPr lang="en-US" sz="750" dirty="0"/>
          </a:p>
        </p:txBody>
      </p:sp>
      <p:sp>
        <p:nvSpPr>
          <p:cNvPr id="12" name="Shape 10"/>
          <p:cNvSpPr/>
          <p:nvPr/>
        </p:nvSpPr>
        <p:spPr>
          <a:xfrm>
            <a:off x="3794760" y="804672"/>
            <a:ext cx="1572768" cy="932688"/>
          </a:xfrm>
          <a:prstGeom prst="rect">
            <a:avLst/>
          </a:prstGeom>
          <a:solidFill>
            <a:srgbClr val="FFFFFF">
              <a:alpha val="10000"/>
            </a:srgbClr>
          </a:solidFill>
          <a:ln/>
          <a:effectLst>
            <a:outerShdw sx="100000" sy="100000" kx="0" ky="0" algn="bl" rotWithShape="0" blurRad="101600" dist="38100" dir="8100000">
              <a:srgbClr val="000000">
                <a:alpha val="13000"/>
              </a:srgbClr>
            </a:outerShdw>
          </a:effectLst>
        </p:spPr>
      </p:sp>
      <p:sp>
        <p:nvSpPr>
          <p:cNvPr id="13" name="Shape 11"/>
          <p:cNvSpPr/>
          <p:nvPr/>
        </p:nvSpPr>
        <p:spPr>
          <a:xfrm>
            <a:off x="3794760" y="804672"/>
            <a:ext cx="1572768" cy="45720"/>
          </a:xfrm>
          <a:prstGeom prst="rect">
            <a:avLst/>
          </a:prstGeom>
          <a:solidFill>
            <a:srgbClr val="F0B429"/>
          </a:solidFill>
          <a:ln/>
        </p:spPr>
      </p:sp>
      <p:sp>
        <p:nvSpPr>
          <p:cNvPr id="14" name="Text 12"/>
          <p:cNvSpPr/>
          <p:nvPr/>
        </p:nvSpPr>
        <p:spPr>
          <a:xfrm>
            <a:off x="3794760" y="877824"/>
            <a:ext cx="1572768" cy="438912"/>
          </a:xfrm>
          <a:prstGeom prst="rect">
            <a:avLst/>
          </a:prstGeom>
          <a:noFill/>
          <a:ln/>
        </p:spPr>
        <p:txBody>
          <a:bodyPr wrap="square" lIns="0" tIns="0" rIns="0" bIns="0" rtlCol="0" anchor="ctr"/>
          <a:lstStyle/>
          <a:p>
            <a:pPr algn="ctr" indent="0" marL="0">
              <a:buNone/>
            </a:pPr>
            <a:r>
              <a:rPr lang="en-US" sz="2000" b="1" dirty="0">
                <a:solidFill>
                  <a:srgbClr val="F0B429"/>
                </a:solidFill>
                <a:latin typeface="Calibri" pitchFamily="34" charset="0"/>
                <a:ea typeface="Calibri" pitchFamily="34" charset="-122"/>
                <a:cs typeface="Calibri" pitchFamily="34" charset="-120"/>
              </a:rPr>
              <a:t>115 MW</a:t>
            </a:r>
            <a:endParaRPr lang="en-US" sz="2000" dirty="0"/>
          </a:p>
        </p:txBody>
      </p:sp>
      <p:sp>
        <p:nvSpPr>
          <p:cNvPr id="15" name="Text 13"/>
          <p:cNvSpPr/>
          <p:nvPr/>
        </p:nvSpPr>
        <p:spPr>
          <a:xfrm>
            <a:off x="3794760" y="1335024"/>
            <a:ext cx="1572768" cy="347472"/>
          </a:xfrm>
          <a:prstGeom prst="rect">
            <a:avLst/>
          </a:prstGeom>
          <a:noFill/>
          <a:ln/>
        </p:spPr>
        <p:txBody>
          <a:bodyPr wrap="square" lIns="0" tIns="0" rIns="0" bIns="0" rtlCol="0" anchor="ctr"/>
          <a:lstStyle/>
          <a:p>
            <a:pPr algn="ctr" indent="0" marL="0">
              <a:buNone/>
            </a:pPr>
            <a:r>
              <a:rPr lang="en-US" sz="750" dirty="0">
                <a:solidFill>
                  <a:srgbClr val="A9BAC9"/>
                </a:solidFill>
                <a:latin typeface="Calibri" pitchFamily="34" charset="0"/>
                <a:ea typeface="Calibri" pitchFamily="34" charset="-122"/>
                <a:cs typeface="Calibri" pitchFamily="34" charset="-120"/>
              </a:rPr>
              <a:t>Combined Modeled Capacity</a:t>
            </a:r>
            <a:endParaRPr lang="en-US" sz="750" dirty="0"/>
          </a:p>
        </p:txBody>
      </p:sp>
      <p:sp>
        <p:nvSpPr>
          <p:cNvPr id="16" name="Shape 14"/>
          <p:cNvSpPr/>
          <p:nvPr/>
        </p:nvSpPr>
        <p:spPr>
          <a:xfrm>
            <a:off x="5532120" y="804672"/>
            <a:ext cx="1572768" cy="932688"/>
          </a:xfrm>
          <a:prstGeom prst="rect">
            <a:avLst/>
          </a:prstGeom>
          <a:solidFill>
            <a:srgbClr val="FFFFFF">
              <a:alpha val="10000"/>
            </a:srgbClr>
          </a:solidFill>
          <a:ln/>
          <a:effectLst>
            <a:outerShdw sx="100000" sy="100000" kx="0" ky="0" algn="bl" rotWithShape="0" blurRad="101600" dist="38100" dir="8100000">
              <a:srgbClr val="000000">
                <a:alpha val="13000"/>
              </a:srgbClr>
            </a:outerShdw>
          </a:effectLst>
        </p:spPr>
      </p:sp>
      <p:sp>
        <p:nvSpPr>
          <p:cNvPr id="17" name="Shape 15"/>
          <p:cNvSpPr/>
          <p:nvPr/>
        </p:nvSpPr>
        <p:spPr>
          <a:xfrm>
            <a:off x="5532120" y="804672"/>
            <a:ext cx="1572768" cy="45720"/>
          </a:xfrm>
          <a:prstGeom prst="rect">
            <a:avLst/>
          </a:prstGeom>
          <a:solidFill>
            <a:srgbClr val="11988F"/>
          </a:solidFill>
          <a:ln/>
        </p:spPr>
      </p:sp>
      <p:sp>
        <p:nvSpPr>
          <p:cNvPr id="18" name="Text 16"/>
          <p:cNvSpPr/>
          <p:nvPr/>
        </p:nvSpPr>
        <p:spPr>
          <a:xfrm>
            <a:off x="5532120" y="877824"/>
            <a:ext cx="1572768" cy="438912"/>
          </a:xfrm>
          <a:prstGeom prst="rect">
            <a:avLst/>
          </a:prstGeom>
          <a:noFill/>
          <a:ln/>
        </p:spPr>
        <p:txBody>
          <a:bodyPr wrap="square" lIns="0" tIns="0" rIns="0" bIns="0" rtlCol="0" anchor="ctr"/>
          <a:lstStyle/>
          <a:p>
            <a:pPr algn="ctr" indent="0" marL="0">
              <a:buNone/>
            </a:pPr>
            <a:r>
              <a:rPr lang="en-US" sz="1700" b="1" dirty="0">
                <a:solidFill>
                  <a:srgbClr val="11988F"/>
                </a:solidFill>
                <a:latin typeface="Calibri" pitchFamily="34" charset="0"/>
                <a:ea typeface="Calibri" pitchFamily="34" charset="-122"/>
                <a:cs typeface="Calibri" pitchFamily="34" charset="-120"/>
              </a:rPr>
              <a:t>$11.6M/yr</a:t>
            </a:r>
            <a:endParaRPr lang="en-US" sz="1700" dirty="0"/>
          </a:p>
        </p:txBody>
      </p:sp>
      <p:sp>
        <p:nvSpPr>
          <p:cNvPr id="19" name="Text 17"/>
          <p:cNvSpPr/>
          <p:nvPr/>
        </p:nvSpPr>
        <p:spPr>
          <a:xfrm>
            <a:off x="5532120" y="1335024"/>
            <a:ext cx="1572768" cy="347472"/>
          </a:xfrm>
          <a:prstGeom prst="rect">
            <a:avLst/>
          </a:prstGeom>
          <a:noFill/>
          <a:ln/>
        </p:spPr>
        <p:txBody>
          <a:bodyPr wrap="square" lIns="0" tIns="0" rIns="0" bIns="0" rtlCol="0" anchor="ctr"/>
          <a:lstStyle/>
          <a:p>
            <a:pPr algn="ctr" indent="0" marL="0">
              <a:buNone/>
            </a:pPr>
            <a:r>
              <a:rPr lang="en-US" sz="750" dirty="0">
                <a:solidFill>
                  <a:srgbClr val="A9BAC9"/>
                </a:solidFill>
                <a:latin typeface="Calibri" pitchFamily="34" charset="0"/>
                <a:ea typeface="Calibri" pitchFamily="34" charset="-122"/>
                <a:cs typeface="Calibri" pitchFamily="34" charset="-120"/>
              </a:rPr>
              <a:t>Combined Year 1 EBITDA</a:t>
            </a:r>
            <a:endParaRPr lang="en-US" sz="750" dirty="0"/>
          </a:p>
        </p:txBody>
      </p:sp>
      <p:sp>
        <p:nvSpPr>
          <p:cNvPr id="20" name="Shape 18"/>
          <p:cNvSpPr/>
          <p:nvPr/>
        </p:nvSpPr>
        <p:spPr>
          <a:xfrm>
            <a:off x="7269480" y="804672"/>
            <a:ext cx="1572768" cy="932688"/>
          </a:xfrm>
          <a:prstGeom prst="rect">
            <a:avLst/>
          </a:prstGeom>
          <a:solidFill>
            <a:srgbClr val="FFFFFF">
              <a:alpha val="10000"/>
            </a:srgbClr>
          </a:solidFill>
          <a:ln/>
          <a:effectLst>
            <a:outerShdw sx="100000" sy="100000" kx="0" ky="0" algn="bl" rotWithShape="0" blurRad="101600" dist="38100" dir="8100000">
              <a:srgbClr val="000000">
                <a:alpha val="13000"/>
              </a:srgbClr>
            </a:outerShdw>
          </a:effectLst>
        </p:spPr>
      </p:sp>
      <p:sp>
        <p:nvSpPr>
          <p:cNvPr id="21" name="Shape 19"/>
          <p:cNvSpPr/>
          <p:nvPr/>
        </p:nvSpPr>
        <p:spPr>
          <a:xfrm>
            <a:off x="7269480" y="804672"/>
            <a:ext cx="1572768" cy="45720"/>
          </a:xfrm>
          <a:prstGeom prst="rect">
            <a:avLst/>
          </a:prstGeom>
          <a:solidFill>
            <a:srgbClr val="F0B429"/>
          </a:solidFill>
          <a:ln/>
        </p:spPr>
      </p:sp>
      <p:sp>
        <p:nvSpPr>
          <p:cNvPr id="22" name="Text 20"/>
          <p:cNvSpPr/>
          <p:nvPr/>
        </p:nvSpPr>
        <p:spPr>
          <a:xfrm>
            <a:off x="7269480" y="877824"/>
            <a:ext cx="1572768" cy="438912"/>
          </a:xfrm>
          <a:prstGeom prst="rect">
            <a:avLst/>
          </a:prstGeom>
          <a:noFill/>
          <a:ln/>
        </p:spPr>
        <p:txBody>
          <a:bodyPr wrap="square" lIns="0" tIns="0" rIns="0" bIns="0" rtlCol="0" anchor="ctr"/>
          <a:lstStyle/>
          <a:p>
            <a:pPr algn="ctr" indent="0" marL="0">
              <a:buNone/>
            </a:pPr>
            <a:r>
              <a:rPr lang="en-US" sz="1700" b="1" dirty="0">
                <a:solidFill>
                  <a:srgbClr val="F0B429"/>
                </a:solidFill>
                <a:latin typeface="Calibri" pitchFamily="34" charset="0"/>
                <a:ea typeface="Calibri" pitchFamily="34" charset="-122"/>
                <a:cs typeface="Calibri" pitchFamily="34" charset="-120"/>
              </a:rPr>
              <a:t>5.9–8.8%</a:t>
            </a:r>
            <a:endParaRPr lang="en-US" sz="1700" dirty="0"/>
          </a:p>
        </p:txBody>
      </p:sp>
      <p:sp>
        <p:nvSpPr>
          <p:cNvPr id="23" name="Text 21"/>
          <p:cNvSpPr/>
          <p:nvPr/>
        </p:nvSpPr>
        <p:spPr>
          <a:xfrm>
            <a:off x="7269480" y="1335024"/>
            <a:ext cx="1572768" cy="347472"/>
          </a:xfrm>
          <a:prstGeom prst="rect">
            <a:avLst/>
          </a:prstGeom>
          <a:noFill/>
          <a:ln/>
        </p:spPr>
        <p:txBody>
          <a:bodyPr wrap="square" lIns="0" tIns="0" rIns="0" bIns="0" rtlCol="0" anchor="ctr"/>
          <a:lstStyle/>
          <a:p>
            <a:pPr algn="ctr" indent="0" marL="0">
              <a:buNone/>
            </a:pPr>
            <a:r>
              <a:rPr lang="en-US" sz="750" dirty="0">
                <a:solidFill>
                  <a:srgbClr val="A9BAC9"/>
                </a:solidFill>
                <a:latin typeface="Calibri" pitchFamily="34" charset="0"/>
                <a:ea typeface="Calibri" pitchFamily="34" charset="-122"/>
                <a:cs typeface="Calibri" pitchFamily="34" charset="-120"/>
              </a:rPr>
              <a:t>Unlevered IRR Range (Both Sites)</a:t>
            </a:r>
            <a:endParaRPr lang="en-US" sz="750" dirty="0"/>
          </a:p>
        </p:txBody>
      </p:sp>
      <p:sp>
        <p:nvSpPr>
          <p:cNvPr id="24" name="Shape 22"/>
          <p:cNvSpPr/>
          <p:nvPr/>
        </p:nvSpPr>
        <p:spPr>
          <a:xfrm>
            <a:off x="320040" y="1847088"/>
            <a:ext cx="4160520" cy="1417320"/>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25" name="Shape 23"/>
          <p:cNvSpPr/>
          <p:nvPr/>
        </p:nvSpPr>
        <p:spPr>
          <a:xfrm>
            <a:off x="320040" y="1847088"/>
            <a:ext cx="73152" cy="1417320"/>
          </a:xfrm>
          <a:prstGeom prst="rect">
            <a:avLst/>
          </a:prstGeom>
          <a:solidFill>
            <a:srgbClr val="0D7C7B"/>
          </a:solidFill>
          <a:ln/>
        </p:spPr>
      </p:sp>
      <p:sp>
        <p:nvSpPr>
          <p:cNvPr id="26" name="Text 24"/>
          <p:cNvSpPr/>
          <p:nvPr/>
        </p:nvSpPr>
        <p:spPr>
          <a:xfrm>
            <a:off x="484632" y="1920240"/>
            <a:ext cx="3913632" cy="256032"/>
          </a:xfrm>
          <a:prstGeom prst="rect">
            <a:avLst/>
          </a:prstGeom>
          <a:noFill/>
          <a:ln/>
        </p:spPr>
        <p:txBody>
          <a:bodyPr wrap="square" lIns="0" tIns="0" rIns="0" bIns="0" rtlCol="0" anchor="ctr"/>
          <a:lstStyle/>
          <a:p>
            <a:pPr indent="0" marL="0">
              <a:buNone/>
            </a:pPr>
            <a:r>
              <a:rPr lang="en-US" sz="1050" b="1" dirty="0">
                <a:solidFill>
                  <a:srgbClr val="0D7C7B"/>
                </a:solidFill>
                <a:latin typeface="Calibri" pitchFamily="34" charset="0"/>
                <a:ea typeface="Calibri" pitchFamily="34" charset="-122"/>
                <a:cs typeface="Calibri" pitchFamily="34" charset="-120"/>
              </a:rPr>
              <a:t>ITC at 40% — Execution Risk Limits Higher Tiers</a:t>
            </a:r>
            <a:endParaRPr lang="en-US" sz="1050" dirty="0"/>
          </a:p>
        </p:txBody>
      </p:sp>
      <p:sp>
        <p:nvSpPr>
          <p:cNvPr id="27" name="Text 25"/>
          <p:cNvSpPr/>
          <p:nvPr/>
        </p:nvSpPr>
        <p:spPr>
          <a:xfrm>
            <a:off x="484632" y="2231136"/>
            <a:ext cx="3913632" cy="969264"/>
          </a:xfrm>
          <a:prstGeom prst="rect">
            <a:avLst/>
          </a:prstGeom>
          <a:noFill/>
          <a:ln/>
        </p:spPr>
        <p:txBody>
          <a:bodyPr wrap="square" lIns="0" tIns="0" rIns="0" bIns="0" rtlCol="0" anchor="ctr"/>
          <a:lstStyle/>
          <a:p>
            <a:pPr indent="0" marL="0">
              <a:lnSpc>
                <a:spcPct val="120000"/>
              </a:lnSpc>
              <a:buNone/>
            </a:pPr>
            <a:r>
              <a:rPr lang="en-US" sz="780" dirty="0">
                <a:solidFill>
                  <a:srgbClr val="A9BAC9"/>
                </a:solidFill>
                <a:latin typeface="Calibri" pitchFamily="34" charset="0"/>
                <a:ea typeface="Calibri" pitchFamily="34" charset="-122"/>
                <a:cs typeface="Calibri" pitchFamily="34" charset="-120"/>
              </a:rPr>
              <a:t>Both models confirm 40% ITC: PWA (30%) + domestic content bonus (+10%). The model commentary explicitly notes that achieving domestic content requires compliance with evolving FEOC supply chain rules — execution risk exists. Energy community and low-income community bonuses (+10–20%) are possible upside but should be modeled as scenarios, not base cases. At 50% ITC, Chelsea NPV rises from +$5.4M to +$19.3M; Everett NPV moves from −$2.2M to +$2.3M.</a:t>
            </a:r>
            <a:endParaRPr lang="en-US" sz="780" dirty="0"/>
          </a:p>
        </p:txBody>
      </p:sp>
      <p:sp>
        <p:nvSpPr>
          <p:cNvPr id="28" name="Shape 26"/>
          <p:cNvSpPr/>
          <p:nvPr/>
        </p:nvSpPr>
        <p:spPr>
          <a:xfrm>
            <a:off x="4663440" y="1847088"/>
            <a:ext cx="4160520" cy="1417320"/>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29" name="Shape 27"/>
          <p:cNvSpPr/>
          <p:nvPr/>
        </p:nvSpPr>
        <p:spPr>
          <a:xfrm>
            <a:off x="4663440" y="1847088"/>
            <a:ext cx="73152" cy="1417320"/>
          </a:xfrm>
          <a:prstGeom prst="rect">
            <a:avLst/>
          </a:prstGeom>
          <a:solidFill>
            <a:srgbClr val="C68A17"/>
          </a:solidFill>
          <a:ln/>
        </p:spPr>
      </p:sp>
      <p:sp>
        <p:nvSpPr>
          <p:cNvPr id="30" name="Text 28"/>
          <p:cNvSpPr/>
          <p:nvPr/>
        </p:nvSpPr>
        <p:spPr>
          <a:xfrm>
            <a:off x="4828032" y="1920240"/>
            <a:ext cx="3913632" cy="256032"/>
          </a:xfrm>
          <a:prstGeom prst="rect">
            <a:avLst/>
          </a:prstGeom>
          <a:noFill/>
          <a:ln/>
        </p:spPr>
        <p:txBody>
          <a:bodyPr wrap="square" lIns="0" tIns="0" rIns="0" bIns="0" rtlCol="0" anchor="ctr"/>
          <a:lstStyle/>
          <a:p>
            <a:pPr indent="0" marL="0">
              <a:buNone/>
            </a:pPr>
            <a:r>
              <a:rPr lang="en-US" sz="1050" b="1" dirty="0">
                <a:solidFill>
                  <a:srgbClr val="C68A17"/>
                </a:solidFill>
                <a:latin typeface="Calibri" pitchFamily="34" charset="0"/>
                <a:ea typeface="Calibri" pitchFamily="34" charset="-122"/>
                <a:cs typeface="Calibri" pitchFamily="34" charset="-120"/>
              </a:rPr>
              <a:t>Interconnection Cost: The Primary Gating Variable</a:t>
            </a:r>
            <a:endParaRPr lang="en-US" sz="1050" dirty="0"/>
          </a:p>
        </p:txBody>
      </p:sp>
      <p:sp>
        <p:nvSpPr>
          <p:cNvPr id="31" name="Text 29"/>
          <p:cNvSpPr/>
          <p:nvPr/>
        </p:nvSpPr>
        <p:spPr>
          <a:xfrm>
            <a:off x="4828032" y="2231136"/>
            <a:ext cx="3913632" cy="969264"/>
          </a:xfrm>
          <a:prstGeom prst="rect">
            <a:avLst/>
          </a:prstGeom>
          <a:noFill/>
          <a:ln/>
        </p:spPr>
        <p:txBody>
          <a:bodyPr wrap="square" lIns="0" tIns="0" rIns="0" bIns="0" rtlCol="0" anchor="ctr"/>
          <a:lstStyle/>
          <a:p>
            <a:pPr indent="0" marL="0">
              <a:lnSpc>
                <a:spcPct val="120000"/>
              </a:lnSpc>
              <a:buNone/>
            </a:pPr>
            <a:r>
              <a:rPr lang="en-US" sz="780" dirty="0">
                <a:solidFill>
                  <a:srgbClr val="A9BAC9"/>
                </a:solidFill>
                <a:latin typeface="Calibri" pitchFamily="34" charset="0"/>
                <a:ea typeface="Calibri" pitchFamily="34" charset="-122"/>
                <a:cs typeface="Calibri" pitchFamily="34" charset="-120"/>
              </a:rPr>
              <a:t>Chelsea’s $12M interconnection is the dominant risk factor. Each $1M increase in interconnection cost reduces NPV by approximately $1.7M at 40% ITC. An escalation to $20M+ renders Chelsea near-breakeven at base revenue. Everett’s $2M feeder connection is low-risk but limits scale to 15 MW — confirming the tool’s Layer 2 (Grid Feasibility) as the binding constraint on project economics, not parcel area.</a:t>
            </a:r>
            <a:endParaRPr lang="en-US" sz="780" dirty="0"/>
          </a:p>
        </p:txBody>
      </p:sp>
      <p:sp>
        <p:nvSpPr>
          <p:cNvPr id="32" name="Shape 30"/>
          <p:cNvSpPr/>
          <p:nvPr/>
        </p:nvSpPr>
        <p:spPr>
          <a:xfrm>
            <a:off x="320040" y="3401568"/>
            <a:ext cx="4160520" cy="1417320"/>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33" name="Shape 31"/>
          <p:cNvSpPr/>
          <p:nvPr/>
        </p:nvSpPr>
        <p:spPr>
          <a:xfrm>
            <a:off x="320040" y="3401568"/>
            <a:ext cx="73152" cy="1417320"/>
          </a:xfrm>
          <a:prstGeom prst="rect">
            <a:avLst/>
          </a:prstGeom>
          <a:solidFill>
            <a:srgbClr val="A83D28"/>
          </a:solidFill>
          <a:ln/>
        </p:spPr>
      </p:sp>
      <p:sp>
        <p:nvSpPr>
          <p:cNvPr id="34" name="Text 32"/>
          <p:cNvSpPr/>
          <p:nvPr/>
        </p:nvSpPr>
        <p:spPr>
          <a:xfrm>
            <a:off x="484632" y="3474720"/>
            <a:ext cx="3913632" cy="256032"/>
          </a:xfrm>
          <a:prstGeom prst="rect">
            <a:avLst/>
          </a:prstGeom>
          <a:noFill/>
          <a:ln/>
        </p:spPr>
        <p:txBody>
          <a:bodyPr wrap="square" lIns="0" tIns="0" rIns="0" bIns="0" rtlCol="0" anchor="ctr"/>
          <a:lstStyle/>
          <a:p>
            <a:pPr indent="0" marL="0">
              <a:buNone/>
            </a:pPr>
            <a:r>
              <a:rPr lang="en-US" sz="1050" b="1" dirty="0">
                <a:solidFill>
                  <a:srgbClr val="A83D28"/>
                </a:solidFill>
                <a:latin typeface="Calibri" pitchFamily="34" charset="0"/>
                <a:ea typeface="Calibri" pitchFamily="34" charset="-122"/>
                <a:cs typeface="Calibri" pitchFamily="34" charset="-120"/>
              </a:rPr>
              <a:t>Revenue Certainty Is the Investment Condition</a:t>
            </a:r>
            <a:endParaRPr lang="en-US" sz="1050" dirty="0"/>
          </a:p>
        </p:txBody>
      </p:sp>
      <p:sp>
        <p:nvSpPr>
          <p:cNvPr id="35" name="Text 33"/>
          <p:cNvSpPr/>
          <p:nvPr/>
        </p:nvSpPr>
        <p:spPr>
          <a:xfrm>
            <a:off x="484632" y="3785616"/>
            <a:ext cx="3913632" cy="969264"/>
          </a:xfrm>
          <a:prstGeom prst="rect">
            <a:avLst/>
          </a:prstGeom>
          <a:noFill/>
          <a:ln/>
        </p:spPr>
        <p:txBody>
          <a:bodyPr wrap="square" lIns="0" tIns="0" rIns="0" bIns="0" rtlCol="0" anchor="ctr"/>
          <a:lstStyle/>
          <a:p>
            <a:pPr indent="0" marL="0">
              <a:lnSpc>
                <a:spcPct val="120000"/>
              </a:lnSpc>
              <a:buNone/>
            </a:pPr>
            <a:r>
              <a:rPr lang="en-US" sz="780" dirty="0">
                <a:solidFill>
                  <a:srgbClr val="A9BAC9"/>
                </a:solidFill>
                <a:latin typeface="Calibri" pitchFamily="34" charset="0"/>
                <a:ea typeface="Calibri" pitchFamily="34" charset="-122"/>
                <a:cs typeface="Calibri" pitchFamily="34" charset="-120"/>
              </a:rPr>
              <a:t>Neither site is investable on a purely merchant basis at $130/kW-yr. Everett produces negative NPV. Chelsea is marginally positive. The path to institutional-grade returns requires: (1) Section 83E CPEC contracts from the MA 2024 Climate Act, (2) CPS multiplier optimization (up to 25× at monthly system peak), or (3) partial revenue hedging via Forward Capacity Market contracts. The tool identifies these revenue mechanisms via Layer 5 — connecting site quality directly to market opportunity.</a:t>
            </a:r>
            <a:endParaRPr lang="en-US" sz="780" dirty="0"/>
          </a:p>
        </p:txBody>
      </p:sp>
      <p:sp>
        <p:nvSpPr>
          <p:cNvPr id="36" name="Shape 34"/>
          <p:cNvSpPr/>
          <p:nvPr/>
        </p:nvSpPr>
        <p:spPr>
          <a:xfrm>
            <a:off x="4663440" y="3401568"/>
            <a:ext cx="4160520" cy="1417320"/>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37" name="Shape 35"/>
          <p:cNvSpPr/>
          <p:nvPr/>
        </p:nvSpPr>
        <p:spPr>
          <a:xfrm>
            <a:off x="4663440" y="3401568"/>
            <a:ext cx="73152" cy="1417320"/>
          </a:xfrm>
          <a:prstGeom prst="rect">
            <a:avLst/>
          </a:prstGeom>
          <a:solidFill>
            <a:srgbClr val="2A6145"/>
          </a:solidFill>
          <a:ln/>
        </p:spPr>
      </p:sp>
      <p:sp>
        <p:nvSpPr>
          <p:cNvPr id="38" name="Text 36"/>
          <p:cNvSpPr/>
          <p:nvPr/>
        </p:nvSpPr>
        <p:spPr>
          <a:xfrm>
            <a:off x="4828032" y="3474720"/>
            <a:ext cx="3913632" cy="256032"/>
          </a:xfrm>
          <a:prstGeom prst="rect">
            <a:avLst/>
          </a:prstGeom>
          <a:noFill/>
          <a:ln/>
        </p:spPr>
        <p:txBody>
          <a:bodyPr wrap="square" lIns="0" tIns="0" rIns="0" bIns="0" rtlCol="0" anchor="ctr"/>
          <a:lstStyle/>
          <a:p>
            <a:pPr indent="0" marL="0">
              <a:buNone/>
            </a:pPr>
            <a:r>
              <a:rPr lang="en-US" sz="1050" b="1" dirty="0">
                <a:solidFill>
                  <a:srgbClr val="2A6145"/>
                </a:solidFill>
                <a:latin typeface="Calibri" pitchFamily="34" charset="0"/>
                <a:ea typeface="Calibri" pitchFamily="34" charset="-122"/>
                <a:cs typeface="Calibri" pitchFamily="34" charset="-120"/>
              </a:rPr>
              <a:t>The Tool as Underwriter — A Refined Narrative</a:t>
            </a:r>
            <a:endParaRPr lang="en-US" sz="1050" dirty="0"/>
          </a:p>
        </p:txBody>
      </p:sp>
      <p:sp>
        <p:nvSpPr>
          <p:cNvPr id="39" name="Text 37"/>
          <p:cNvSpPr/>
          <p:nvPr/>
        </p:nvSpPr>
        <p:spPr>
          <a:xfrm>
            <a:off x="4828032" y="3785616"/>
            <a:ext cx="3913632" cy="969264"/>
          </a:xfrm>
          <a:prstGeom prst="rect">
            <a:avLst/>
          </a:prstGeom>
          <a:noFill/>
          <a:ln/>
        </p:spPr>
        <p:txBody>
          <a:bodyPr wrap="square" lIns="0" tIns="0" rIns="0" bIns="0" rtlCol="0" anchor="ctr"/>
          <a:lstStyle/>
          <a:p>
            <a:pPr indent="0" marL="0">
              <a:lnSpc>
                <a:spcPct val="120000"/>
              </a:lnSpc>
              <a:buNone/>
            </a:pPr>
            <a:r>
              <a:rPr lang="en-US" sz="780" dirty="0">
                <a:solidFill>
                  <a:srgbClr val="A9BAC9"/>
                </a:solidFill>
                <a:latin typeface="Calibri" pitchFamily="34" charset="0"/>
                <a:ea typeface="Calibri" pitchFamily="34" charset="-122"/>
                <a:cs typeface="Calibri" pitchFamily="34" charset="-120"/>
              </a:rPr>
              <a:t>‘We built a tool to fix how BESS sites are selected — then tested it on Chelsea and Everett to show what is actually investable and why.’ The tool’s five-layer MCE scores of 119 and 113 correctly identified the two strongest sites in the study area. Financial model analysis refines the picture: Chelsea (113) is the more viable near-term investment at $144M gross CAPEX; Everett (119) is the highest-quality site requiring contracted revenue to unlock positive returns. This is the tool working as designed.</a:t>
            </a:r>
            <a:endParaRPr lang="en-US" sz="780" dirty="0"/>
          </a:p>
        </p:txBody>
      </p:sp>
      <p:sp>
        <p:nvSpPr>
          <p:cNvPr id="40" name="Shape 38"/>
          <p:cNvSpPr/>
          <p:nvPr/>
        </p:nvSpPr>
        <p:spPr>
          <a:xfrm>
            <a:off x="0" y="4864608"/>
            <a:ext cx="9144000" cy="274320"/>
          </a:xfrm>
          <a:prstGeom prst="rect">
            <a:avLst/>
          </a:prstGeom>
          <a:solidFill>
            <a:srgbClr val="09182B"/>
          </a:solidFill>
          <a:ln/>
        </p:spPr>
      </p:sp>
      <p:sp>
        <p:nvSpPr>
          <p:cNvPr id="41" name="Text 39"/>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BESS Financial Models (April 2026) · ISO-NE 2024 Annual Markets Report · OBBBA Jul 2025 ITC Section 48E · MassCEC 2024 Annual Report · MA 2024 Climate Act Section 83E · MassDOER CPS ACP schedule</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2040"/>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THE TOOL’S UNIQUE ADVANTAGE: ASSESSING ANY CITY IN MASSACHUSETTS</a:t>
            </a:r>
            <a:endParaRPr lang="en-US" sz="1100" dirty="0"/>
          </a:p>
        </p:txBody>
      </p:sp>
      <p:sp>
        <p:nvSpPr>
          <p:cNvPr id="4" name="Text 2"/>
          <p:cNvSpPr/>
          <p:nvPr/>
        </p:nvSpPr>
        <p:spPr>
          <a:xfrm>
            <a:off x="347472" y="749808"/>
            <a:ext cx="8503920" cy="237744"/>
          </a:xfrm>
          <a:prstGeom prst="rect">
            <a:avLst/>
          </a:prstGeom>
          <a:noFill/>
          <a:ln/>
        </p:spPr>
        <p:txBody>
          <a:bodyPr wrap="square" rtlCol="0" anchor="ctr"/>
          <a:lstStyle/>
          <a:p>
            <a:pPr indent="0" marL="0">
              <a:buNone/>
            </a:pPr>
            <a:r>
              <a:rPr lang="en-US" sz="950" dirty="0">
                <a:solidFill>
                  <a:srgbClr val="617283"/>
                </a:solidFill>
                <a:latin typeface="Calibri" pitchFamily="34" charset="0"/>
                <a:ea typeface="Calibri" pitchFamily="34" charset="-122"/>
                <a:cs typeface="Calibri" pitchFamily="34" charset="-120"/>
              </a:rPr>
              <a:t>Suffolk and Middlesex were chosen for their demographic, economic, and grid representativeness of Massachusetts. The five-layer MCE framework — validated by financial models for 231 Beacham St and 283 Eastern Ave — scales to every county.</a:t>
            </a:r>
            <a:endParaRPr lang="en-US" sz="950" dirty="0"/>
          </a:p>
        </p:txBody>
      </p:sp>
      <p:sp>
        <p:nvSpPr>
          <p:cNvPr id="5" name="Shape 3"/>
          <p:cNvSpPr/>
          <p:nvPr/>
        </p:nvSpPr>
        <p:spPr>
          <a:xfrm>
            <a:off x="320040" y="1042416"/>
            <a:ext cx="8503920" cy="329184"/>
          </a:xfrm>
          <a:prstGeom prst="rect">
            <a:avLst/>
          </a:prstGeom>
          <a:solidFill>
            <a:srgbClr val="0E2040"/>
          </a:solidFill>
          <a:ln/>
        </p:spPr>
      </p:sp>
      <p:sp>
        <p:nvSpPr>
          <p:cNvPr id="6" name="Text 4"/>
          <p:cNvSpPr/>
          <p:nvPr/>
        </p:nvSpPr>
        <p:spPr>
          <a:xfrm>
            <a:off x="384048" y="1078992"/>
            <a:ext cx="1828800" cy="256032"/>
          </a:xfrm>
          <a:prstGeom prst="rect">
            <a:avLst/>
          </a:prstGeom>
          <a:noFill/>
          <a:ln/>
        </p:spPr>
        <p:txBody>
          <a:bodyPr wrap="square" lIns="0" tIns="0" rIns="0" bIns="0" rtlCol="0" anchor="ctr"/>
          <a:lstStyle/>
          <a:p>
            <a:pPr algn="ctr" indent="0" marL="0">
              <a:buNone/>
            </a:pPr>
            <a:r>
              <a:rPr lang="en-US" sz="900" b="1" dirty="0">
                <a:solidFill>
                  <a:srgbClr val="A9BAC9"/>
                </a:solidFill>
                <a:latin typeface="Calibri" pitchFamily="34" charset="0"/>
                <a:ea typeface="Calibri" pitchFamily="34" charset="-122"/>
                <a:cs typeface="Calibri" pitchFamily="34" charset="-120"/>
              </a:rPr>
              <a:t>Feature</a:t>
            </a:r>
            <a:endParaRPr lang="en-US" sz="900" dirty="0"/>
          </a:p>
        </p:txBody>
      </p:sp>
      <p:sp>
        <p:nvSpPr>
          <p:cNvPr id="7" name="Text 5"/>
          <p:cNvSpPr/>
          <p:nvPr/>
        </p:nvSpPr>
        <p:spPr>
          <a:xfrm>
            <a:off x="2286000" y="1078992"/>
            <a:ext cx="2834640" cy="256032"/>
          </a:xfrm>
          <a:prstGeom prst="rect">
            <a:avLst/>
          </a:prstGeom>
          <a:noFill/>
          <a:ln/>
        </p:spPr>
        <p:txBody>
          <a:bodyPr wrap="square" lIns="0" tIns="0" rIns="0" bIns="0" rtlCol="0" anchor="ctr"/>
          <a:lstStyle/>
          <a:p>
            <a:pPr algn="ctr" indent="0" marL="0">
              <a:buNone/>
            </a:pPr>
            <a:r>
              <a:rPr lang="en-US" sz="900" b="1" dirty="0">
                <a:solidFill>
                  <a:srgbClr val="F0B429"/>
                </a:solidFill>
                <a:latin typeface="Calibri" pitchFamily="34" charset="0"/>
                <a:ea typeface="Calibri" pitchFamily="34" charset="-122"/>
                <a:cs typeface="Calibri" pitchFamily="34" charset="-120"/>
              </a:rPr>
              <a:t>Single-Factor Analysis</a:t>
            </a:r>
            <a:endParaRPr lang="en-US" sz="900" dirty="0"/>
          </a:p>
          <a:p>
            <a:pPr algn="ctr" indent="0" marL="0">
              <a:buNone/>
            </a:pPr>
            <a:r>
              <a:rPr lang="en-US" sz="900" b="1" dirty="0">
                <a:solidFill>
                  <a:srgbClr val="F0B429"/>
                </a:solidFill>
                <a:latin typeface="Calibri" pitchFamily="34" charset="0"/>
                <a:ea typeface="Calibri" pitchFamily="34" charset="-122"/>
                <a:cs typeface="Calibri" pitchFamily="34" charset="-120"/>
              </a:rPr>
              <a:t>(Worcester MCE Baseline)</a:t>
            </a:r>
            <a:endParaRPr lang="en-US" sz="900" dirty="0"/>
          </a:p>
        </p:txBody>
      </p:sp>
      <p:sp>
        <p:nvSpPr>
          <p:cNvPr id="8" name="Text 6"/>
          <p:cNvSpPr/>
          <p:nvPr/>
        </p:nvSpPr>
        <p:spPr>
          <a:xfrm>
            <a:off x="5166360" y="1078992"/>
            <a:ext cx="3611880" cy="256032"/>
          </a:xfrm>
          <a:prstGeom prst="rect">
            <a:avLst/>
          </a:prstGeom>
          <a:noFill/>
          <a:ln/>
        </p:spPr>
        <p:txBody>
          <a:bodyPr wrap="square" lIns="0" tIns="0" rIns="0" bIns="0" rtlCol="0" anchor="ctr"/>
          <a:lstStyle/>
          <a:p>
            <a:pPr algn="ctr" indent="0" marL="0">
              <a:buNone/>
            </a:pPr>
            <a:r>
              <a:rPr lang="en-US" sz="900" b="1" dirty="0">
                <a:solidFill>
                  <a:srgbClr val="11988F"/>
                </a:solidFill>
                <a:latin typeface="Calibri" pitchFamily="34" charset="0"/>
                <a:ea typeface="Calibri" pitchFamily="34" charset="-122"/>
                <a:cs typeface="Calibri" pitchFamily="34" charset="-120"/>
              </a:rPr>
              <a:t>Five-Layer BESS Siting Tool</a:t>
            </a:r>
            <a:endParaRPr lang="en-US" sz="900" dirty="0"/>
          </a:p>
          <a:p>
            <a:pPr algn="ctr" indent="0" marL="0">
              <a:buNone/>
            </a:pPr>
            <a:r>
              <a:rPr lang="en-US" sz="900" b="1" dirty="0">
                <a:solidFill>
                  <a:srgbClr val="11988F"/>
                </a:solidFill>
                <a:latin typeface="Calibri" pitchFamily="34" charset="0"/>
                <a:ea typeface="Calibri" pitchFamily="34" charset="-122"/>
                <a:cs typeface="Calibri" pitchFamily="34" charset="-120"/>
              </a:rPr>
              <a:t>(Our Approach — Validated by Financial Models)</a:t>
            </a:r>
            <a:endParaRPr lang="en-US" sz="900" dirty="0"/>
          </a:p>
        </p:txBody>
      </p:sp>
      <p:sp>
        <p:nvSpPr>
          <p:cNvPr id="9" name="Shape 7"/>
          <p:cNvSpPr/>
          <p:nvPr/>
        </p:nvSpPr>
        <p:spPr>
          <a:xfrm>
            <a:off x="320040" y="1408176"/>
            <a:ext cx="8503920" cy="420624"/>
          </a:xfrm>
          <a:prstGeom prst="rect">
            <a:avLst/>
          </a:prstGeom>
          <a:solidFill>
            <a:srgbClr val="FFFFFF"/>
          </a:solidFill>
          <a:ln/>
        </p:spPr>
      </p:sp>
      <p:sp>
        <p:nvSpPr>
          <p:cNvPr id="10" name="Text 8"/>
          <p:cNvSpPr/>
          <p:nvPr/>
        </p:nvSpPr>
        <p:spPr>
          <a:xfrm>
            <a:off x="384048" y="1481328"/>
            <a:ext cx="1828800" cy="274320"/>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EJ Compliance</a:t>
            </a:r>
            <a:endParaRPr lang="en-US" sz="950" dirty="0"/>
          </a:p>
        </p:txBody>
      </p:sp>
      <p:sp>
        <p:nvSpPr>
          <p:cNvPr id="11" name="Shape 9"/>
          <p:cNvSpPr/>
          <p:nvPr/>
        </p:nvSpPr>
        <p:spPr>
          <a:xfrm>
            <a:off x="2286000" y="1444752"/>
            <a:ext cx="2834640" cy="347472"/>
          </a:xfrm>
          <a:prstGeom prst="rect">
            <a:avLst/>
          </a:prstGeom>
          <a:solidFill>
            <a:srgbClr val="A83D28">
              <a:alpha val="10000"/>
            </a:srgbClr>
          </a:solidFill>
          <a:ln/>
        </p:spPr>
      </p:sp>
      <p:sp>
        <p:nvSpPr>
          <p:cNvPr id="12" name="Text 10"/>
          <p:cNvSpPr/>
          <p:nvPr/>
        </p:nvSpPr>
        <p:spPr>
          <a:xfrm>
            <a:off x="2359152" y="1481328"/>
            <a:ext cx="2688336" cy="274320"/>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Population density proxy</a:t>
            </a:r>
            <a:endParaRPr lang="en-US" sz="850" dirty="0"/>
          </a:p>
        </p:txBody>
      </p:sp>
      <p:sp>
        <p:nvSpPr>
          <p:cNvPr id="13" name="Shape 11"/>
          <p:cNvSpPr/>
          <p:nvPr/>
        </p:nvSpPr>
        <p:spPr>
          <a:xfrm>
            <a:off x="5166360" y="1444752"/>
            <a:ext cx="3593592" cy="347472"/>
          </a:xfrm>
          <a:prstGeom prst="rect">
            <a:avLst/>
          </a:prstGeom>
          <a:solidFill>
            <a:srgbClr val="2A6145">
              <a:alpha val="10000"/>
            </a:srgbClr>
          </a:solidFill>
          <a:ln/>
        </p:spPr>
      </p:sp>
      <p:sp>
        <p:nvSpPr>
          <p:cNvPr id="14" name="Text 12"/>
          <p:cNvSpPr/>
          <p:nvPr/>
        </p:nvSpPr>
        <p:spPr>
          <a:xfrm>
            <a:off x="5239512" y="1481328"/>
            <a:ext cx="3447288" cy="274320"/>
          </a:xfrm>
          <a:prstGeom prst="rect">
            <a:avLst/>
          </a:prstGeom>
          <a:noFill/>
          <a:ln/>
        </p:spPr>
        <p:txBody>
          <a:bodyPr wrap="square" lIns="0" tIns="0" rIns="0" bIns="0" rtlCol="0" anchor="ctr"/>
          <a:lstStyle/>
          <a:p>
            <a:pPr indent="0" marL="0">
              <a:buNone/>
            </a:pPr>
            <a:r>
              <a:rPr lang="en-US" sz="850" dirty="0">
                <a:solidFill>
                  <a:srgbClr val="09182B"/>
                </a:solidFill>
                <a:latin typeface="Calibri" pitchFamily="34" charset="0"/>
                <a:ea typeface="Calibri" pitchFamily="34" charset="-122"/>
                <a:cs typeface="Calibri" pitchFamily="34" charset="-120"/>
              </a:rPr>
              <a:t>OEJE block group designation + CIA 33 indicators + energy burden</a:t>
            </a:r>
            <a:endParaRPr lang="en-US" sz="850" dirty="0"/>
          </a:p>
        </p:txBody>
      </p:sp>
      <p:sp>
        <p:nvSpPr>
          <p:cNvPr id="15" name="Shape 13"/>
          <p:cNvSpPr/>
          <p:nvPr/>
        </p:nvSpPr>
        <p:spPr>
          <a:xfrm>
            <a:off x="320040" y="1865376"/>
            <a:ext cx="8503920" cy="420624"/>
          </a:xfrm>
          <a:prstGeom prst="rect">
            <a:avLst/>
          </a:prstGeom>
          <a:solidFill>
            <a:srgbClr val="F4F1EB"/>
          </a:solidFill>
          <a:ln/>
        </p:spPr>
      </p:sp>
      <p:sp>
        <p:nvSpPr>
          <p:cNvPr id="16" name="Text 14"/>
          <p:cNvSpPr/>
          <p:nvPr/>
        </p:nvSpPr>
        <p:spPr>
          <a:xfrm>
            <a:off x="384048" y="1938528"/>
            <a:ext cx="1828800" cy="274320"/>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Revenue Model</a:t>
            </a:r>
            <a:endParaRPr lang="en-US" sz="950" dirty="0"/>
          </a:p>
        </p:txBody>
      </p:sp>
      <p:sp>
        <p:nvSpPr>
          <p:cNvPr id="17" name="Shape 15"/>
          <p:cNvSpPr/>
          <p:nvPr/>
        </p:nvSpPr>
        <p:spPr>
          <a:xfrm>
            <a:off x="2286000" y="1901952"/>
            <a:ext cx="2834640" cy="347472"/>
          </a:xfrm>
          <a:prstGeom prst="rect">
            <a:avLst/>
          </a:prstGeom>
          <a:solidFill>
            <a:srgbClr val="A83D28">
              <a:alpha val="10000"/>
            </a:srgbClr>
          </a:solidFill>
          <a:ln/>
        </p:spPr>
      </p:sp>
      <p:sp>
        <p:nvSpPr>
          <p:cNvPr id="18" name="Text 16"/>
          <p:cNvSpPr/>
          <p:nvPr/>
        </p:nvSpPr>
        <p:spPr>
          <a:xfrm>
            <a:off x="2359152" y="1938528"/>
            <a:ext cx="2688336" cy="274320"/>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Not included</a:t>
            </a:r>
            <a:endParaRPr lang="en-US" sz="850" dirty="0"/>
          </a:p>
        </p:txBody>
      </p:sp>
      <p:sp>
        <p:nvSpPr>
          <p:cNvPr id="19" name="Shape 17"/>
          <p:cNvSpPr/>
          <p:nvPr/>
        </p:nvSpPr>
        <p:spPr>
          <a:xfrm>
            <a:off x="5166360" y="1901952"/>
            <a:ext cx="3593592" cy="347472"/>
          </a:xfrm>
          <a:prstGeom prst="rect">
            <a:avLst/>
          </a:prstGeom>
          <a:solidFill>
            <a:srgbClr val="2A6145">
              <a:alpha val="10000"/>
            </a:srgbClr>
          </a:solidFill>
          <a:ln/>
        </p:spPr>
      </p:sp>
      <p:sp>
        <p:nvSpPr>
          <p:cNvPr id="20" name="Text 18"/>
          <p:cNvSpPr/>
          <p:nvPr/>
        </p:nvSpPr>
        <p:spPr>
          <a:xfrm>
            <a:off x="5239512" y="1938528"/>
            <a:ext cx="3447288" cy="274320"/>
          </a:xfrm>
          <a:prstGeom prst="rect">
            <a:avLst/>
          </a:prstGeom>
          <a:noFill/>
          <a:ln/>
        </p:spPr>
        <p:txBody>
          <a:bodyPr wrap="square" lIns="0" tIns="0" rIns="0" bIns="0" rtlCol="0" anchor="ctr"/>
          <a:lstStyle/>
          <a:p>
            <a:pPr indent="0" marL="0">
              <a:buNone/>
            </a:pPr>
            <a:r>
              <a:rPr lang="en-US" sz="850" dirty="0">
                <a:solidFill>
                  <a:srgbClr val="09182B"/>
                </a:solidFill>
                <a:latin typeface="Calibri" pitchFamily="34" charset="0"/>
                <a:ea typeface="Calibri" pitchFamily="34" charset="-122"/>
                <a:cs typeface="Calibri" pitchFamily="34" charset="-120"/>
              </a:rPr>
              <a:t>ISO-NE zone LMP + FCM + CPS + SMART adder + ITC (40% base, 50% upside)</a:t>
            </a:r>
            <a:endParaRPr lang="en-US" sz="850" dirty="0"/>
          </a:p>
        </p:txBody>
      </p:sp>
      <p:sp>
        <p:nvSpPr>
          <p:cNvPr id="21" name="Shape 19"/>
          <p:cNvSpPr/>
          <p:nvPr/>
        </p:nvSpPr>
        <p:spPr>
          <a:xfrm>
            <a:off x="320040" y="2322576"/>
            <a:ext cx="8503920" cy="420624"/>
          </a:xfrm>
          <a:prstGeom prst="rect">
            <a:avLst/>
          </a:prstGeom>
          <a:solidFill>
            <a:srgbClr val="FFFFFF"/>
          </a:solidFill>
          <a:ln/>
        </p:spPr>
      </p:sp>
      <p:sp>
        <p:nvSpPr>
          <p:cNvPr id="22" name="Text 20"/>
          <p:cNvSpPr/>
          <p:nvPr/>
        </p:nvSpPr>
        <p:spPr>
          <a:xfrm>
            <a:off x="384048" y="2395728"/>
            <a:ext cx="1828800" cy="274320"/>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Legal / Zoning</a:t>
            </a:r>
            <a:endParaRPr lang="en-US" sz="950" dirty="0"/>
          </a:p>
        </p:txBody>
      </p:sp>
      <p:sp>
        <p:nvSpPr>
          <p:cNvPr id="23" name="Shape 21"/>
          <p:cNvSpPr/>
          <p:nvPr/>
        </p:nvSpPr>
        <p:spPr>
          <a:xfrm>
            <a:off x="2286000" y="2359152"/>
            <a:ext cx="2834640" cy="347472"/>
          </a:xfrm>
          <a:prstGeom prst="rect">
            <a:avLst/>
          </a:prstGeom>
          <a:solidFill>
            <a:srgbClr val="A83D28">
              <a:alpha val="10000"/>
            </a:srgbClr>
          </a:solidFill>
          <a:ln/>
        </p:spPr>
      </p:sp>
      <p:sp>
        <p:nvSpPr>
          <p:cNvPr id="24" name="Text 22"/>
          <p:cNvSpPr/>
          <p:nvPr/>
        </p:nvSpPr>
        <p:spPr>
          <a:xfrm>
            <a:off x="2359152" y="2395728"/>
            <a:ext cx="2688336" cy="274320"/>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Not included</a:t>
            </a:r>
            <a:endParaRPr lang="en-US" sz="850" dirty="0"/>
          </a:p>
        </p:txBody>
      </p:sp>
      <p:sp>
        <p:nvSpPr>
          <p:cNvPr id="25" name="Shape 23"/>
          <p:cNvSpPr/>
          <p:nvPr/>
        </p:nvSpPr>
        <p:spPr>
          <a:xfrm>
            <a:off x="5166360" y="2359152"/>
            <a:ext cx="3593592" cy="347472"/>
          </a:xfrm>
          <a:prstGeom prst="rect">
            <a:avLst/>
          </a:prstGeom>
          <a:solidFill>
            <a:srgbClr val="2A6145">
              <a:alpha val="10000"/>
            </a:srgbClr>
          </a:solidFill>
          <a:ln/>
        </p:spPr>
      </p:sp>
      <p:sp>
        <p:nvSpPr>
          <p:cNvPr id="26" name="Text 24"/>
          <p:cNvSpPr/>
          <p:nvPr/>
        </p:nvSpPr>
        <p:spPr>
          <a:xfrm>
            <a:off x="5239512" y="2395728"/>
            <a:ext cx="3447288" cy="274320"/>
          </a:xfrm>
          <a:prstGeom prst="rect">
            <a:avLst/>
          </a:prstGeom>
          <a:noFill/>
          <a:ln/>
        </p:spPr>
        <p:txBody>
          <a:bodyPr wrap="square" lIns="0" tIns="0" rIns="0" bIns="0" rtlCol="0" anchor="ctr"/>
          <a:lstStyle/>
          <a:p>
            <a:pPr indent="0" marL="0">
              <a:buNone/>
            </a:pPr>
            <a:r>
              <a:rPr lang="en-US" sz="850" dirty="0">
                <a:solidFill>
                  <a:srgbClr val="09182B"/>
                </a:solidFill>
                <a:latin typeface="Calibri" pitchFamily="34" charset="0"/>
                <a:ea typeface="Calibri" pitchFamily="34" charset="-122"/>
                <a:cs typeface="Calibri" pitchFamily="34" charset="-120"/>
              </a:rPr>
              <a:t>DOER Model Bylaw tiers + EFSB jurisdiction + Dover Amendment status</a:t>
            </a:r>
            <a:endParaRPr lang="en-US" sz="850" dirty="0"/>
          </a:p>
        </p:txBody>
      </p:sp>
      <p:sp>
        <p:nvSpPr>
          <p:cNvPr id="27" name="Shape 25"/>
          <p:cNvSpPr/>
          <p:nvPr/>
        </p:nvSpPr>
        <p:spPr>
          <a:xfrm>
            <a:off x="320040" y="2779776"/>
            <a:ext cx="8503920" cy="420624"/>
          </a:xfrm>
          <a:prstGeom prst="rect">
            <a:avLst/>
          </a:prstGeom>
          <a:solidFill>
            <a:srgbClr val="F4F1EB"/>
          </a:solidFill>
          <a:ln/>
        </p:spPr>
      </p:sp>
      <p:sp>
        <p:nvSpPr>
          <p:cNvPr id="28" name="Text 26"/>
          <p:cNvSpPr/>
          <p:nvPr/>
        </p:nvSpPr>
        <p:spPr>
          <a:xfrm>
            <a:off x="384048" y="2852928"/>
            <a:ext cx="1828800" cy="274320"/>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Audience Design</a:t>
            </a:r>
            <a:endParaRPr lang="en-US" sz="950" dirty="0"/>
          </a:p>
        </p:txBody>
      </p:sp>
      <p:sp>
        <p:nvSpPr>
          <p:cNvPr id="29" name="Shape 27"/>
          <p:cNvSpPr/>
          <p:nvPr/>
        </p:nvSpPr>
        <p:spPr>
          <a:xfrm>
            <a:off x="2286000" y="2816352"/>
            <a:ext cx="2834640" cy="347472"/>
          </a:xfrm>
          <a:prstGeom prst="rect">
            <a:avLst/>
          </a:prstGeom>
          <a:solidFill>
            <a:srgbClr val="A83D28">
              <a:alpha val="10000"/>
            </a:srgbClr>
          </a:solidFill>
          <a:ln/>
        </p:spPr>
      </p:sp>
      <p:sp>
        <p:nvSpPr>
          <p:cNvPr id="30" name="Text 28"/>
          <p:cNvSpPr/>
          <p:nvPr/>
        </p:nvSpPr>
        <p:spPr>
          <a:xfrm>
            <a:off x="2359152" y="2852928"/>
            <a:ext cx="2688336" cy="274320"/>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Single (technical)</a:t>
            </a:r>
            <a:endParaRPr lang="en-US" sz="850" dirty="0"/>
          </a:p>
        </p:txBody>
      </p:sp>
      <p:sp>
        <p:nvSpPr>
          <p:cNvPr id="31" name="Shape 29"/>
          <p:cNvSpPr/>
          <p:nvPr/>
        </p:nvSpPr>
        <p:spPr>
          <a:xfrm>
            <a:off x="5166360" y="2816352"/>
            <a:ext cx="3593592" cy="347472"/>
          </a:xfrm>
          <a:prstGeom prst="rect">
            <a:avLst/>
          </a:prstGeom>
          <a:solidFill>
            <a:srgbClr val="2A6145">
              <a:alpha val="10000"/>
            </a:srgbClr>
          </a:solidFill>
          <a:ln/>
        </p:spPr>
      </p:sp>
      <p:sp>
        <p:nvSpPr>
          <p:cNvPr id="32" name="Text 30"/>
          <p:cNvSpPr/>
          <p:nvPr/>
        </p:nvSpPr>
        <p:spPr>
          <a:xfrm>
            <a:off x="5239512" y="2852928"/>
            <a:ext cx="3447288" cy="274320"/>
          </a:xfrm>
          <a:prstGeom prst="rect">
            <a:avLst/>
          </a:prstGeom>
          <a:noFill/>
          <a:ln/>
        </p:spPr>
        <p:txBody>
          <a:bodyPr wrap="square" lIns="0" tIns="0" rIns="0" bIns="0" rtlCol="0" anchor="ctr"/>
          <a:lstStyle/>
          <a:p>
            <a:pPr indent="0" marL="0">
              <a:buNone/>
            </a:pPr>
            <a:r>
              <a:rPr lang="en-US" sz="850" dirty="0">
                <a:solidFill>
                  <a:srgbClr val="09182B"/>
                </a:solidFill>
                <a:latin typeface="Calibri" pitchFamily="34" charset="0"/>
                <a:ea typeface="Calibri" pitchFamily="34" charset="-122"/>
                <a:cs typeface="Calibri" pitchFamily="34" charset="-120"/>
              </a:rPr>
              <a:t>Three simultaneous: MassDOER, developers, community stakeholders</a:t>
            </a:r>
            <a:endParaRPr lang="en-US" sz="850" dirty="0"/>
          </a:p>
        </p:txBody>
      </p:sp>
      <p:sp>
        <p:nvSpPr>
          <p:cNvPr id="33" name="Shape 31"/>
          <p:cNvSpPr/>
          <p:nvPr/>
        </p:nvSpPr>
        <p:spPr>
          <a:xfrm>
            <a:off x="320040" y="3236976"/>
            <a:ext cx="8503920" cy="420624"/>
          </a:xfrm>
          <a:prstGeom prst="rect">
            <a:avLst/>
          </a:prstGeom>
          <a:solidFill>
            <a:srgbClr val="FFFFFF"/>
          </a:solidFill>
          <a:ln/>
        </p:spPr>
      </p:sp>
      <p:sp>
        <p:nvSpPr>
          <p:cNvPr id="34" name="Text 32"/>
          <p:cNvSpPr/>
          <p:nvPr/>
        </p:nvSpPr>
        <p:spPr>
          <a:xfrm>
            <a:off x="384048" y="3310128"/>
            <a:ext cx="1828800" cy="274320"/>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Site Validation</a:t>
            </a:r>
            <a:endParaRPr lang="en-US" sz="950" dirty="0"/>
          </a:p>
        </p:txBody>
      </p:sp>
      <p:sp>
        <p:nvSpPr>
          <p:cNvPr id="35" name="Shape 33"/>
          <p:cNvSpPr/>
          <p:nvPr/>
        </p:nvSpPr>
        <p:spPr>
          <a:xfrm>
            <a:off x="2286000" y="3273552"/>
            <a:ext cx="2834640" cy="347472"/>
          </a:xfrm>
          <a:prstGeom prst="rect">
            <a:avLst/>
          </a:prstGeom>
          <a:solidFill>
            <a:srgbClr val="A83D28">
              <a:alpha val="10000"/>
            </a:srgbClr>
          </a:solidFill>
          <a:ln/>
        </p:spPr>
      </p:sp>
      <p:sp>
        <p:nvSpPr>
          <p:cNvPr id="36" name="Text 34"/>
          <p:cNvSpPr/>
          <p:nvPr/>
        </p:nvSpPr>
        <p:spPr>
          <a:xfrm>
            <a:off x="2359152" y="3310128"/>
            <a:ext cx="2688336" cy="274320"/>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Predictive only</a:t>
            </a:r>
            <a:endParaRPr lang="en-US" sz="850" dirty="0"/>
          </a:p>
        </p:txBody>
      </p:sp>
      <p:sp>
        <p:nvSpPr>
          <p:cNvPr id="37" name="Shape 35"/>
          <p:cNvSpPr/>
          <p:nvPr/>
        </p:nvSpPr>
        <p:spPr>
          <a:xfrm>
            <a:off x="5166360" y="3273552"/>
            <a:ext cx="3593592" cy="347472"/>
          </a:xfrm>
          <a:prstGeom prst="rect">
            <a:avLst/>
          </a:prstGeom>
          <a:solidFill>
            <a:srgbClr val="2A6145">
              <a:alpha val="10000"/>
            </a:srgbClr>
          </a:solidFill>
          <a:ln/>
        </p:spPr>
      </p:sp>
      <p:sp>
        <p:nvSpPr>
          <p:cNvPr id="38" name="Text 36"/>
          <p:cNvSpPr/>
          <p:nvPr/>
        </p:nvSpPr>
        <p:spPr>
          <a:xfrm>
            <a:off x="5239512" y="3310128"/>
            <a:ext cx="3447288" cy="274320"/>
          </a:xfrm>
          <a:prstGeom prst="rect">
            <a:avLst/>
          </a:prstGeom>
          <a:noFill/>
          <a:ln/>
        </p:spPr>
        <p:txBody>
          <a:bodyPr wrap="square" lIns="0" tIns="0" rIns="0" bIns="0" rtlCol="0" anchor="ctr"/>
          <a:lstStyle/>
          <a:p>
            <a:pPr indent="0" marL="0">
              <a:buNone/>
            </a:pPr>
            <a:r>
              <a:rPr lang="en-US" sz="850" dirty="0">
                <a:solidFill>
                  <a:srgbClr val="09182B"/>
                </a:solidFill>
                <a:latin typeface="Calibri" pitchFamily="34" charset="0"/>
                <a:ea typeface="Calibri" pitchFamily="34" charset="-122"/>
                <a:cs typeface="Calibri" pitchFamily="34" charset="-120"/>
              </a:rPr>
              <a:t>MCE top scores validated by project financial models (Everett &amp; Chelsea)</a:t>
            </a:r>
            <a:endParaRPr lang="en-US" sz="850" dirty="0"/>
          </a:p>
        </p:txBody>
      </p:sp>
      <p:sp>
        <p:nvSpPr>
          <p:cNvPr id="39" name="Shape 37"/>
          <p:cNvSpPr/>
          <p:nvPr/>
        </p:nvSpPr>
        <p:spPr>
          <a:xfrm>
            <a:off x="320040" y="3694176"/>
            <a:ext cx="8503920" cy="420624"/>
          </a:xfrm>
          <a:prstGeom prst="rect">
            <a:avLst/>
          </a:prstGeom>
          <a:solidFill>
            <a:srgbClr val="F4F1EB"/>
          </a:solidFill>
          <a:ln/>
        </p:spPr>
      </p:sp>
      <p:sp>
        <p:nvSpPr>
          <p:cNvPr id="40" name="Text 38"/>
          <p:cNvSpPr/>
          <p:nvPr/>
        </p:nvSpPr>
        <p:spPr>
          <a:xfrm>
            <a:off x="384048" y="3767328"/>
            <a:ext cx="1828800" cy="274320"/>
          </a:xfrm>
          <a:prstGeom prst="rect">
            <a:avLst/>
          </a:prstGeom>
          <a:noFill/>
          <a:ln/>
        </p:spPr>
        <p:txBody>
          <a:bodyPr wrap="square" lIns="0" tIns="0" rIns="0" bIns="0" rtlCol="0" anchor="ctr"/>
          <a:lstStyle/>
          <a:p>
            <a:pPr indent="0" marL="0">
              <a:buNone/>
            </a:pPr>
            <a:r>
              <a:rPr lang="en-US" sz="950" b="1" dirty="0">
                <a:solidFill>
                  <a:srgbClr val="09182B"/>
                </a:solidFill>
                <a:latin typeface="Calibri" pitchFamily="34" charset="0"/>
                <a:ea typeface="Calibri" pitchFamily="34" charset="-122"/>
                <a:cs typeface="Calibri" pitchFamily="34" charset="-120"/>
              </a:rPr>
              <a:t>Scalability</a:t>
            </a:r>
            <a:endParaRPr lang="en-US" sz="950" dirty="0"/>
          </a:p>
        </p:txBody>
      </p:sp>
      <p:sp>
        <p:nvSpPr>
          <p:cNvPr id="41" name="Shape 39"/>
          <p:cNvSpPr/>
          <p:nvPr/>
        </p:nvSpPr>
        <p:spPr>
          <a:xfrm>
            <a:off x="2286000" y="3730752"/>
            <a:ext cx="2834640" cy="347472"/>
          </a:xfrm>
          <a:prstGeom prst="rect">
            <a:avLst/>
          </a:prstGeom>
          <a:solidFill>
            <a:srgbClr val="A83D28">
              <a:alpha val="10000"/>
            </a:srgbClr>
          </a:solidFill>
          <a:ln/>
        </p:spPr>
      </p:sp>
      <p:sp>
        <p:nvSpPr>
          <p:cNvPr id="42" name="Text 40"/>
          <p:cNvSpPr/>
          <p:nvPr/>
        </p:nvSpPr>
        <p:spPr>
          <a:xfrm>
            <a:off x="2359152" y="3767328"/>
            <a:ext cx="2688336" cy="274320"/>
          </a:xfrm>
          <a:prstGeom prst="rect">
            <a:avLst/>
          </a:prstGeom>
          <a:noFill/>
          <a:ln/>
        </p:spPr>
        <p:txBody>
          <a:bodyPr wrap="square" lIns="0" tIns="0" rIns="0" bIns="0" rtlCol="0" anchor="ctr"/>
          <a:lstStyle/>
          <a:p>
            <a:pPr indent="0" marL="0">
              <a:buNone/>
            </a:pPr>
            <a:r>
              <a:rPr lang="en-US" sz="850" dirty="0">
                <a:solidFill>
                  <a:srgbClr val="617283"/>
                </a:solidFill>
                <a:latin typeface="Calibri" pitchFamily="34" charset="0"/>
                <a:ea typeface="Calibri" pitchFamily="34" charset="-122"/>
                <a:cs typeface="Calibri" pitchFamily="34" charset="-120"/>
              </a:rPr>
              <a:t>Worcester County only</a:t>
            </a:r>
            <a:endParaRPr lang="en-US" sz="850" dirty="0"/>
          </a:p>
        </p:txBody>
      </p:sp>
      <p:sp>
        <p:nvSpPr>
          <p:cNvPr id="43" name="Shape 41"/>
          <p:cNvSpPr/>
          <p:nvPr/>
        </p:nvSpPr>
        <p:spPr>
          <a:xfrm>
            <a:off x="5166360" y="3730752"/>
            <a:ext cx="3593592" cy="347472"/>
          </a:xfrm>
          <a:prstGeom prst="rect">
            <a:avLst/>
          </a:prstGeom>
          <a:solidFill>
            <a:srgbClr val="2A6145">
              <a:alpha val="10000"/>
            </a:srgbClr>
          </a:solidFill>
          <a:ln/>
        </p:spPr>
      </p:sp>
      <p:sp>
        <p:nvSpPr>
          <p:cNvPr id="44" name="Text 42"/>
          <p:cNvSpPr/>
          <p:nvPr/>
        </p:nvSpPr>
        <p:spPr>
          <a:xfrm>
            <a:off x="5239512" y="3767328"/>
            <a:ext cx="3447288" cy="274320"/>
          </a:xfrm>
          <a:prstGeom prst="rect">
            <a:avLst/>
          </a:prstGeom>
          <a:noFill/>
          <a:ln/>
        </p:spPr>
        <p:txBody>
          <a:bodyPr wrap="square" lIns="0" tIns="0" rIns="0" bIns="0" rtlCol="0" anchor="ctr"/>
          <a:lstStyle/>
          <a:p>
            <a:pPr indent="0" marL="0">
              <a:buNone/>
            </a:pPr>
            <a:r>
              <a:rPr lang="en-US" sz="850" dirty="0">
                <a:solidFill>
                  <a:srgbClr val="09182B"/>
                </a:solidFill>
                <a:latin typeface="Calibri" pitchFamily="34" charset="0"/>
                <a:ea typeface="Calibri" pitchFamily="34" charset="-122"/>
                <a:cs typeface="Calibri" pitchFamily="34" charset="-120"/>
              </a:rPr>
              <a:t>Any MA county — same data: MassGIS, ISO-NE, Eversource, National Grid</a:t>
            </a:r>
            <a:endParaRPr lang="en-US" sz="850" dirty="0"/>
          </a:p>
        </p:txBody>
      </p:sp>
      <p:sp>
        <p:nvSpPr>
          <p:cNvPr id="45" name="Shape 43"/>
          <p:cNvSpPr/>
          <p:nvPr/>
        </p:nvSpPr>
        <p:spPr>
          <a:xfrm>
            <a:off x="320040" y="4206240"/>
            <a:ext cx="8503920" cy="594360"/>
          </a:xfrm>
          <a:prstGeom prst="rect">
            <a:avLst/>
          </a:prstGeom>
          <a:solidFill>
            <a:srgbClr val="0D7C7B">
              <a:alpha val="12000"/>
            </a:srgbClr>
          </a:solidFill>
          <a:ln w="12700">
            <a:solidFill>
              <a:srgbClr val="0D7C7B"/>
            </a:solidFill>
            <a:prstDash val="solid"/>
          </a:ln>
        </p:spPr>
      </p:sp>
      <p:sp>
        <p:nvSpPr>
          <p:cNvPr id="46" name="Text 44"/>
          <p:cNvSpPr/>
          <p:nvPr/>
        </p:nvSpPr>
        <p:spPr>
          <a:xfrm>
            <a:off x="457200" y="4251960"/>
            <a:ext cx="8321040" cy="512064"/>
          </a:xfrm>
          <a:prstGeom prst="rect">
            <a:avLst/>
          </a:prstGeom>
          <a:noFill/>
          <a:ln/>
        </p:spPr>
        <p:txBody>
          <a:bodyPr wrap="square" rtlCol="0" anchor="ctr"/>
          <a:lstStyle/>
          <a:p>
            <a:pPr indent="0" marL="0">
              <a:lnSpc>
                <a:spcPct val="130000"/>
              </a:lnSpc>
              <a:buNone/>
            </a:pPr>
            <a:r>
              <a:rPr lang="en-US" sz="850" dirty="0">
                <a:solidFill>
                  <a:srgbClr val="09182B"/>
                </a:solidFill>
                <a:latin typeface="Calibri" pitchFamily="34" charset="0"/>
                <a:ea typeface="Calibri" pitchFamily="34" charset="-122"/>
                <a:cs typeface="Calibri" pitchFamily="34" charset="-120"/>
              </a:rPr>
              <a:t>Statewide inference: The brownfield+substation siting pattern, NEMA/SENE LMP advantage, EJ overlay in urban MA, EFSB jurisdiction, and the five-layer MCE model all transfer to Worcester, Springfield, New Bedford, and every Massachusetts urban county. The financial model structure — interconnection-constrained MW sizing, 40% ITC base, $130/kW-yr revenue floor — applies directly. Suffolk and Middlesex were the validated proof of concept.</a:t>
            </a:r>
            <a:endParaRPr lang="en-US" sz="850" dirty="0"/>
          </a:p>
        </p:txBody>
      </p:sp>
      <p:sp>
        <p:nvSpPr>
          <p:cNvPr id="47" name="Shape 45"/>
          <p:cNvSpPr/>
          <p:nvPr/>
        </p:nvSpPr>
        <p:spPr>
          <a:xfrm>
            <a:off x="0" y="4864608"/>
            <a:ext cx="9144000" cy="274320"/>
          </a:xfrm>
          <a:prstGeom prst="rect">
            <a:avLst/>
          </a:prstGeom>
          <a:solidFill>
            <a:srgbClr val="09182B"/>
          </a:solidFill>
          <a:ln/>
        </p:spPr>
      </p:sp>
      <p:sp>
        <p:nvSpPr>
          <p:cNvPr id="48" name="Text 46"/>
          <p:cNvSpPr/>
          <p:nvPr/>
        </p:nvSpPr>
        <p:spPr>
          <a:xfrm>
            <a:off x="274320" y="4892040"/>
            <a:ext cx="8595360" cy="210312"/>
          </a:xfrm>
          <a:prstGeom prst="rect">
            <a:avLst/>
          </a:prstGeom>
          <a:noFill/>
          <a:ln/>
        </p:spPr>
        <p:txBody>
          <a:bodyPr wrap="square" rtlCol="0" anchor="ctr"/>
          <a:lstStyle/>
          <a:p>
            <a:pPr indent="0" marL="0">
              <a:buNone/>
            </a:pPr>
            <a:r>
              <a:rPr lang="en-US" sz="700" i="1" dirty="0">
                <a:solidFill>
                  <a:srgbClr val="A9BAC9"/>
                </a:solidFill>
                <a:latin typeface="Calibri" pitchFamily="34" charset="0"/>
                <a:ea typeface="Calibri" pitchFamily="34" charset="-122"/>
                <a:cs typeface="Calibri" pitchFamily="34" charset="-120"/>
              </a:rPr>
              <a:t>Sources: Worcester Battery Storage MCE Report (2025) · TPS BESS Siting Tool MCE Analysis (April 2026) · BESS Financial Models — Everett 231 Beacham &amp; Chelsea 283 Eastern (April 2026)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182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68A17"/>
          </a:solidFill>
          <a:ln/>
        </p:spPr>
      </p:sp>
      <p:sp>
        <p:nvSpPr>
          <p:cNvPr id="3" name="Text 1"/>
          <p:cNvSpPr/>
          <p:nvPr/>
        </p:nvSpPr>
        <p:spPr>
          <a:xfrm>
            <a:off x="347472" y="109728"/>
            <a:ext cx="8503920" cy="438912"/>
          </a:xfrm>
          <a:prstGeom prst="rect">
            <a:avLst/>
          </a:prstGeom>
          <a:noFill/>
          <a:ln/>
        </p:spPr>
        <p:txBody>
          <a:bodyPr wrap="square" rtlCol="0" anchor="ctr"/>
          <a:lstStyle/>
          <a:p>
            <a:pPr indent="0" marL="0">
              <a:buNone/>
            </a:pPr>
            <a:r>
              <a:rPr lang="en-US" sz="1050" b="1" spc="100" kern="0" dirty="0">
                <a:solidFill>
                  <a:srgbClr val="09182B"/>
                </a:solidFill>
                <a:latin typeface="Calibri" pitchFamily="34" charset="0"/>
                <a:ea typeface="Calibri" pitchFamily="34" charset="-122"/>
                <a:cs typeface="Calibri" pitchFamily="34" charset="-120"/>
              </a:rPr>
              <a:t>CONCLUSION: SITE-SPECIFIC FEASIBILITY — INTERCONNECTION, SCALE, AND THE MODEL-VALIDATED INVESTMENT CASE</a:t>
            </a:r>
            <a:endParaRPr lang="en-US" sz="1050" dirty="0"/>
          </a:p>
        </p:txBody>
      </p:sp>
      <p:sp>
        <p:nvSpPr>
          <p:cNvPr id="4" name="Shape 2"/>
          <p:cNvSpPr/>
          <p:nvPr/>
        </p:nvSpPr>
        <p:spPr>
          <a:xfrm>
            <a:off x="320040" y="749808"/>
            <a:ext cx="8503920" cy="548640"/>
          </a:xfrm>
          <a:prstGeom prst="rect">
            <a:avLst/>
          </a:prstGeom>
          <a:solidFill>
            <a:srgbClr val="0E2040"/>
          </a:solidFill>
          <a:ln/>
        </p:spPr>
      </p:sp>
      <p:sp>
        <p:nvSpPr>
          <p:cNvPr id="5" name="Text 3"/>
          <p:cNvSpPr/>
          <p:nvPr/>
        </p:nvSpPr>
        <p:spPr>
          <a:xfrm>
            <a:off x="457200" y="822960"/>
            <a:ext cx="8229600" cy="402336"/>
          </a:xfrm>
          <a:prstGeom prst="rect">
            <a:avLst/>
          </a:prstGeom>
          <a:noFill/>
          <a:ln/>
        </p:spPr>
        <p:txBody>
          <a:bodyPr wrap="square" rtlCol="0" anchor="ctr"/>
          <a:lstStyle/>
          <a:p>
            <a:pPr algn="ctr" indent="0" marL="0">
              <a:buNone/>
            </a:pPr>
            <a:r>
              <a:rPr lang="en-US" sz="1250" b="1" i="1" dirty="0">
                <a:solidFill>
                  <a:srgbClr val="F0B429"/>
                </a:solidFill>
                <a:latin typeface="Georgia" pitchFamily="34" charset="0"/>
                <a:ea typeface="Georgia" pitchFamily="34" charset="-122"/>
                <a:cs typeface="Georgia" pitchFamily="34" charset="-120"/>
              </a:rPr>
              <a:t>“We built a tool to fix how BESS sites are selected — then tested it on Chelsea and Everett to show what is actually investable and why.”</a:t>
            </a:r>
            <a:endParaRPr lang="en-US" sz="1250" dirty="0"/>
          </a:p>
        </p:txBody>
      </p:sp>
      <p:sp>
        <p:nvSpPr>
          <p:cNvPr id="6" name="Shape 4"/>
          <p:cNvSpPr/>
          <p:nvPr/>
        </p:nvSpPr>
        <p:spPr>
          <a:xfrm>
            <a:off x="292608" y="1389888"/>
            <a:ext cx="2798064" cy="3419856"/>
          </a:xfrm>
          <a:prstGeom prst="rect">
            <a:avLst/>
          </a:prstGeom>
          <a:solidFill>
            <a:srgbClr val="0D7C7B">
              <a:alpha val="10000"/>
            </a:srgbClr>
          </a:solidFill>
          <a:ln/>
          <a:effectLst>
            <a:outerShdw sx="100000" sy="100000" kx="0" ky="0" algn="bl" rotWithShape="0" blurRad="101600" dist="38100" dir="8100000">
              <a:srgbClr val="000000">
                <a:alpha val="13000"/>
              </a:srgbClr>
            </a:outerShdw>
          </a:effectLst>
        </p:spPr>
      </p:sp>
      <p:sp>
        <p:nvSpPr>
          <p:cNvPr id="7" name="Shape 5"/>
          <p:cNvSpPr/>
          <p:nvPr/>
        </p:nvSpPr>
        <p:spPr>
          <a:xfrm>
            <a:off x="292608" y="1389888"/>
            <a:ext cx="2798064" cy="347472"/>
          </a:xfrm>
          <a:prstGeom prst="rect">
            <a:avLst/>
          </a:prstGeom>
          <a:solidFill>
            <a:srgbClr val="0D7C7B"/>
          </a:solidFill>
          <a:ln/>
        </p:spPr>
      </p:sp>
      <p:sp>
        <p:nvSpPr>
          <p:cNvPr id="8" name="Text 6"/>
          <p:cNvSpPr/>
          <p:nvPr/>
        </p:nvSpPr>
        <p:spPr>
          <a:xfrm>
            <a:off x="402336" y="1435608"/>
            <a:ext cx="2596896"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Interconnection Findings</a:t>
            </a:r>
            <a:endParaRPr lang="en-US" sz="1050" dirty="0"/>
          </a:p>
        </p:txBody>
      </p:sp>
      <p:sp>
        <p:nvSpPr>
          <p:cNvPr id="9" name="Shape 7"/>
          <p:cNvSpPr/>
          <p:nvPr/>
        </p:nvSpPr>
        <p:spPr>
          <a:xfrm>
            <a:off x="420624" y="1883664"/>
            <a:ext cx="118872" cy="118872"/>
          </a:xfrm>
          <a:prstGeom prst="ellipse">
            <a:avLst/>
          </a:prstGeom>
          <a:solidFill>
            <a:srgbClr val="0D7C7B"/>
          </a:solidFill>
          <a:ln/>
        </p:spPr>
      </p:sp>
      <p:sp>
        <p:nvSpPr>
          <p:cNvPr id="10" name="Text 8"/>
          <p:cNvSpPr/>
          <p:nvPr/>
        </p:nvSpPr>
        <p:spPr>
          <a:xfrm>
            <a:off x="594360" y="1828800"/>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231 Beacham, Everett: $2.0M feeder connection — low risk, low cost, limits scale to 15 MW. Feeder-level circuit confirmed as binding MW constraint. Scale expansion requires transmission-level interconnection study with Eversource.</a:t>
            </a:r>
            <a:endParaRPr lang="en-US" sz="800" dirty="0"/>
          </a:p>
        </p:txBody>
      </p:sp>
      <p:sp>
        <p:nvSpPr>
          <p:cNvPr id="11" name="Shape 9"/>
          <p:cNvSpPr/>
          <p:nvPr/>
        </p:nvSpPr>
        <p:spPr>
          <a:xfrm>
            <a:off x="420624" y="2633472"/>
            <a:ext cx="118872" cy="118872"/>
          </a:xfrm>
          <a:prstGeom prst="ellipse">
            <a:avLst/>
          </a:prstGeom>
          <a:solidFill>
            <a:srgbClr val="0D7C7B"/>
          </a:solidFill>
          <a:ln/>
        </p:spPr>
      </p:sp>
      <p:sp>
        <p:nvSpPr>
          <p:cNvPr id="12" name="Text 10"/>
          <p:cNvSpPr/>
          <p:nvPr/>
        </p:nvSpPr>
        <p:spPr>
          <a:xfrm>
            <a:off x="594360" y="2578608"/>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283 Eastern, Chelsea: $12.0M substation upgrade — high cost, high capacity. Model shows NPV drops ~$1.7M per $1M of additional interconnection. Cost certainty via utility pre-application study is prerequisite for investment decision.</a:t>
            </a:r>
            <a:endParaRPr lang="en-US" sz="800" dirty="0"/>
          </a:p>
        </p:txBody>
      </p:sp>
      <p:sp>
        <p:nvSpPr>
          <p:cNvPr id="13" name="Shape 11"/>
          <p:cNvSpPr/>
          <p:nvPr/>
        </p:nvSpPr>
        <p:spPr>
          <a:xfrm>
            <a:off x="420624" y="3383280"/>
            <a:ext cx="118872" cy="118872"/>
          </a:xfrm>
          <a:prstGeom prst="ellipse">
            <a:avLst/>
          </a:prstGeom>
          <a:solidFill>
            <a:srgbClr val="0D7C7B"/>
          </a:solidFill>
          <a:ln/>
        </p:spPr>
      </p:sp>
      <p:sp>
        <p:nvSpPr>
          <p:cNvPr id="14" name="Text 12"/>
          <p:cNvSpPr/>
          <p:nvPr/>
        </p:nvSpPr>
        <p:spPr>
          <a:xfrm>
            <a:off x="594360" y="3328416"/>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Tool’s Layer 2 (Grid Feasibility) is the binding output for MW sizing — not parcel area. This is a critical finding: the tool works correctly, but financial modeling must follow hosting capacity data.</a:t>
            </a:r>
            <a:endParaRPr lang="en-US" sz="800" dirty="0"/>
          </a:p>
        </p:txBody>
      </p:sp>
      <p:sp>
        <p:nvSpPr>
          <p:cNvPr id="15" name="Shape 13"/>
          <p:cNvSpPr/>
          <p:nvPr/>
        </p:nvSpPr>
        <p:spPr>
          <a:xfrm>
            <a:off x="420624" y="4133088"/>
            <a:ext cx="118872" cy="118872"/>
          </a:xfrm>
          <a:prstGeom prst="ellipse">
            <a:avLst/>
          </a:prstGeom>
          <a:solidFill>
            <a:srgbClr val="0D7C7B"/>
          </a:solidFill>
          <a:ln/>
        </p:spPr>
      </p:sp>
      <p:sp>
        <p:nvSpPr>
          <p:cNvPr id="16" name="Text 14"/>
          <p:cNvSpPr/>
          <p:nvPr/>
        </p:nvSpPr>
        <p:spPr>
          <a:xfrm>
            <a:off x="594360" y="4078224"/>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Both sites avoid the $1.9–9.5M/mile underground cable replacement that kills urban project economics. Confirmed by model’s actual interconnection cost assumptions.</a:t>
            </a:r>
            <a:endParaRPr lang="en-US" sz="800" dirty="0"/>
          </a:p>
        </p:txBody>
      </p:sp>
      <p:sp>
        <p:nvSpPr>
          <p:cNvPr id="17" name="Shape 15"/>
          <p:cNvSpPr/>
          <p:nvPr/>
        </p:nvSpPr>
        <p:spPr>
          <a:xfrm>
            <a:off x="3218688" y="1389888"/>
            <a:ext cx="2798064" cy="3419856"/>
          </a:xfrm>
          <a:prstGeom prst="rect">
            <a:avLst/>
          </a:prstGeom>
          <a:solidFill>
            <a:srgbClr val="C68A17">
              <a:alpha val="10000"/>
            </a:srgbClr>
          </a:solidFill>
          <a:ln/>
          <a:effectLst>
            <a:outerShdw sx="100000" sy="100000" kx="0" ky="0" algn="bl" rotWithShape="0" blurRad="101600" dist="38100" dir="8100000">
              <a:srgbClr val="000000">
                <a:alpha val="13000"/>
              </a:srgbClr>
            </a:outerShdw>
          </a:effectLst>
        </p:spPr>
      </p:sp>
      <p:sp>
        <p:nvSpPr>
          <p:cNvPr id="18" name="Shape 16"/>
          <p:cNvSpPr/>
          <p:nvPr/>
        </p:nvSpPr>
        <p:spPr>
          <a:xfrm>
            <a:off x="3218688" y="1389888"/>
            <a:ext cx="2798064" cy="347472"/>
          </a:xfrm>
          <a:prstGeom prst="rect">
            <a:avLst/>
          </a:prstGeom>
          <a:solidFill>
            <a:srgbClr val="C68A17"/>
          </a:solidFill>
          <a:ln/>
        </p:spPr>
      </p:sp>
      <p:sp>
        <p:nvSpPr>
          <p:cNvPr id="19" name="Text 17"/>
          <p:cNvSpPr/>
          <p:nvPr/>
        </p:nvSpPr>
        <p:spPr>
          <a:xfrm>
            <a:off x="3328416" y="1435608"/>
            <a:ext cx="2596896"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Scale &amp; Financial Findings</a:t>
            </a:r>
            <a:endParaRPr lang="en-US" sz="1050" dirty="0"/>
          </a:p>
        </p:txBody>
      </p:sp>
      <p:sp>
        <p:nvSpPr>
          <p:cNvPr id="20" name="Shape 18"/>
          <p:cNvSpPr/>
          <p:nvPr/>
        </p:nvSpPr>
        <p:spPr>
          <a:xfrm>
            <a:off x="3346704" y="1883664"/>
            <a:ext cx="118872" cy="118872"/>
          </a:xfrm>
          <a:prstGeom prst="ellipse">
            <a:avLst/>
          </a:prstGeom>
          <a:solidFill>
            <a:srgbClr val="C68A17"/>
          </a:solidFill>
          <a:ln/>
        </p:spPr>
      </p:sp>
      <p:sp>
        <p:nvSpPr>
          <p:cNvPr id="21" name="Text 19"/>
          <p:cNvSpPr/>
          <p:nvPr/>
        </p:nvSpPr>
        <p:spPr>
          <a:xfrm>
            <a:off x="3520440" y="1828800"/>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Everett: 15 MW / 60 MWh (4hr) · Gross CAPEX $25.1M · Net $15.1M · IRR 5.93% · NPV −$2.2M at $130/kW-yr. Becomes viable above $150/kW-yr or at 50% ITC. Lowest-barrier entry point in the study.</a:t>
            </a:r>
            <a:endParaRPr lang="en-US" sz="800" dirty="0"/>
          </a:p>
        </p:txBody>
      </p:sp>
      <p:sp>
        <p:nvSpPr>
          <p:cNvPr id="22" name="Shape 20"/>
          <p:cNvSpPr/>
          <p:nvPr/>
        </p:nvSpPr>
        <p:spPr>
          <a:xfrm>
            <a:off x="3346704" y="2633472"/>
            <a:ext cx="118872" cy="118872"/>
          </a:xfrm>
          <a:prstGeom prst="ellipse">
            <a:avLst/>
          </a:prstGeom>
          <a:solidFill>
            <a:srgbClr val="C68A17"/>
          </a:solidFill>
          <a:ln/>
        </p:spPr>
      </p:sp>
      <p:sp>
        <p:nvSpPr>
          <p:cNvPr id="23" name="Text 21"/>
          <p:cNvSpPr/>
          <p:nvPr/>
        </p:nvSpPr>
        <p:spPr>
          <a:xfrm>
            <a:off x="3520440" y="2578608"/>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Chelsea: 100 MW / 400 MWh (4hr) · Gross CAPEX $144M · Net $86.4M · IRR 8.84% · NPV +$5.4M at $130/kW-yr. Leverage of 50–65% debt pushes equity IRR to 12–15%. Strongest investment case in study.</a:t>
            </a:r>
            <a:endParaRPr lang="en-US" sz="800" dirty="0"/>
          </a:p>
        </p:txBody>
      </p:sp>
      <p:sp>
        <p:nvSpPr>
          <p:cNvPr id="24" name="Shape 22"/>
          <p:cNvSpPr/>
          <p:nvPr/>
        </p:nvSpPr>
        <p:spPr>
          <a:xfrm>
            <a:off x="3346704" y="3383280"/>
            <a:ext cx="118872" cy="118872"/>
          </a:xfrm>
          <a:prstGeom prst="ellipse">
            <a:avLst/>
          </a:prstGeom>
          <a:solidFill>
            <a:srgbClr val="C68A17"/>
          </a:solidFill>
          <a:ln/>
        </p:spPr>
      </p:sp>
      <p:sp>
        <p:nvSpPr>
          <p:cNvPr id="25" name="Text 23"/>
          <p:cNvSpPr/>
          <p:nvPr/>
        </p:nvSpPr>
        <p:spPr>
          <a:xfrm>
            <a:off x="3520440" y="3328416"/>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Chelsea (score 113) is the stronger near-term investment despite Everett’s higher composite score (119). A high MCE score identifies the best-quality sites — financial viability depends on scale, interconnection, and contracted revenue.</a:t>
            </a:r>
            <a:endParaRPr lang="en-US" sz="800" dirty="0"/>
          </a:p>
        </p:txBody>
      </p:sp>
      <p:sp>
        <p:nvSpPr>
          <p:cNvPr id="26" name="Shape 24"/>
          <p:cNvSpPr/>
          <p:nvPr/>
        </p:nvSpPr>
        <p:spPr>
          <a:xfrm>
            <a:off x="3346704" y="4133088"/>
            <a:ext cx="118872" cy="118872"/>
          </a:xfrm>
          <a:prstGeom prst="ellipse">
            <a:avLst/>
          </a:prstGeom>
          <a:solidFill>
            <a:srgbClr val="C68A17"/>
          </a:solidFill>
          <a:ln/>
        </p:spPr>
      </p:sp>
      <p:sp>
        <p:nvSpPr>
          <p:cNvPr id="27" name="Text 25"/>
          <p:cNvSpPr/>
          <p:nvPr/>
        </p:nvSpPr>
        <p:spPr>
          <a:xfrm>
            <a:off x="3520440" y="4078224"/>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Both sites need Section 83E contracted CPEC revenue for investment-grade returns. This is the policy mechanism the MA 2024 Climate Act created — and the tool positions both sites to compete for it.</a:t>
            </a:r>
            <a:endParaRPr lang="en-US" sz="800" dirty="0"/>
          </a:p>
        </p:txBody>
      </p:sp>
      <p:sp>
        <p:nvSpPr>
          <p:cNvPr id="28" name="Shape 26"/>
          <p:cNvSpPr/>
          <p:nvPr/>
        </p:nvSpPr>
        <p:spPr>
          <a:xfrm>
            <a:off x="6144768" y="1389888"/>
            <a:ext cx="2798064" cy="3419856"/>
          </a:xfrm>
          <a:prstGeom prst="rect">
            <a:avLst/>
          </a:prstGeom>
          <a:solidFill>
            <a:srgbClr val="A83D28">
              <a:alpha val="10000"/>
            </a:srgbClr>
          </a:solidFill>
          <a:ln/>
          <a:effectLst>
            <a:outerShdw sx="100000" sy="100000" kx="0" ky="0" algn="bl" rotWithShape="0" blurRad="101600" dist="38100" dir="8100000">
              <a:srgbClr val="000000">
                <a:alpha val="13000"/>
              </a:srgbClr>
            </a:outerShdw>
          </a:effectLst>
        </p:spPr>
      </p:sp>
      <p:sp>
        <p:nvSpPr>
          <p:cNvPr id="29" name="Shape 27"/>
          <p:cNvSpPr/>
          <p:nvPr/>
        </p:nvSpPr>
        <p:spPr>
          <a:xfrm>
            <a:off x="6144768" y="1389888"/>
            <a:ext cx="2798064" cy="347472"/>
          </a:xfrm>
          <a:prstGeom prst="rect">
            <a:avLst/>
          </a:prstGeom>
          <a:solidFill>
            <a:srgbClr val="A83D28"/>
          </a:solidFill>
          <a:ln/>
        </p:spPr>
      </p:sp>
      <p:sp>
        <p:nvSpPr>
          <p:cNvPr id="30" name="Text 28"/>
          <p:cNvSpPr/>
          <p:nvPr/>
        </p:nvSpPr>
        <p:spPr>
          <a:xfrm>
            <a:off x="6254496" y="1435608"/>
            <a:ext cx="2596896"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Next Steps</a:t>
            </a:r>
            <a:endParaRPr lang="en-US" sz="1050" dirty="0"/>
          </a:p>
        </p:txBody>
      </p:sp>
      <p:sp>
        <p:nvSpPr>
          <p:cNvPr id="31" name="Shape 29"/>
          <p:cNvSpPr/>
          <p:nvPr/>
        </p:nvSpPr>
        <p:spPr>
          <a:xfrm>
            <a:off x="6272784" y="1883664"/>
            <a:ext cx="118872" cy="118872"/>
          </a:xfrm>
          <a:prstGeom prst="ellipse">
            <a:avLst/>
          </a:prstGeom>
          <a:solidFill>
            <a:srgbClr val="A83D28"/>
          </a:solidFill>
          <a:ln/>
        </p:spPr>
      </p:sp>
      <p:sp>
        <p:nvSpPr>
          <p:cNvPr id="32" name="Text 30"/>
          <p:cNvSpPr/>
          <p:nvPr/>
        </p:nvSpPr>
        <p:spPr>
          <a:xfrm>
            <a:off x="6446520" y="1828800"/>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Submit interconnection pre-applications to Eversource for 231 Beacham (feeder study, $2M budget) and 283 Eastern (substation study, $12M budget) to confirm capacity headroom and cost range.</a:t>
            </a:r>
            <a:endParaRPr lang="en-US" sz="800" dirty="0"/>
          </a:p>
        </p:txBody>
      </p:sp>
      <p:sp>
        <p:nvSpPr>
          <p:cNvPr id="33" name="Shape 31"/>
          <p:cNvSpPr/>
          <p:nvPr/>
        </p:nvSpPr>
        <p:spPr>
          <a:xfrm>
            <a:off x="6272784" y="2633472"/>
            <a:ext cx="118872" cy="118872"/>
          </a:xfrm>
          <a:prstGeom prst="ellipse">
            <a:avLst/>
          </a:prstGeom>
          <a:solidFill>
            <a:srgbClr val="A83D28"/>
          </a:solidFill>
          <a:ln/>
        </p:spPr>
      </p:sp>
      <p:sp>
        <p:nvSpPr>
          <p:cNvPr id="34" name="Text 32"/>
          <p:cNvSpPr/>
          <p:nvPr/>
        </p:nvSpPr>
        <p:spPr>
          <a:xfrm>
            <a:off x="6446520" y="2578608"/>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Initiate Section 83E Round 2 bid preparation for Chelsea 283 Eastern (~$130–$144M CAPEX, 100 MW / 400 MWh) — this is the primary path to contracted revenue that makes the project bankable.</a:t>
            </a:r>
            <a:endParaRPr lang="en-US" sz="800" dirty="0"/>
          </a:p>
        </p:txBody>
      </p:sp>
      <p:sp>
        <p:nvSpPr>
          <p:cNvPr id="35" name="Shape 33"/>
          <p:cNvSpPr/>
          <p:nvPr/>
        </p:nvSpPr>
        <p:spPr>
          <a:xfrm>
            <a:off x="6272784" y="3383280"/>
            <a:ext cx="118872" cy="118872"/>
          </a:xfrm>
          <a:prstGeom prst="ellipse">
            <a:avLst/>
          </a:prstGeom>
          <a:solidFill>
            <a:srgbClr val="A83D28"/>
          </a:solidFill>
          <a:ln/>
        </p:spPr>
      </p:sp>
      <p:sp>
        <p:nvSpPr>
          <p:cNvPr id="36" name="Text 34"/>
          <p:cNvSpPr/>
          <p:nvPr/>
        </p:nvSpPr>
        <p:spPr>
          <a:xfrm>
            <a:off x="6446520" y="3328416"/>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Validate ITC qualification: engage tax equity counsel to confirm energy community (brownfield) and low-income community bonus eligibility at both sites. 50% ITC vs. 40% changes NPV by $2.3M (Everett) and $13.9M (Chelsea).</a:t>
            </a:r>
            <a:endParaRPr lang="en-US" sz="800" dirty="0"/>
          </a:p>
        </p:txBody>
      </p:sp>
      <p:sp>
        <p:nvSpPr>
          <p:cNvPr id="37" name="Shape 35"/>
          <p:cNvSpPr/>
          <p:nvPr/>
        </p:nvSpPr>
        <p:spPr>
          <a:xfrm>
            <a:off x="6272784" y="4133088"/>
            <a:ext cx="118872" cy="118872"/>
          </a:xfrm>
          <a:prstGeom prst="ellipse">
            <a:avLst/>
          </a:prstGeom>
          <a:solidFill>
            <a:srgbClr val="A83D28"/>
          </a:solidFill>
          <a:ln/>
        </p:spPr>
      </p:sp>
      <p:sp>
        <p:nvSpPr>
          <p:cNvPr id="38" name="Text 36"/>
          <p:cNvSpPr/>
          <p:nvPr/>
        </p:nvSpPr>
        <p:spPr>
          <a:xfrm>
            <a:off x="6446520" y="4078224"/>
            <a:ext cx="2404872" cy="713232"/>
          </a:xfrm>
          <a:prstGeom prst="rect">
            <a:avLst/>
          </a:prstGeom>
          <a:noFill/>
          <a:ln/>
        </p:spPr>
        <p:txBody>
          <a:bodyPr wrap="square" lIns="0" tIns="0" rIns="0" bIns="0" rtlCol="0" anchor="ctr"/>
          <a:lstStyle/>
          <a:p>
            <a:pPr indent="0" marL="0">
              <a:lnSpc>
                <a:spcPct val="118000"/>
              </a:lnSpc>
              <a:buNone/>
            </a:pPr>
            <a:r>
              <a:rPr lang="en-US" sz="800" dirty="0">
                <a:solidFill>
                  <a:srgbClr val="A9BAC9"/>
                </a:solidFill>
                <a:latin typeface="Calibri" pitchFamily="34" charset="0"/>
                <a:ea typeface="Calibri" pitchFamily="34" charset="-122"/>
                <a:cs typeface="Calibri" pitchFamily="34" charset="-120"/>
              </a:rPr>
              <a:t>Expand financial model to Worcester County, Bristol County, and Hampden County using same interconnection-first MW sizing methodology. Tool’s five layers directly feed the financial model structure.</a:t>
            </a:r>
            <a:endParaRPr lang="en-US" sz="800" dirty="0"/>
          </a:p>
        </p:txBody>
      </p:sp>
      <p:sp>
        <p:nvSpPr>
          <p:cNvPr id="39" name="Shape 37"/>
          <p:cNvSpPr/>
          <p:nvPr/>
        </p:nvSpPr>
        <p:spPr>
          <a:xfrm>
            <a:off x="0" y="4837176"/>
            <a:ext cx="9144000" cy="310896"/>
          </a:xfrm>
          <a:prstGeom prst="rect">
            <a:avLst/>
          </a:prstGeom>
          <a:solidFill>
            <a:srgbClr val="0D7C7B"/>
          </a:solidFill>
          <a:ln/>
        </p:spPr>
      </p:sp>
      <p:sp>
        <p:nvSpPr>
          <p:cNvPr id="40" name="Text 38"/>
          <p:cNvSpPr/>
          <p:nvPr/>
        </p:nvSpPr>
        <p:spPr>
          <a:xfrm>
            <a:off x="365760" y="4873752"/>
            <a:ext cx="6400800" cy="21945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TPS × MassDOER Fellowship Project · April 2026 · Monzia Moodie &amp; Kadir Farah · Advisor: Marcus Anum</a:t>
            </a:r>
            <a:endParaRPr lang="en-US" sz="850" dirty="0"/>
          </a:p>
        </p:txBody>
      </p:sp>
      <p:sp>
        <p:nvSpPr>
          <p:cNvPr id="41" name="Text 39"/>
          <p:cNvSpPr/>
          <p:nvPr/>
        </p:nvSpPr>
        <p:spPr>
          <a:xfrm>
            <a:off x="365760" y="5074920"/>
            <a:ext cx="8503920" cy="0"/>
          </a:xfrm>
          <a:prstGeom prst="rect">
            <a:avLst/>
          </a:prstGeom>
          <a:noFill/>
          <a:ln/>
        </p:spPr>
        <p:txBody>
          <a:bodyPr wrap="square" rtlCol="0" anchor="ctr"/>
          <a:lstStyle/>
          <a:p>
            <a:pPr indent="0" marL="0">
              <a:buNone/>
            </a:pPr>
            <a:r>
              <a:rPr lang="en-US" sz="10" dirty="0">
                <a:solidFill>
                  <a:srgbClr val="09182B"/>
                </a:solidFill>
              </a:rPr>
              <a:t>Financial models: BESS_Financial_Model_Final__Everette_.xlsx · BESS_Financial_Model_Final__Chelsea_.xlsx</a:t>
            </a:r>
            <a:endParaRPr lang="en-US" sz="1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040"/>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68A17"/>
          </a:solidFill>
          <a:ln/>
        </p:spPr>
      </p:sp>
      <p:sp>
        <p:nvSpPr>
          <p:cNvPr id="3" name="Text 1"/>
          <p:cNvSpPr/>
          <p:nvPr/>
        </p:nvSpPr>
        <p:spPr>
          <a:xfrm>
            <a:off x="347472" y="128016"/>
            <a:ext cx="8503920" cy="402336"/>
          </a:xfrm>
          <a:prstGeom prst="rect">
            <a:avLst/>
          </a:prstGeom>
          <a:noFill/>
          <a:ln/>
        </p:spPr>
        <p:txBody>
          <a:bodyPr wrap="square" rtlCol="0" anchor="ctr"/>
          <a:lstStyle/>
          <a:p>
            <a:pPr indent="0" marL="0">
              <a:buNone/>
            </a:pPr>
            <a:r>
              <a:rPr lang="en-US" sz="1300" b="1" spc="150" kern="0" dirty="0">
                <a:solidFill>
                  <a:srgbClr val="09182B"/>
                </a:solidFill>
                <a:latin typeface="Calibri" pitchFamily="34" charset="0"/>
                <a:ea typeface="Calibri" pitchFamily="34" charset="-122"/>
                <a:cs typeface="Calibri" pitchFamily="34" charset="-120"/>
              </a:rPr>
              <a:t>THE BOTTOM LINE: FOUR TAKEAWAYS FOR THIS AUDIENCE</a:t>
            </a:r>
            <a:endParaRPr lang="en-US" sz="1300" dirty="0"/>
          </a:p>
        </p:txBody>
      </p:sp>
      <p:sp>
        <p:nvSpPr>
          <p:cNvPr id="4" name="Shape 2"/>
          <p:cNvSpPr/>
          <p:nvPr/>
        </p:nvSpPr>
        <p:spPr>
          <a:xfrm>
            <a:off x="320040" y="822960"/>
            <a:ext cx="4206240" cy="1938528"/>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822960"/>
            <a:ext cx="73152" cy="1938528"/>
          </a:xfrm>
          <a:prstGeom prst="rect">
            <a:avLst/>
          </a:prstGeom>
          <a:solidFill>
            <a:srgbClr val="0D7C7B"/>
          </a:solidFill>
          <a:ln/>
        </p:spPr>
      </p:sp>
      <p:sp>
        <p:nvSpPr>
          <p:cNvPr id="6" name="Shape 4"/>
          <p:cNvSpPr/>
          <p:nvPr/>
        </p:nvSpPr>
        <p:spPr>
          <a:xfrm>
            <a:off x="484632" y="932688"/>
            <a:ext cx="384048" cy="384048"/>
          </a:xfrm>
          <a:prstGeom prst="rect">
            <a:avLst/>
          </a:prstGeom>
          <a:solidFill>
            <a:srgbClr val="0D7C7B"/>
          </a:solidFill>
          <a:ln/>
        </p:spPr>
      </p:sp>
      <p:sp>
        <p:nvSpPr>
          <p:cNvPr id="7" name="Text 5"/>
          <p:cNvSpPr/>
          <p:nvPr/>
        </p:nvSpPr>
        <p:spPr>
          <a:xfrm>
            <a:off x="484632" y="932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978408" y="932688"/>
            <a:ext cx="3438144" cy="384048"/>
          </a:xfrm>
          <a:prstGeom prst="rect">
            <a:avLst/>
          </a:prstGeom>
          <a:noFill/>
          <a:ln/>
        </p:spPr>
        <p:txBody>
          <a:bodyPr wrap="square" lIns="0" tIns="0" rIns="0" bIns="0" rtlCol="0" anchor="ctr"/>
          <a:lstStyle/>
          <a:p>
            <a:pPr indent="0" marL="0">
              <a:lnSpc>
                <a:spcPct val="110000"/>
              </a:lnSpc>
              <a:buNone/>
            </a:pPr>
            <a:r>
              <a:rPr lang="en-US" sz="1050" b="1" dirty="0">
                <a:solidFill>
                  <a:srgbClr val="0D7C7B"/>
                </a:solidFill>
                <a:latin typeface="Calibri" pitchFamily="34" charset="0"/>
                <a:ea typeface="Calibri" pitchFamily="34" charset="-122"/>
                <a:cs typeface="Calibri" pitchFamily="34" charset="-120"/>
              </a:rPr>
              <a:t>The tool works — and it selected the right sites.</a:t>
            </a:r>
            <a:endParaRPr lang="en-US" sz="1050" dirty="0"/>
          </a:p>
        </p:txBody>
      </p:sp>
      <p:sp>
        <p:nvSpPr>
          <p:cNvPr id="9" name="Text 7"/>
          <p:cNvSpPr/>
          <p:nvPr/>
        </p:nvSpPr>
        <p:spPr>
          <a:xfrm>
            <a:off x="484632" y="1408176"/>
            <a:ext cx="3913632" cy="1261872"/>
          </a:xfrm>
          <a:prstGeom prst="rect">
            <a:avLst/>
          </a:prstGeom>
          <a:noFill/>
          <a:ln/>
        </p:spPr>
        <p:txBody>
          <a:bodyPr wrap="square" lIns="0" tIns="0" rIns="0" bIns="0" rtlCol="0" anchor="ctr"/>
          <a:lstStyle/>
          <a:p>
            <a:pPr indent="0" marL="0">
              <a:lnSpc>
                <a:spcPct val="125000"/>
              </a:lnSpc>
              <a:buNone/>
            </a:pPr>
            <a:r>
              <a:rPr lang="en-US" sz="850" dirty="0">
                <a:solidFill>
                  <a:srgbClr val="A9BAC9"/>
                </a:solidFill>
                <a:latin typeface="Calibri" pitchFamily="34" charset="0"/>
                <a:ea typeface="Calibri" pitchFamily="34" charset="-122"/>
                <a:cs typeface="Calibri" pitchFamily="34" charset="-120"/>
              </a:rPr>
              <a:t>Five-layer MCE scoring across 13 municipalities in two counties surfaced 231 Beacham St, Everett (119/125) and 283 Eastern Ave, Chelsea (113/125) as the top investment sites before a single dollar of project capital was committed. Financial model analysis confirmed both selections. The five-layer framework is replicable in any Massachusetts county using the same publicly available data sources.</a:t>
            </a:r>
            <a:endParaRPr lang="en-US" sz="850" dirty="0"/>
          </a:p>
        </p:txBody>
      </p:sp>
      <p:sp>
        <p:nvSpPr>
          <p:cNvPr id="10" name="Shape 8"/>
          <p:cNvSpPr/>
          <p:nvPr/>
        </p:nvSpPr>
        <p:spPr>
          <a:xfrm>
            <a:off x="4736592" y="822960"/>
            <a:ext cx="4206240" cy="1938528"/>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11" name="Shape 9"/>
          <p:cNvSpPr/>
          <p:nvPr/>
        </p:nvSpPr>
        <p:spPr>
          <a:xfrm>
            <a:off x="4736592" y="822960"/>
            <a:ext cx="73152" cy="1938528"/>
          </a:xfrm>
          <a:prstGeom prst="rect">
            <a:avLst/>
          </a:prstGeom>
          <a:solidFill>
            <a:srgbClr val="C68A17"/>
          </a:solidFill>
          <a:ln/>
        </p:spPr>
      </p:sp>
      <p:sp>
        <p:nvSpPr>
          <p:cNvPr id="12" name="Shape 10"/>
          <p:cNvSpPr/>
          <p:nvPr/>
        </p:nvSpPr>
        <p:spPr>
          <a:xfrm>
            <a:off x="4901184" y="932688"/>
            <a:ext cx="384048" cy="384048"/>
          </a:xfrm>
          <a:prstGeom prst="rect">
            <a:avLst/>
          </a:prstGeom>
          <a:solidFill>
            <a:srgbClr val="C68A17"/>
          </a:solidFill>
          <a:ln/>
        </p:spPr>
      </p:sp>
      <p:sp>
        <p:nvSpPr>
          <p:cNvPr id="13" name="Text 11"/>
          <p:cNvSpPr/>
          <p:nvPr/>
        </p:nvSpPr>
        <p:spPr>
          <a:xfrm>
            <a:off x="4901184" y="932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5394960" y="932688"/>
            <a:ext cx="3438144" cy="384048"/>
          </a:xfrm>
          <a:prstGeom prst="rect">
            <a:avLst/>
          </a:prstGeom>
          <a:noFill/>
          <a:ln/>
        </p:spPr>
        <p:txBody>
          <a:bodyPr wrap="square" lIns="0" tIns="0" rIns="0" bIns="0" rtlCol="0" anchor="ctr"/>
          <a:lstStyle/>
          <a:p>
            <a:pPr indent="0" marL="0">
              <a:lnSpc>
                <a:spcPct val="110000"/>
              </a:lnSpc>
              <a:buNone/>
            </a:pPr>
            <a:r>
              <a:rPr lang="en-US" sz="1050" b="1" dirty="0">
                <a:solidFill>
                  <a:srgbClr val="C68A17"/>
                </a:solidFill>
                <a:latin typeface="Calibri" pitchFamily="34" charset="0"/>
                <a:ea typeface="Calibri" pitchFamily="34" charset="-122"/>
                <a:cs typeface="Calibri" pitchFamily="34" charset="-120"/>
              </a:rPr>
              <a:t>Grid hosting capacity is the binding variable — not land.</a:t>
            </a:r>
            <a:endParaRPr lang="en-US" sz="1050" dirty="0"/>
          </a:p>
        </p:txBody>
      </p:sp>
      <p:sp>
        <p:nvSpPr>
          <p:cNvPr id="15" name="Text 13"/>
          <p:cNvSpPr/>
          <p:nvPr/>
        </p:nvSpPr>
        <p:spPr>
          <a:xfrm>
            <a:off x="4901184" y="1408176"/>
            <a:ext cx="3913632" cy="1261872"/>
          </a:xfrm>
          <a:prstGeom prst="rect">
            <a:avLst/>
          </a:prstGeom>
          <a:noFill/>
          <a:ln/>
        </p:spPr>
        <p:txBody>
          <a:bodyPr wrap="square" lIns="0" tIns="0" rIns="0" bIns="0" rtlCol="0" anchor="ctr"/>
          <a:lstStyle/>
          <a:p>
            <a:pPr indent="0" marL="0">
              <a:lnSpc>
                <a:spcPct val="125000"/>
              </a:lnSpc>
              <a:buNone/>
            </a:pPr>
            <a:r>
              <a:rPr lang="en-US" sz="850" dirty="0">
                <a:solidFill>
                  <a:srgbClr val="A9BAC9"/>
                </a:solidFill>
                <a:latin typeface="Calibri" pitchFamily="34" charset="0"/>
                <a:ea typeface="Calibri" pitchFamily="34" charset="-122"/>
                <a:cs typeface="Calibri" pitchFamily="34" charset="-120"/>
              </a:rPr>
              <a:t>The most important methodological finding: project scale at both sites is set by the circuit or substation interconnection capacity, not by parcel area. Everett: 15 MW (feeder-limited, $2M connection). Chelsea: 100 MW (substation-scale, $12M connection). This means the tool’s Layer 2 must precede Layer 4 in any siting workflow. Sites near high-capacity substations on brownfield parcels are the priority profile across the Commonwealth.</a:t>
            </a:r>
            <a:endParaRPr lang="en-US" sz="850" dirty="0"/>
          </a:p>
        </p:txBody>
      </p:sp>
      <p:sp>
        <p:nvSpPr>
          <p:cNvPr id="16" name="Shape 14"/>
          <p:cNvSpPr/>
          <p:nvPr/>
        </p:nvSpPr>
        <p:spPr>
          <a:xfrm>
            <a:off x="320040" y="2880360"/>
            <a:ext cx="4206240" cy="1938528"/>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17" name="Shape 15"/>
          <p:cNvSpPr/>
          <p:nvPr/>
        </p:nvSpPr>
        <p:spPr>
          <a:xfrm>
            <a:off x="320040" y="2880360"/>
            <a:ext cx="73152" cy="1938528"/>
          </a:xfrm>
          <a:prstGeom prst="rect">
            <a:avLst/>
          </a:prstGeom>
          <a:solidFill>
            <a:srgbClr val="A83D28"/>
          </a:solidFill>
          <a:ln/>
        </p:spPr>
      </p:sp>
      <p:sp>
        <p:nvSpPr>
          <p:cNvPr id="18" name="Shape 16"/>
          <p:cNvSpPr/>
          <p:nvPr/>
        </p:nvSpPr>
        <p:spPr>
          <a:xfrm>
            <a:off x="484632" y="2990088"/>
            <a:ext cx="384048" cy="384048"/>
          </a:xfrm>
          <a:prstGeom prst="rect">
            <a:avLst/>
          </a:prstGeom>
          <a:solidFill>
            <a:srgbClr val="A83D28"/>
          </a:solidFill>
          <a:ln/>
        </p:spPr>
      </p:sp>
      <p:sp>
        <p:nvSpPr>
          <p:cNvPr id="19" name="Text 17"/>
          <p:cNvSpPr/>
          <p:nvPr/>
        </p:nvSpPr>
        <p:spPr>
          <a:xfrm>
            <a:off x="484632" y="2990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978408" y="2990088"/>
            <a:ext cx="3438144" cy="384048"/>
          </a:xfrm>
          <a:prstGeom prst="rect">
            <a:avLst/>
          </a:prstGeom>
          <a:noFill/>
          <a:ln/>
        </p:spPr>
        <p:txBody>
          <a:bodyPr wrap="square" lIns="0" tIns="0" rIns="0" bIns="0" rtlCol="0" anchor="ctr"/>
          <a:lstStyle/>
          <a:p>
            <a:pPr indent="0" marL="0">
              <a:lnSpc>
                <a:spcPct val="110000"/>
              </a:lnSpc>
              <a:buNone/>
            </a:pPr>
            <a:r>
              <a:rPr lang="en-US" sz="1050" b="1" dirty="0">
                <a:solidFill>
                  <a:srgbClr val="A83D28"/>
                </a:solidFill>
                <a:latin typeface="Calibri" pitchFamily="34" charset="0"/>
                <a:ea typeface="Calibri" pitchFamily="34" charset="-122"/>
                <a:cs typeface="Calibri" pitchFamily="34" charset="-120"/>
              </a:rPr>
              <a:t>Chelsea is the stronger near-term investment. Everett needs contracted revenue.</a:t>
            </a:r>
            <a:endParaRPr lang="en-US" sz="1050" dirty="0"/>
          </a:p>
        </p:txBody>
      </p:sp>
      <p:sp>
        <p:nvSpPr>
          <p:cNvPr id="21" name="Text 19"/>
          <p:cNvSpPr/>
          <p:nvPr/>
        </p:nvSpPr>
        <p:spPr>
          <a:xfrm>
            <a:off x="484632" y="3465576"/>
            <a:ext cx="3913632" cy="1261872"/>
          </a:xfrm>
          <a:prstGeom prst="rect">
            <a:avLst/>
          </a:prstGeom>
          <a:noFill/>
          <a:ln/>
        </p:spPr>
        <p:txBody>
          <a:bodyPr wrap="square" lIns="0" tIns="0" rIns="0" bIns="0" rtlCol="0" anchor="ctr"/>
          <a:lstStyle/>
          <a:p>
            <a:pPr indent="0" marL="0">
              <a:lnSpc>
                <a:spcPct val="125000"/>
              </a:lnSpc>
              <a:buNone/>
            </a:pPr>
            <a:r>
              <a:rPr lang="en-US" sz="850" dirty="0">
                <a:solidFill>
                  <a:srgbClr val="A9BAC9"/>
                </a:solidFill>
                <a:latin typeface="Calibri" pitchFamily="34" charset="0"/>
                <a:ea typeface="Calibri" pitchFamily="34" charset="-122"/>
                <a:cs typeface="Calibri" pitchFamily="34" charset="-120"/>
              </a:rPr>
              <a:t>A higher MCE score does not equal a better investment. Chelsea (score 113) produces a positive NPV of +$5.4M at base revenue assumptions with leverage upside to 12–15% equity IRR. Everett (score 119) produces a negative NPV of −$2.2M at the same revenue — it becomes viable only above $150/kW-yr or at 50% ITC. Both sites require Section 83E contracted CPEC revenue for institutional-grade returns.</a:t>
            </a:r>
            <a:endParaRPr lang="en-US" sz="850" dirty="0"/>
          </a:p>
        </p:txBody>
      </p:sp>
      <p:sp>
        <p:nvSpPr>
          <p:cNvPr id="22" name="Shape 20"/>
          <p:cNvSpPr/>
          <p:nvPr/>
        </p:nvSpPr>
        <p:spPr>
          <a:xfrm>
            <a:off x="4736592" y="2880360"/>
            <a:ext cx="4206240" cy="1938528"/>
          </a:xfrm>
          <a:prstGeom prst="rect">
            <a:avLst/>
          </a:prstGeom>
          <a:solidFill>
            <a:srgbClr val="FFFFFF">
              <a:alpha val="7000"/>
            </a:srgbClr>
          </a:solidFill>
          <a:ln/>
          <a:effectLst>
            <a:outerShdw sx="100000" sy="100000" kx="0" ky="0" algn="bl" rotWithShape="0" blurRad="101600" dist="38100" dir="8100000">
              <a:srgbClr val="000000">
                <a:alpha val="13000"/>
              </a:srgbClr>
            </a:outerShdw>
          </a:effectLst>
        </p:spPr>
      </p:sp>
      <p:sp>
        <p:nvSpPr>
          <p:cNvPr id="23" name="Shape 21"/>
          <p:cNvSpPr/>
          <p:nvPr/>
        </p:nvSpPr>
        <p:spPr>
          <a:xfrm>
            <a:off x="4736592" y="2880360"/>
            <a:ext cx="73152" cy="1938528"/>
          </a:xfrm>
          <a:prstGeom prst="rect">
            <a:avLst/>
          </a:prstGeom>
          <a:solidFill>
            <a:srgbClr val="2A6145"/>
          </a:solidFill>
          <a:ln/>
        </p:spPr>
      </p:sp>
      <p:sp>
        <p:nvSpPr>
          <p:cNvPr id="24" name="Shape 22"/>
          <p:cNvSpPr/>
          <p:nvPr/>
        </p:nvSpPr>
        <p:spPr>
          <a:xfrm>
            <a:off x="4901184" y="2990088"/>
            <a:ext cx="384048" cy="384048"/>
          </a:xfrm>
          <a:prstGeom prst="rect">
            <a:avLst/>
          </a:prstGeom>
          <a:solidFill>
            <a:srgbClr val="2A6145"/>
          </a:solidFill>
          <a:ln/>
        </p:spPr>
      </p:sp>
      <p:sp>
        <p:nvSpPr>
          <p:cNvPr id="25" name="Text 23"/>
          <p:cNvSpPr/>
          <p:nvPr/>
        </p:nvSpPr>
        <p:spPr>
          <a:xfrm>
            <a:off x="4901184" y="2990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6" name="Text 24"/>
          <p:cNvSpPr/>
          <p:nvPr/>
        </p:nvSpPr>
        <p:spPr>
          <a:xfrm>
            <a:off x="5394960" y="2990088"/>
            <a:ext cx="3438144" cy="384048"/>
          </a:xfrm>
          <a:prstGeom prst="rect">
            <a:avLst/>
          </a:prstGeom>
          <a:noFill/>
          <a:ln/>
        </p:spPr>
        <p:txBody>
          <a:bodyPr wrap="square" lIns="0" tIns="0" rIns="0" bIns="0" rtlCol="0" anchor="ctr"/>
          <a:lstStyle/>
          <a:p>
            <a:pPr indent="0" marL="0">
              <a:lnSpc>
                <a:spcPct val="110000"/>
              </a:lnSpc>
              <a:buNone/>
            </a:pPr>
            <a:r>
              <a:rPr lang="en-US" sz="1050" b="1" dirty="0">
                <a:solidFill>
                  <a:srgbClr val="2A6145"/>
                </a:solidFill>
                <a:latin typeface="Calibri" pitchFamily="34" charset="0"/>
                <a:ea typeface="Calibri" pitchFamily="34" charset="-122"/>
                <a:cs typeface="Calibri" pitchFamily="34" charset="-120"/>
              </a:rPr>
              <a:t>The tool de-risks investment decisions that Massachusetts needs made now.</a:t>
            </a:r>
            <a:endParaRPr lang="en-US" sz="1050" dirty="0"/>
          </a:p>
        </p:txBody>
      </p:sp>
      <p:sp>
        <p:nvSpPr>
          <p:cNvPr id="27" name="Text 25"/>
          <p:cNvSpPr/>
          <p:nvPr/>
        </p:nvSpPr>
        <p:spPr>
          <a:xfrm>
            <a:off x="4901184" y="3465576"/>
            <a:ext cx="3913632" cy="1261872"/>
          </a:xfrm>
          <a:prstGeom prst="rect">
            <a:avLst/>
          </a:prstGeom>
          <a:noFill/>
          <a:ln/>
        </p:spPr>
        <p:txBody>
          <a:bodyPr wrap="square" lIns="0" tIns="0" rIns="0" bIns="0" rtlCol="0" anchor="ctr"/>
          <a:lstStyle/>
          <a:p>
            <a:pPr indent="0" marL="0">
              <a:lnSpc>
                <a:spcPct val="125000"/>
              </a:lnSpc>
              <a:buNone/>
            </a:pPr>
            <a:r>
              <a:rPr lang="en-US" sz="850" dirty="0">
                <a:solidFill>
                  <a:srgbClr val="A9BAC9"/>
                </a:solidFill>
                <a:latin typeface="Calibri" pitchFamily="34" charset="0"/>
                <a:ea typeface="Calibri" pitchFamily="34" charset="-122"/>
                <a:cs typeface="Calibri" pitchFamily="34" charset="-120"/>
              </a:rPr>
              <a:t>The 5,000 MW mandate requires approximately 85+ projects the size of Chelsea to be completed by July 2030. The tool compresses the siting timeline, embeds EJ compliance before site acquisition, surfaces interconnection cost risk before capital is deployed, and identifies the revenue mechanisms that make projects bankable. It is designed to generalize — this is the proof of concept.</a:t>
            </a:r>
            <a:endParaRPr lang="en-US" sz="850" dirty="0"/>
          </a:p>
        </p:txBody>
      </p:sp>
      <p:sp>
        <p:nvSpPr>
          <p:cNvPr id="28" name="Shape 26"/>
          <p:cNvSpPr/>
          <p:nvPr/>
        </p:nvSpPr>
        <p:spPr>
          <a:xfrm>
            <a:off x="0" y="4837176"/>
            <a:ext cx="9144000" cy="310896"/>
          </a:xfrm>
          <a:prstGeom prst="rect">
            <a:avLst/>
          </a:prstGeom>
          <a:solidFill>
            <a:srgbClr val="0D7C7B"/>
          </a:solidFill>
          <a:ln/>
        </p:spPr>
      </p:sp>
      <p:sp>
        <p:nvSpPr>
          <p:cNvPr id="29" name="Text 27"/>
          <p:cNvSpPr/>
          <p:nvPr/>
        </p:nvSpPr>
        <p:spPr>
          <a:xfrm>
            <a:off x="365760" y="4873752"/>
            <a:ext cx="8412480" cy="219456"/>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TPS × MassDOER Fellowship Project · April 2026 · Monzia Moodie &amp; Kadir Farah · Advisor: Marcus Anum</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182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2040">
              <a:alpha val="70000"/>
            </a:srgbClr>
          </a:solidFill>
          <a:ln/>
        </p:spPr>
      </p:sp>
      <p:sp>
        <p:nvSpPr>
          <p:cNvPr id="3" name="Shape 1"/>
          <p:cNvSpPr/>
          <p:nvPr/>
        </p:nvSpPr>
        <p:spPr>
          <a:xfrm>
            <a:off x="0" y="0"/>
            <a:ext cx="164592" cy="5143500"/>
          </a:xfrm>
          <a:prstGeom prst="rect">
            <a:avLst/>
          </a:prstGeom>
          <a:solidFill>
            <a:srgbClr val="0D7C7B"/>
          </a:solidFill>
          <a:ln/>
        </p:spPr>
      </p:sp>
      <p:sp>
        <p:nvSpPr>
          <p:cNvPr id="4" name="Shape 2"/>
          <p:cNvSpPr/>
          <p:nvPr/>
        </p:nvSpPr>
        <p:spPr>
          <a:xfrm>
            <a:off x="8979408" y="0"/>
            <a:ext cx="164592" cy="5143500"/>
          </a:xfrm>
          <a:prstGeom prst="rect">
            <a:avLst/>
          </a:prstGeom>
          <a:solidFill>
            <a:srgbClr val="0D7C7B"/>
          </a:solidFill>
          <a:ln/>
        </p:spPr>
      </p:sp>
      <p:sp>
        <p:nvSpPr>
          <p:cNvPr id="5" name="Shape 3"/>
          <p:cNvSpPr/>
          <p:nvPr/>
        </p:nvSpPr>
        <p:spPr>
          <a:xfrm>
            <a:off x="164592" y="2194560"/>
            <a:ext cx="8814816" cy="50292"/>
          </a:xfrm>
          <a:prstGeom prst="rect">
            <a:avLst/>
          </a:prstGeom>
          <a:solidFill>
            <a:srgbClr val="C68A17"/>
          </a:solidFill>
          <a:ln/>
        </p:spPr>
      </p:sp>
      <p:sp>
        <p:nvSpPr>
          <p:cNvPr id="6" name="Text 4"/>
          <p:cNvSpPr/>
          <p:nvPr/>
        </p:nvSpPr>
        <p:spPr>
          <a:xfrm>
            <a:off x="548640" y="502920"/>
            <a:ext cx="8046720" cy="1280160"/>
          </a:xfrm>
          <a:prstGeom prst="rect">
            <a:avLst/>
          </a:prstGeom>
          <a:noFill/>
          <a:ln/>
        </p:spPr>
        <p:txBody>
          <a:bodyPr wrap="square" rtlCol="0" anchor="ctr"/>
          <a:lstStyle/>
          <a:p>
            <a:pPr algn="ctr" indent="0" marL="0">
              <a:lnSpc>
                <a:spcPct val="105000"/>
              </a:lnSpc>
              <a:buNone/>
            </a:pPr>
            <a:r>
              <a:rPr lang="en-US" sz="5800" b="1" dirty="0">
                <a:solidFill>
                  <a:srgbClr val="FFFFFF"/>
                </a:solidFill>
                <a:latin typeface="Georgia" pitchFamily="34" charset="0"/>
                <a:ea typeface="Georgia" pitchFamily="34" charset="-122"/>
                <a:cs typeface="Georgia" pitchFamily="34" charset="-120"/>
              </a:rPr>
              <a:t>Questions &amp; Discussion</a:t>
            </a:r>
            <a:endParaRPr lang="en-US" sz="5800" dirty="0"/>
          </a:p>
        </p:txBody>
      </p:sp>
      <p:sp>
        <p:nvSpPr>
          <p:cNvPr id="7" name="Text 5"/>
          <p:cNvSpPr/>
          <p:nvPr/>
        </p:nvSpPr>
        <p:spPr>
          <a:xfrm>
            <a:off x="548640" y="2395728"/>
            <a:ext cx="8046720" cy="585216"/>
          </a:xfrm>
          <a:prstGeom prst="rect">
            <a:avLst/>
          </a:prstGeom>
          <a:noFill/>
          <a:ln/>
        </p:spPr>
        <p:txBody>
          <a:bodyPr wrap="square" rtlCol="0" anchor="ctr"/>
          <a:lstStyle/>
          <a:p>
            <a:pPr algn="ctr" indent="0" marL="0">
              <a:lnSpc>
                <a:spcPct val="140000"/>
              </a:lnSpc>
              <a:buNone/>
            </a:pPr>
            <a:r>
              <a:rPr lang="en-US" sz="1300" dirty="0">
                <a:solidFill>
                  <a:srgbClr val="F0B429"/>
                </a:solidFill>
                <a:latin typeface="Calibri" pitchFamily="34" charset="0"/>
                <a:ea typeface="Calibri" pitchFamily="34" charset="-122"/>
                <a:cs typeface="Calibri" pitchFamily="34" charset="-120"/>
              </a:rPr>
              <a:t>Monzia Moodie  ·  Regulatory &amp; Policy Systems Analyst</a:t>
            </a:r>
            <a:endParaRPr lang="en-US" sz="1300" dirty="0"/>
          </a:p>
          <a:p>
            <a:pPr algn="ctr" indent="0" marL="0">
              <a:lnSpc>
                <a:spcPct val="140000"/>
              </a:lnSpc>
              <a:buNone/>
            </a:pPr>
            <a:r>
              <a:rPr lang="en-US" sz="1300" dirty="0">
                <a:solidFill>
                  <a:srgbClr val="F0B429"/>
                </a:solidFill>
                <a:latin typeface="Calibri" pitchFamily="34" charset="0"/>
                <a:ea typeface="Calibri" pitchFamily="34" charset="-122"/>
                <a:cs typeface="Calibri" pitchFamily="34" charset="-120"/>
              </a:rPr>
              <a:t>Kadir Farah  ·  Storage Systems &amp; Development Specialist</a:t>
            </a:r>
            <a:endParaRPr lang="en-US" sz="1300" dirty="0"/>
          </a:p>
        </p:txBody>
      </p:sp>
      <p:sp>
        <p:nvSpPr>
          <p:cNvPr id="8" name="Text 6"/>
          <p:cNvSpPr/>
          <p:nvPr/>
        </p:nvSpPr>
        <p:spPr>
          <a:xfrm>
            <a:off x="548640" y="3017520"/>
            <a:ext cx="8046720" cy="256032"/>
          </a:xfrm>
          <a:prstGeom prst="rect">
            <a:avLst/>
          </a:prstGeom>
          <a:noFill/>
          <a:ln/>
        </p:spPr>
        <p:txBody>
          <a:bodyPr wrap="square" rtlCol="0" anchor="ctr"/>
          <a:lstStyle/>
          <a:p>
            <a:pPr algn="ctr" indent="0" marL="0">
              <a:buNone/>
            </a:pPr>
            <a:r>
              <a:rPr lang="en-US" sz="1000" dirty="0">
                <a:solidFill>
                  <a:srgbClr val="A9BAC9"/>
                </a:solidFill>
                <a:latin typeface="Calibri" pitchFamily="34" charset="0"/>
                <a:ea typeface="Calibri" pitchFamily="34" charset="-122"/>
                <a:cs typeface="Calibri" pitchFamily="34" charset="-120"/>
              </a:rPr>
              <a:t>Advisor: Marcus Anum  |  Sponsor: Ledum Nordee  |  Coach: Tyler Holloway</a:t>
            </a:r>
            <a:endParaRPr lang="en-US" sz="1000" dirty="0"/>
          </a:p>
        </p:txBody>
      </p:sp>
      <p:sp>
        <p:nvSpPr>
          <p:cNvPr id="9" name="Shape 7"/>
          <p:cNvSpPr/>
          <p:nvPr/>
        </p:nvSpPr>
        <p:spPr>
          <a:xfrm>
            <a:off x="1097280" y="3401568"/>
            <a:ext cx="6949440" cy="1261872"/>
          </a:xfrm>
          <a:prstGeom prst="rect">
            <a:avLst/>
          </a:prstGeom>
          <a:solidFill>
            <a:srgbClr val="FFFFFF">
              <a:alpha val="6000"/>
            </a:srgbClr>
          </a:solidFill>
          <a:ln/>
          <a:effectLst>
            <a:outerShdw sx="100000" sy="100000" kx="0" ky="0" algn="bl" rotWithShape="0" blurRad="101600" dist="38100" dir="8100000">
              <a:srgbClr val="000000">
                <a:alpha val="13000"/>
              </a:srgbClr>
            </a:outerShdw>
          </a:effectLst>
        </p:spPr>
      </p:sp>
      <p:sp>
        <p:nvSpPr>
          <p:cNvPr id="10" name="Text 8"/>
          <p:cNvSpPr/>
          <p:nvPr/>
        </p:nvSpPr>
        <p:spPr>
          <a:xfrm>
            <a:off x="1261872" y="3474720"/>
            <a:ext cx="6583680" cy="201168"/>
          </a:xfrm>
          <a:prstGeom prst="rect">
            <a:avLst/>
          </a:prstGeom>
          <a:noFill/>
          <a:ln/>
        </p:spPr>
        <p:txBody>
          <a:bodyPr wrap="square" lIns="0" tIns="0" rIns="0" bIns="0" rtlCol="0" anchor="ctr"/>
          <a:lstStyle/>
          <a:p>
            <a:pPr indent="0" marL="0">
              <a:buNone/>
            </a:pPr>
            <a:r>
              <a:rPr lang="en-US" sz="950" b="1" dirty="0">
                <a:solidFill>
                  <a:srgbClr val="F0B429"/>
                </a:solidFill>
                <a:latin typeface="Calibri" pitchFamily="34" charset="0"/>
                <a:ea typeface="Calibri" pitchFamily="34" charset="-122"/>
                <a:cs typeface="Calibri" pitchFamily="34" charset="-120"/>
              </a:rPr>
              <a:t>Suggested discussion areas:</a:t>
            </a:r>
            <a:endParaRPr lang="en-US" sz="950" dirty="0"/>
          </a:p>
        </p:txBody>
      </p:sp>
      <p:sp>
        <p:nvSpPr>
          <p:cNvPr id="11" name="Shape 9"/>
          <p:cNvSpPr/>
          <p:nvPr/>
        </p:nvSpPr>
        <p:spPr>
          <a:xfrm>
            <a:off x="1298448" y="3749040"/>
            <a:ext cx="91440" cy="91440"/>
          </a:xfrm>
          <a:prstGeom prst="ellipse">
            <a:avLst/>
          </a:prstGeom>
          <a:solidFill>
            <a:srgbClr val="0D7C7B"/>
          </a:solidFill>
          <a:ln/>
        </p:spPr>
      </p:sp>
      <p:sp>
        <p:nvSpPr>
          <p:cNvPr id="12" name="Text 10"/>
          <p:cNvSpPr/>
          <p:nvPr/>
        </p:nvSpPr>
        <p:spPr>
          <a:xfrm>
            <a:off x="1463040" y="3721608"/>
            <a:ext cx="6382512" cy="201168"/>
          </a:xfrm>
          <a:prstGeom prst="rect">
            <a:avLst/>
          </a:prstGeom>
          <a:noFill/>
          <a:ln/>
        </p:spPr>
        <p:txBody>
          <a:bodyPr wrap="square" lIns="0" tIns="0" rIns="0" bIns="0" rtlCol="0" anchor="ctr"/>
          <a:lstStyle/>
          <a:p>
            <a:pPr indent="0" marL="0">
              <a:buNone/>
            </a:pPr>
            <a:r>
              <a:rPr lang="en-US" sz="900" dirty="0">
                <a:solidFill>
                  <a:srgbClr val="A9BAC9"/>
                </a:solidFill>
                <a:latin typeface="Calibri" pitchFamily="34" charset="0"/>
                <a:ea typeface="Calibri" pitchFamily="34" charset="-122"/>
                <a:cs typeface="Calibri" pitchFamily="34" charset="-120"/>
              </a:rPr>
              <a:t>Interconnection pre-application strategy for 231 Beacham and 283 Eastern</a:t>
            </a:r>
            <a:endParaRPr lang="en-US" sz="900" dirty="0"/>
          </a:p>
        </p:txBody>
      </p:sp>
      <p:sp>
        <p:nvSpPr>
          <p:cNvPr id="13" name="Shape 11"/>
          <p:cNvSpPr/>
          <p:nvPr/>
        </p:nvSpPr>
        <p:spPr>
          <a:xfrm>
            <a:off x="1298448" y="3968496"/>
            <a:ext cx="91440" cy="91440"/>
          </a:xfrm>
          <a:prstGeom prst="ellipse">
            <a:avLst/>
          </a:prstGeom>
          <a:solidFill>
            <a:srgbClr val="0D7C7B"/>
          </a:solidFill>
          <a:ln/>
        </p:spPr>
      </p:sp>
      <p:sp>
        <p:nvSpPr>
          <p:cNvPr id="14" name="Text 12"/>
          <p:cNvSpPr/>
          <p:nvPr/>
        </p:nvSpPr>
        <p:spPr>
          <a:xfrm>
            <a:off x="1463040" y="3941064"/>
            <a:ext cx="6382512" cy="201168"/>
          </a:xfrm>
          <a:prstGeom prst="rect">
            <a:avLst/>
          </a:prstGeom>
          <a:noFill/>
          <a:ln/>
        </p:spPr>
        <p:txBody>
          <a:bodyPr wrap="square" lIns="0" tIns="0" rIns="0" bIns="0" rtlCol="0" anchor="ctr"/>
          <a:lstStyle/>
          <a:p>
            <a:pPr indent="0" marL="0">
              <a:buNone/>
            </a:pPr>
            <a:r>
              <a:rPr lang="en-US" sz="900" dirty="0">
                <a:solidFill>
                  <a:srgbClr val="A9BAC9"/>
                </a:solidFill>
                <a:latin typeface="Calibri" pitchFamily="34" charset="0"/>
                <a:ea typeface="Calibri" pitchFamily="34" charset="-122"/>
                <a:cs typeface="Calibri" pitchFamily="34" charset="-120"/>
              </a:rPr>
              <a:t>Section 83E Round 2 bid positioning for the Chelsea 100 MW project</a:t>
            </a:r>
            <a:endParaRPr lang="en-US" sz="900" dirty="0"/>
          </a:p>
        </p:txBody>
      </p:sp>
      <p:sp>
        <p:nvSpPr>
          <p:cNvPr id="15" name="Shape 13"/>
          <p:cNvSpPr/>
          <p:nvPr/>
        </p:nvSpPr>
        <p:spPr>
          <a:xfrm>
            <a:off x="1298448" y="4187952"/>
            <a:ext cx="91440" cy="91440"/>
          </a:xfrm>
          <a:prstGeom prst="ellipse">
            <a:avLst/>
          </a:prstGeom>
          <a:solidFill>
            <a:srgbClr val="0D7C7B"/>
          </a:solidFill>
          <a:ln/>
        </p:spPr>
      </p:sp>
      <p:sp>
        <p:nvSpPr>
          <p:cNvPr id="16" name="Text 14"/>
          <p:cNvSpPr/>
          <p:nvPr/>
        </p:nvSpPr>
        <p:spPr>
          <a:xfrm>
            <a:off x="1463040" y="4160520"/>
            <a:ext cx="6382512" cy="201168"/>
          </a:xfrm>
          <a:prstGeom prst="rect">
            <a:avLst/>
          </a:prstGeom>
          <a:noFill/>
          <a:ln/>
        </p:spPr>
        <p:txBody>
          <a:bodyPr wrap="square" lIns="0" tIns="0" rIns="0" bIns="0" rtlCol="0" anchor="ctr"/>
          <a:lstStyle/>
          <a:p>
            <a:pPr indent="0" marL="0">
              <a:buNone/>
            </a:pPr>
            <a:r>
              <a:rPr lang="en-US" sz="900" dirty="0">
                <a:solidFill>
                  <a:srgbClr val="A9BAC9"/>
                </a:solidFill>
                <a:latin typeface="Calibri" pitchFamily="34" charset="0"/>
                <a:ea typeface="Calibri" pitchFamily="34" charset="-122"/>
                <a:cs typeface="Calibri" pitchFamily="34" charset="-120"/>
              </a:rPr>
              <a:t>ITC qualification path: energy community + low-income community bonus eligibility</a:t>
            </a:r>
            <a:endParaRPr lang="en-US" sz="900" dirty="0"/>
          </a:p>
        </p:txBody>
      </p:sp>
      <p:sp>
        <p:nvSpPr>
          <p:cNvPr id="17" name="Shape 15"/>
          <p:cNvSpPr/>
          <p:nvPr/>
        </p:nvSpPr>
        <p:spPr>
          <a:xfrm>
            <a:off x="1298448" y="4407408"/>
            <a:ext cx="91440" cy="91440"/>
          </a:xfrm>
          <a:prstGeom prst="ellipse">
            <a:avLst/>
          </a:prstGeom>
          <a:solidFill>
            <a:srgbClr val="0D7C7B"/>
          </a:solidFill>
          <a:ln/>
        </p:spPr>
      </p:sp>
      <p:sp>
        <p:nvSpPr>
          <p:cNvPr id="18" name="Text 16"/>
          <p:cNvSpPr/>
          <p:nvPr/>
        </p:nvSpPr>
        <p:spPr>
          <a:xfrm>
            <a:off x="1463040" y="4379976"/>
            <a:ext cx="6382512" cy="201168"/>
          </a:xfrm>
          <a:prstGeom prst="rect">
            <a:avLst/>
          </a:prstGeom>
          <a:noFill/>
          <a:ln/>
        </p:spPr>
        <p:txBody>
          <a:bodyPr wrap="square" lIns="0" tIns="0" rIns="0" bIns="0" rtlCol="0" anchor="ctr"/>
          <a:lstStyle/>
          <a:p>
            <a:pPr indent="0" marL="0">
              <a:buNone/>
            </a:pPr>
            <a:r>
              <a:rPr lang="en-US" sz="900" dirty="0">
                <a:solidFill>
                  <a:srgbClr val="A9BAC9"/>
                </a:solidFill>
                <a:latin typeface="Calibri" pitchFamily="34" charset="0"/>
                <a:ea typeface="Calibri" pitchFamily="34" charset="-122"/>
                <a:cs typeface="Calibri" pitchFamily="34" charset="-120"/>
              </a:rPr>
              <a:t>Expanding the five-layer MCE framework to Worcester, Bristol, and Hampden Counties</a:t>
            </a:r>
            <a:endParaRPr lang="en-US" sz="900" dirty="0"/>
          </a:p>
        </p:txBody>
      </p:sp>
      <p:sp>
        <p:nvSpPr>
          <p:cNvPr id="19" name="Text 17"/>
          <p:cNvSpPr/>
          <p:nvPr/>
        </p:nvSpPr>
        <p:spPr>
          <a:xfrm>
            <a:off x="548640" y="4919472"/>
            <a:ext cx="8046720" cy="164592"/>
          </a:xfrm>
          <a:prstGeom prst="rect">
            <a:avLst/>
          </a:prstGeom>
          <a:noFill/>
          <a:ln/>
        </p:spPr>
        <p:txBody>
          <a:bodyPr wrap="square" rtlCol="0" anchor="ctr"/>
          <a:lstStyle/>
          <a:p>
            <a:pPr algn="ctr" indent="0" marL="0">
              <a:buNone/>
            </a:pPr>
            <a:r>
              <a:rPr lang="en-US" sz="850" dirty="0">
                <a:solidFill>
                  <a:srgbClr val="617283"/>
                </a:solidFill>
                <a:latin typeface="Calibri" pitchFamily="34" charset="0"/>
                <a:ea typeface="Calibri" pitchFamily="34" charset="-122"/>
                <a:cs typeface="Calibri" pitchFamily="34" charset="-120"/>
              </a:rPr>
              <a:t>TPS × MassDOER Fellowship · April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Next-Generation BESS Siting Tool — TPS × MassDOER · April 2026</dc:title>
  <dc:subject>PptxGenJS Presentation</dc:subject>
  <dc:creator>Monzia Moodie &amp; Kadir Farah</dc:creator>
  <cp:lastModifiedBy>Monzia Moodie &amp; Kadir Farah</cp:lastModifiedBy>
  <cp:revision>1</cp:revision>
  <dcterms:created xsi:type="dcterms:W3CDTF">2026-04-18T10:05:05Z</dcterms:created>
  <dcterms:modified xsi:type="dcterms:W3CDTF">2026-04-18T10:05:05Z</dcterms:modified>
</cp:coreProperties>
</file>